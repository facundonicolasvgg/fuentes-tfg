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7" r:id="rId6"/>
    <p:sldId id="278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6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Ariel Vallejos" userId="0636cf2737972932" providerId="LiveId" clId="{4638731B-7E3D-4D87-BCA3-2BF5BF9D0590}"/>
    <pc:docChg chg="undo custSel delSld modSld">
      <pc:chgData name="Juan Ariel Vallejos" userId="0636cf2737972932" providerId="LiveId" clId="{4638731B-7E3D-4D87-BCA3-2BF5BF9D0590}" dt="2026-06-29T13:46:52.041" v="21" actId="6549"/>
      <pc:docMkLst>
        <pc:docMk/>
      </pc:docMkLst>
      <pc:sldChg chg="modNotesTx">
        <pc:chgData name="Juan Ariel Vallejos" userId="0636cf2737972932" providerId="LiveId" clId="{4638731B-7E3D-4D87-BCA3-2BF5BF9D0590}" dt="2026-06-29T13:45:22.603" v="6" actId="6549"/>
        <pc:sldMkLst>
          <pc:docMk/>
          <pc:sldMk cId="0" sldId="256"/>
        </pc:sldMkLst>
      </pc:sldChg>
      <pc:sldChg chg="modNotesTx">
        <pc:chgData name="Juan Ariel Vallejos" userId="0636cf2737972932" providerId="LiveId" clId="{4638731B-7E3D-4D87-BCA3-2BF5BF9D0590}" dt="2026-06-29T13:45:17.528" v="5" actId="20577"/>
        <pc:sldMkLst>
          <pc:docMk/>
          <pc:sldMk cId="0" sldId="257"/>
        </pc:sldMkLst>
      </pc:sldChg>
      <pc:sldChg chg="modNotesTx">
        <pc:chgData name="Juan Ariel Vallejos" userId="0636cf2737972932" providerId="LiveId" clId="{4638731B-7E3D-4D87-BCA3-2BF5BF9D0590}" dt="2026-06-29T13:45:07.036" v="1" actId="20577"/>
        <pc:sldMkLst>
          <pc:docMk/>
          <pc:sldMk cId="0" sldId="258"/>
        </pc:sldMkLst>
      </pc:sldChg>
      <pc:sldChg chg="modNotesTx">
        <pc:chgData name="Juan Ariel Vallejos" userId="0636cf2737972932" providerId="LiveId" clId="{4638731B-7E3D-4D87-BCA3-2BF5BF9D0590}" dt="2026-06-29T13:45:10.888" v="2" actId="6549"/>
        <pc:sldMkLst>
          <pc:docMk/>
          <pc:sldMk cId="0" sldId="259"/>
        </pc:sldMkLst>
      </pc:sldChg>
      <pc:sldChg chg="modNotesTx">
        <pc:chgData name="Juan Ariel Vallejos" userId="0636cf2737972932" providerId="LiveId" clId="{4638731B-7E3D-4D87-BCA3-2BF5BF9D0590}" dt="2026-06-29T13:45:40.188" v="10" actId="6549"/>
        <pc:sldMkLst>
          <pc:docMk/>
          <pc:sldMk cId="0" sldId="262"/>
        </pc:sldMkLst>
      </pc:sldChg>
      <pc:sldChg chg="modNotesTx">
        <pc:chgData name="Juan Ariel Vallejos" userId="0636cf2737972932" providerId="LiveId" clId="{4638731B-7E3D-4D87-BCA3-2BF5BF9D0590}" dt="2026-06-29T13:45:44.486" v="11" actId="6549"/>
        <pc:sldMkLst>
          <pc:docMk/>
          <pc:sldMk cId="0" sldId="263"/>
        </pc:sldMkLst>
      </pc:sldChg>
      <pc:sldChg chg="modNotesTx">
        <pc:chgData name="Juan Ariel Vallejos" userId="0636cf2737972932" providerId="LiveId" clId="{4638731B-7E3D-4D87-BCA3-2BF5BF9D0590}" dt="2026-06-29T13:45:50.345" v="12" actId="6549"/>
        <pc:sldMkLst>
          <pc:docMk/>
          <pc:sldMk cId="0" sldId="264"/>
        </pc:sldMkLst>
      </pc:sldChg>
      <pc:sldChg chg="modNotesTx">
        <pc:chgData name="Juan Ariel Vallejos" userId="0636cf2737972932" providerId="LiveId" clId="{4638731B-7E3D-4D87-BCA3-2BF5BF9D0590}" dt="2026-06-29T13:45:54.316" v="13" actId="6549"/>
        <pc:sldMkLst>
          <pc:docMk/>
          <pc:sldMk cId="0" sldId="265"/>
        </pc:sldMkLst>
      </pc:sldChg>
      <pc:sldChg chg="modNotesTx">
        <pc:chgData name="Juan Ariel Vallejos" userId="0636cf2737972932" providerId="LiveId" clId="{4638731B-7E3D-4D87-BCA3-2BF5BF9D0590}" dt="2026-06-29T13:46:03.846" v="14" actId="6549"/>
        <pc:sldMkLst>
          <pc:docMk/>
          <pc:sldMk cId="0" sldId="266"/>
        </pc:sldMkLst>
      </pc:sldChg>
      <pc:sldChg chg="modNotesTx">
        <pc:chgData name="Juan Ariel Vallejos" userId="0636cf2737972932" providerId="LiveId" clId="{4638731B-7E3D-4D87-BCA3-2BF5BF9D0590}" dt="2026-06-29T13:46:09.196" v="15" actId="6549"/>
        <pc:sldMkLst>
          <pc:docMk/>
          <pc:sldMk cId="0" sldId="267"/>
        </pc:sldMkLst>
      </pc:sldChg>
      <pc:sldChg chg="modNotesTx">
        <pc:chgData name="Juan Ariel Vallejos" userId="0636cf2737972932" providerId="LiveId" clId="{4638731B-7E3D-4D87-BCA3-2BF5BF9D0590}" dt="2026-06-29T13:46:18.456" v="18" actId="6549"/>
        <pc:sldMkLst>
          <pc:docMk/>
          <pc:sldMk cId="0" sldId="268"/>
        </pc:sldMkLst>
      </pc:sldChg>
      <pc:sldChg chg="modNotesTx">
        <pc:chgData name="Juan Ariel Vallejos" userId="0636cf2737972932" providerId="LiveId" clId="{4638731B-7E3D-4D87-BCA3-2BF5BF9D0590}" dt="2026-06-29T13:46:24.133" v="19" actId="6549"/>
        <pc:sldMkLst>
          <pc:docMk/>
          <pc:sldMk cId="0" sldId="269"/>
        </pc:sldMkLst>
      </pc:sldChg>
      <pc:sldChg chg="modNotesTx">
        <pc:chgData name="Juan Ariel Vallejos" userId="0636cf2737972932" providerId="LiveId" clId="{4638731B-7E3D-4D87-BCA3-2BF5BF9D0590}" dt="2026-06-29T13:46:27.818" v="20" actId="6549"/>
        <pc:sldMkLst>
          <pc:docMk/>
          <pc:sldMk cId="0" sldId="270"/>
        </pc:sldMkLst>
      </pc:sldChg>
      <pc:sldChg chg="modNotesTx">
        <pc:chgData name="Juan Ariel Vallejos" userId="0636cf2737972932" providerId="LiveId" clId="{4638731B-7E3D-4D87-BCA3-2BF5BF9D0590}" dt="2026-06-29T13:46:52.041" v="21" actId="6549"/>
        <pc:sldMkLst>
          <pc:docMk/>
          <pc:sldMk cId="0" sldId="271"/>
        </pc:sldMkLst>
      </pc:sldChg>
      <pc:sldChg chg="del">
        <pc:chgData name="Juan Ariel Vallejos" userId="0636cf2737972932" providerId="LiveId" clId="{4638731B-7E3D-4D87-BCA3-2BF5BF9D0590}" dt="2026-06-29T13:45:00.514" v="0" actId="47"/>
        <pc:sldMkLst>
          <pc:docMk/>
          <pc:sldMk cId="309914544" sldId="273"/>
        </pc:sldMkLst>
      </pc:sldChg>
      <pc:sldChg chg="modNotesTx">
        <pc:chgData name="Juan Ariel Vallejos" userId="0636cf2737972932" providerId="LiveId" clId="{4638731B-7E3D-4D87-BCA3-2BF5BF9D0590}" dt="2026-06-29T13:45:36.826" v="9" actId="6549"/>
        <pc:sldMkLst>
          <pc:docMk/>
          <pc:sldMk cId="4273382533" sldId="276"/>
        </pc:sldMkLst>
      </pc:sldChg>
      <pc:sldChg chg="modNotesTx">
        <pc:chgData name="Juan Ariel Vallejos" userId="0636cf2737972932" providerId="LiveId" clId="{4638731B-7E3D-4D87-BCA3-2BF5BF9D0590}" dt="2026-06-29T13:45:27.113" v="7" actId="6549"/>
        <pc:sldMkLst>
          <pc:docMk/>
          <pc:sldMk cId="1013398313" sldId="277"/>
        </pc:sldMkLst>
      </pc:sldChg>
      <pc:sldChg chg="modNotesTx">
        <pc:chgData name="Juan Ariel Vallejos" userId="0636cf2737972932" providerId="LiveId" clId="{4638731B-7E3D-4D87-BCA3-2BF5BF9D0590}" dt="2026-06-29T13:45:30.976" v="8" actId="6549"/>
        <pc:sldMkLst>
          <pc:docMk/>
          <pc:sldMk cId="3309232656" sldId="2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7BF835-8DA7-497F-B275-90B5E1E29DC1}" type="doc">
      <dgm:prSet loTypeId="urn:microsoft.com/office/officeart/2005/8/layout/hProcess11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4C22977-BCD7-4F20-8BCD-B10E04339F7E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80</a:t>
          </a:r>
        </a:p>
      </dgm:t>
    </dgm:pt>
    <dgm:pt modelId="{C5111ECD-E987-4510-8646-DFA2EFAE98EB}" type="parTrans" cxnId="{E842B2FC-7A27-4D4E-8D90-31A478DC8695}">
      <dgm:prSet/>
      <dgm:spPr/>
      <dgm:t>
        <a:bodyPr/>
        <a:lstStyle/>
        <a:p>
          <a:endParaRPr lang="es-ES"/>
        </a:p>
      </dgm:t>
    </dgm:pt>
    <dgm:pt modelId="{626A25F1-B890-4E4F-BEEA-C516BE7D2F5C}" type="sibTrans" cxnId="{E842B2FC-7A27-4D4E-8D90-31A478DC8695}">
      <dgm:prSet/>
      <dgm:spPr/>
      <dgm:t>
        <a:bodyPr/>
        <a:lstStyle/>
        <a:p>
          <a:endParaRPr lang="es-ES"/>
        </a:p>
      </dgm:t>
    </dgm:pt>
    <dgm:pt modelId="{A4C7F5FD-ECA3-41D4-8D9E-61B0E1DEB744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90</a:t>
          </a:r>
        </a:p>
      </dgm:t>
    </dgm:pt>
    <dgm:pt modelId="{57A99AC9-C24E-4268-9D57-01DA4909E637}" type="parTrans" cxnId="{749F5735-58F4-4FE1-BC47-ED455EDB81A6}">
      <dgm:prSet/>
      <dgm:spPr/>
      <dgm:t>
        <a:bodyPr/>
        <a:lstStyle/>
        <a:p>
          <a:endParaRPr lang="es-ES"/>
        </a:p>
      </dgm:t>
    </dgm:pt>
    <dgm:pt modelId="{8CE7B7AF-4D8D-432B-B5A6-EAC3CE986D8C}" type="sibTrans" cxnId="{749F5735-58F4-4FE1-BC47-ED455EDB81A6}">
      <dgm:prSet/>
      <dgm:spPr/>
      <dgm:t>
        <a:bodyPr/>
        <a:lstStyle/>
        <a:p>
          <a:endParaRPr lang="es-ES"/>
        </a:p>
      </dgm:t>
    </dgm:pt>
    <dgm:pt modelId="{DFBB8ED2-4457-447F-950A-99A7BF1F88B7}" type="pres">
      <dgm:prSet presAssocID="{7E7BF835-8DA7-497F-B275-90B5E1E29DC1}" presName="Name0" presStyleCnt="0">
        <dgm:presLayoutVars>
          <dgm:dir/>
          <dgm:resizeHandles val="exact"/>
        </dgm:presLayoutVars>
      </dgm:prSet>
      <dgm:spPr/>
    </dgm:pt>
    <dgm:pt modelId="{E88EA05A-5CD0-4A29-B674-BCF5F684344E}" type="pres">
      <dgm:prSet presAssocID="{7E7BF835-8DA7-497F-B275-90B5E1E29DC1}" presName="arrow" presStyleLbl="bgShp" presStyleIdx="0" presStyleCnt="1" custScaleY="52633" custLinFactNeighborX="1765" custLinFactNeighborY="-1775"/>
      <dgm:spPr/>
    </dgm:pt>
    <dgm:pt modelId="{11B64564-F0C9-45C3-BAEB-3B4E925277BA}" type="pres">
      <dgm:prSet presAssocID="{7E7BF835-8DA7-497F-B275-90B5E1E29DC1}" presName="points" presStyleCnt="0"/>
      <dgm:spPr/>
    </dgm:pt>
    <dgm:pt modelId="{D873D507-CAF5-452A-8862-06D31CD8F0C5}" type="pres">
      <dgm:prSet presAssocID="{94C22977-BCD7-4F20-8BCD-B10E04339F7E}" presName="compositeA" presStyleCnt="0"/>
      <dgm:spPr/>
    </dgm:pt>
    <dgm:pt modelId="{01A15A24-1840-4208-87CC-6A2F7397D323}" type="pres">
      <dgm:prSet presAssocID="{94C22977-BCD7-4F20-8BCD-B10E04339F7E}" presName="textA" presStyleLbl="revTx" presStyleIdx="0" presStyleCnt="2" custScaleX="90838" custScaleY="79831" custLinFactY="19979" custLinFactNeighborX="5568" custLinFactNeighborY="100000">
        <dgm:presLayoutVars>
          <dgm:bulletEnabled val="1"/>
        </dgm:presLayoutVars>
      </dgm:prSet>
      <dgm:spPr/>
    </dgm:pt>
    <dgm:pt modelId="{E8FCC846-1791-415E-BFB3-28CB29720EBE}" type="pres">
      <dgm:prSet presAssocID="{94C22977-BCD7-4F20-8BCD-B10E04339F7E}" presName="circleA" presStyleLbl="node1" presStyleIdx="0" presStyleCnt="2" custLinFactNeighborX="96189" custLinFactNeighborY="12412"/>
      <dgm:spPr/>
    </dgm:pt>
    <dgm:pt modelId="{0FCC2F5C-0315-4642-BF86-B7CD64252561}" type="pres">
      <dgm:prSet presAssocID="{94C22977-BCD7-4F20-8BCD-B10E04339F7E}" presName="spaceA" presStyleCnt="0"/>
      <dgm:spPr/>
    </dgm:pt>
    <dgm:pt modelId="{830C4CA7-52C3-4D3B-A861-3D6E5C9C02F2}" type="pres">
      <dgm:prSet presAssocID="{626A25F1-B890-4E4F-BEEA-C516BE7D2F5C}" presName="space" presStyleCnt="0"/>
      <dgm:spPr/>
    </dgm:pt>
    <dgm:pt modelId="{D14E7519-F162-4ECA-A6AD-67D71E3577EC}" type="pres">
      <dgm:prSet presAssocID="{A4C7F5FD-ECA3-41D4-8D9E-61B0E1DEB744}" presName="compositeB" presStyleCnt="0"/>
      <dgm:spPr/>
    </dgm:pt>
    <dgm:pt modelId="{6756CE44-1693-41AC-B099-C0BBD34F824E}" type="pres">
      <dgm:prSet presAssocID="{A4C7F5FD-ECA3-41D4-8D9E-61B0E1DEB744}" presName="textB" presStyleLbl="revTx" presStyleIdx="1" presStyleCnt="2" custScaleX="89798" custScaleY="100392" custLinFactNeighborX="22175" custLinFactNeighborY="-24685">
        <dgm:presLayoutVars>
          <dgm:bulletEnabled val="1"/>
        </dgm:presLayoutVars>
      </dgm:prSet>
      <dgm:spPr/>
    </dgm:pt>
    <dgm:pt modelId="{B504AF9A-8F3D-4367-A08F-A9D6104DEF30}" type="pres">
      <dgm:prSet presAssocID="{A4C7F5FD-ECA3-41D4-8D9E-61B0E1DEB744}" presName="circleB" presStyleLbl="node1" presStyleIdx="1" presStyleCnt="2" custLinFactX="162528" custLinFactNeighborX="200000" custLinFactNeighborY="-5549"/>
      <dgm:spPr/>
    </dgm:pt>
    <dgm:pt modelId="{65C5762C-BB44-420A-9F3C-45BC3E0447B3}" type="pres">
      <dgm:prSet presAssocID="{A4C7F5FD-ECA3-41D4-8D9E-61B0E1DEB744}" presName="spaceB" presStyleCnt="0"/>
      <dgm:spPr/>
    </dgm:pt>
  </dgm:ptLst>
  <dgm:cxnLst>
    <dgm:cxn modelId="{4D90751F-1BA8-4D8B-B9D5-D03FB0C4346D}" type="presOf" srcId="{7E7BF835-8DA7-497F-B275-90B5E1E29DC1}" destId="{DFBB8ED2-4457-447F-950A-99A7BF1F88B7}" srcOrd="0" destOrd="0" presId="urn:microsoft.com/office/officeart/2005/8/layout/hProcess11"/>
    <dgm:cxn modelId="{F6877B2C-58DE-4E45-BE72-43A22A7B1C7B}" type="presOf" srcId="{94C22977-BCD7-4F20-8BCD-B10E04339F7E}" destId="{01A15A24-1840-4208-87CC-6A2F7397D323}" srcOrd="0" destOrd="0" presId="urn:microsoft.com/office/officeart/2005/8/layout/hProcess11"/>
    <dgm:cxn modelId="{749F5735-58F4-4FE1-BC47-ED455EDB81A6}" srcId="{7E7BF835-8DA7-497F-B275-90B5E1E29DC1}" destId="{A4C7F5FD-ECA3-41D4-8D9E-61B0E1DEB744}" srcOrd="1" destOrd="0" parTransId="{57A99AC9-C24E-4268-9D57-01DA4909E637}" sibTransId="{8CE7B7AF-4D8D-432B-B5A6-EAC3CE986D8C}"/>
    <dgm:cxn modelId="{E31FDCAF-5FE3-473E-86DB-00A9127F5310}" type="presOf" srcId="{A4C7F5FD-ECA3-41D4-8D9E-61B0E1DEB744}" destId="{6756CE44-1693-41AC-B099-C0BBD34F824E}" srcOrd="0" destOrd="0" presId="urn:microsoft.com/office/officeart/2005/8/layout/hProcess11"/>
    <dgm:cxn modelId="{E842B2FC-7A27-4D4E-8D90-31A478DC8695}" srcId="{7E7BF835-8DA7-497F-B275-90B5E1E29DC1}" destId="{94C22977-BCD7-4F20-8BCD-B10E04339F7E}" srcOrd="0" destOrd="0" parTransId="{C5111ECD-E987-4510-8646-DFA2EFAE98EB}" sibTransId="{626A25F1-B890-4E4F-BEEA-C516BE7D2F5C}"/>
    <dgm:cxn modelId="{E6DAB87C-E6BA-4B38-AA20-EE367489F728}" type="presParOf" srcId="{DFBB8ED2-4457-447F-950A-99A7BF1F88B7}" destId="{E88EA05A-5CD0-4A29-B674-BCF5F684344E}" srcOrd="0" destOrd="0" presId="urn:microsoft.com/office/officeart/2005/8/layout/hProcess11"/>
    <dgm:cxn modelId="{9AD09489-2A96-4BB4-BEF3-7C86245CDF3C}" type="presParOf" srcId="{DFBB8ED2-4457-447F-950A-99A7BF1F88B7}" destId="{11B64564-F0C9-45C3-BAEB-3B4E925277BA}" srcOrd="1" destOrd="0" presId="urn:microsoft.com/office/officeart/2005/8/layout/hProcess11"/>
    <dgm:cxn modelId="{3D031A1A-827D-4526-B8C7-33CFB1EE70EF}" type="presParOf" srcId="{11B64564-F0C9-45C3-BAEB-3B4E925277BA}" destId="{D873D507-CAF5-452A-8862-06D31CD8F0C5}" srcOrd="0" destOrd="0" presId="urn:microsoft.com/office/officeart/2005/8/layout/hProcess11"/>
    <dgm:cxn modelId="{0FEDB570-7608-4141-BB20-0C19301CC69D}" type="presParOf" srcId="{D873D507-CAF5-452A-8862-06D31CD8F0C5}" destId="{01A15A24-1840-4208-87CC-6A2F7397D323}" srcOrd="0" destOrd="0" presId="urn:microsoft.com/office/officeart/2005/8/layout/hProcess11"/>
    <dgm:cxn modelId="{20EECB06-7FEA-4081-A44A-64389B169D7F}" type="presParOf" srcId="{D873D507-CAF5-452A-8862-06D31CD8F0C5}" destId="{E8FCC846-1791-415E-BFB3-28CB29720EBE}" srcOrd="1" destOrd="0" presId="urn:microsoft.com/office/officeart/2005/8/layout/hProcess11"/>
    <dgm:cxn modelId="{02BD3B49-55BD-4C28-A8A8-59979E20200D}" type="presParOf" srcId="{D873D507-CAF5-452A-8862-06D31CD8F0C5}" destId="{0FCC2F5C-0315-4642-BF86-B7CD64252561}" srcOrd="2" destOrd="0" presId="urn:microsoft.com/office/officeart/2005/8/layout/hProcess11"/>
    <dgm:cxn modelId="{B8059390-8DA3-4351-8547-55A9597428C5}" type="presParOf" srcId="{11B64564-F0C9-45C3-BAEB-3B4E925277BA}" destId="{830C4CA7-52C3-4D3B-A861-3D6E5C9C02F2}" srcOrd="1" destOrd="0" presId="urn:microsoft.com/office/officeart/2005/8/layout/hProcess11"/>
    <dgm:cxn modelId="{D5DE5BB7-9E86-44B1-AA0A-4540F62AE063}" type="presParOf" srcId="{11B64564-F0C9-45C3-BAEB-3B4E925277BA}" destId="{D14E7519-F162-4ECA-A6AD-67D71E3577EC}" srcOrd="2" destOrd="0" presId="urn:microsoft.com/office/officeart/2005/8/layout/hProcess11"/>
    <dgm:cxn modelId="{38F23FBA-2533-4FAF-AEB6-3EBAF5BB9E3C}" type="presParOf" srcId="{D14E7519-F162-4ECA-A6AD-67D71E3577EC}" destId="{6756CE44-1693-41AC-B099-C0BBD34F824E}" srcOrd="0" destOrd="0" presId="urn:microsoft.com/office/officeart/2005/8/layout/hProcess11"/>
    <dgm:cxn modelId="{065C4A5B-B8C6-43AE-8F5A-F53D8F39F025}" type="presParOf" srcId="{D14E7519-F162-4ECA-A6AD-67D71E3577EC}" destId="{B504AF9A-8F3D-4367-A08F-A9D6104DEF30}" srcOrd="1" destOrd="0" presId="urn:microsoft.com/office/officeart/2005/8/layout/hProcess11"/>
    <dgm:cxn modelId="{0DC93F87-BE11-4AE1-8688-F36A938E23ED}" type="presParOf" srcId="{D14E7519-F162-4ECA-A6AD-67D71E3577EC}" destId="{65C5762C-BB44-420A-9F3C-45BC3E0447B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A05A-5CD0-4A29-B674-BCF5F684344E}">
      <dsp:nvSpPr>
        <dsp:cNvPr id="0" name=""/>
        <dsp:cNvSpPr/>
      </dsp:nvSpPr>
      <dsp:spPr>
        <a:xfrm>
          <a:off x="0" y="1207148"/>
          <a:ext cx="11644778" cy="65562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15A24-1840-4208-87CC-6A2F7397D323}">
      <dsp:nvSpPr>
        <dsp:cNvPr id="0" name=""/>
        <dsp:cNvSpPr/>
      </dsp:nvSpPr>
      <dsp:spPr>
        <a:xfrm>
          <a:off x="523577" y="1557336"/>
          <a:ext cx="4639300" cy="99442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b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80</a:t>
          </a:r>
        </a:p>
      </dsp:txBody>
      <dsp:txXfrm>
        <a:off x="523577" y="1557336"/>
        <a:ext cx="4639300" cy="994420"/>
      </dsp:txXfrm>
    </dsp:sp>
    <dsp:sp modelId="{E8FCC846-1791-415E-BFB3-28CB29720EBE}">
      <dsp:nvSpPr>
        <dsp:cNvPr id="0" name=""/>
        <dsp:cNvSpPr/>
      </dsp:nvSpPr>
      <dsp:spPr>
        <a:xfrm>
          <a:off x="2702696" y="1377208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56CE44-1693-41AC-B099-C0BBD34F824E}">
      <dsp:nvSpPr>
        <dsp:cNvPr id="0" name=""/>
        <dsp:cNvSpPr/>
      </dsp:nvSpPr>
      <dsp:spPr>
        <a:xfrm>
          <a:off x="6760877" y="1557333"/>
          <a:ext cx="4586185" cy="125054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90</a:t>
          </a:r>
        </a:p>
      </dsp:txBody>
      <dsp:txXfrm>
        <a:off x="6760877" y="1557333"/>
        <a:ext cx="4586185" cy="1250540"/>
      </dsp:txXfrm>
    </dsp:sp>
    <dsp:sp modelId="{B504AF9A-8F3D-4367-A08F-A9D6104DEF30}">
      <dsp:nvSpPr>
        <dsp:cNvPr id="0" name=""/>
        <dsp:cNvSpPr/>
      </dsp:nvSpPr>
      <dsp:spPr>
        <a:xfrm>
          <a:off x="8894700" y="1382863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8BEC-9E47-001A-3513-1D75D038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F928A-2257-7461-86B1-1D3F610E8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B5C6F-2D6F-7A9E-1F07-EFD79FC86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9313B-ACCC-7AEC-DF2A-47C7DE179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0570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6A16-7DD5-9F57-DBD2-323542E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C6D52-514D-8FD1-74E1-C37643F37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0CF09-9B4B-A1F2-FDE8-0A568B673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8B45-F2CE-1F2D-012C-6AF452865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9988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428B-2954-7A11-D355-2E80F99B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5F670-8AC3-F26D-9E11-30E45B949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8840C-F3AD-C9AB-D4FC-57BE8D02D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2C90E-7A44-DF65-A8E0-95FA9E74B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27657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9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8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234440"/>
            <a:ext cx="7955279" cy="1162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LA VISIBILIDAD DEL CINE ARGENTINO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EN ESPAÑA (1980-2000)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07389"/>
            <a:ext cx="7863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00B0F0"/>
                </a:solidFill>
                <a:latin typeface="Calibri"/>
              </a:rPr>
              <a:t>Memoria,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exilio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y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coproducciones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transatlánticas</a:t>
            </a:r>
            <a:endParaRPr sz="2000" b="0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3293B"/>
                </a:solidFill>
                <a:latin typeface="Calibri"/>
              </a:rPr>
              <a:t>Facundo Nicolás Vallejos Ribles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TFG · Grado en Historia del Arte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Prof. D. Joaquín Cánovas Belchí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Curso 2025/2026 · Convocatoria junio-julio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632764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293B"/>
                </a:solidFill>
                <a:latin typeface="Calibri"/>
              </a:rPr>
              <a:t>Departamento de Historia del Arte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735C633-E173-2E1F-2E45-F4EE50C8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62DB486-D0B7-1DA2-31CE-BD2FE90A0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7936261" y="6168285"/>
            <a:ext cx="1632522" cy="77328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44204B4-B746-F73A-9490-11D9FEAD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261" y="11722"/>
            <a:ext cx="4244793" cy="18041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4515" y="365760"/>
            <a:ext cx="1280161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00B0F0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006" y="1023488"/>
            <a:ext cx="105156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INTRODUCCIÓN</a:t>
            </a: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Justificación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estado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 de la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cuestión</a:t>
            </a:r>
            <a:endParaRPr sz="24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lang="es-ES" sz="2400" dirty="0">
                <a:solidFill>
                  <a:srgbClr val="03293B"/>
                </a:solidFill>
                <a:latin typeface="Calibri"/>
              </a:rPr>
              <a:t>O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bjetivos</a:t>
            </a:r>
            <a:endParaRPr sz="24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Metodología</a:t>
            </a:r>
            <a:endParaRPr sz="24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CONTENIDO</a:t>
            </a: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Context</a:t>
            </a:r>
            <a:r>
              <a:rPr lang="es-ES" sz="2400" b="0" i="0" dirty="0">
                <a:solidFill>
                  <a:srgbClr val="03293B"/>
                </a:solidFill>
                <a:latin typeface="Calibri"/>
              </a:rPr>
              <a:t>o </a:t>
            </a:r>
            <a:r>
              <a:rPr lang="es-ES" sz="2400" b="0" i="0" dirty="0" err="1">
                <a:solidFill>
                  <a:srgbClr val="03293B"/>
                </a:solidFill>
                <a:latin typeface="Calibri"/>
              </a:rPr>
              <a:t>historico</a:t>
            </a:r>
            <a:endParaRPr sz="24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Tres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casos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estudio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historia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oficial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, Un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lugar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03293B"/>
                </a:solidFill>
                <a:latin typeface="Calibri"/>
              </a:rPr>
              <a:t>mundo</a:t>
            </a:r>
            <a:r>
              <a:rPr sz="2400" b="1" i="0" dirty="0">
                <a:solidFill>
                  <a:srgbClr val="03293B"/>
                </a:solidFill>
                <a:latin typeface="Calibri"/>
              </a:rPr>
              <a:t>, Martín (Hache)</a:t>
            </a: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Recepción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2400" b="0" i="0" dirty="0">
                <a:solidFill>
                  <a:srgbClr val="03293B"/>
                </a:solidFill>
                <a:latin typeface="Calibri"/>
              </a:rPr>
              <a:t> España</a:t>
            </a:r>
          </a:p>
          <a:p>
            <a:pPr algn="l">
              <a:spcAft>
                <a:spcPts val="10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229A99E-F86E-3FD7-11AC-676B2FD0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CC13EA1-88D1-15EE-F1B2-50DDE386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JUSTIFICACIÓN Y ESTADO DE LA CUESTIÓN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F0BFC0C-5B61-9020-D652-E9D330705117}"/>
              </a:ext>
            </a:extLst>
          </p:cNvPr>
          <p:cNvSpPr txBox="1"/>
          <p:nvPr/>
        </p:nvSpPr>
        <p:spPr>
          <a:xfrm>
            <a:off x="3108960" y="25818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FC055514-499C-D81E-5A58-A808A1863C65}"/>
              </a:ext>
            </a:extLst>
          </p:cNvPr>
          <p:cNvGrpSpPr/>
          <p:nvPr/>
        </p:nvGrpSpPr>
        <p:grpSpPr>
          <a:xfrm>
            <a:off x="4708512" y="2165460"/>
            <a:ext cx="2774670" cy="1115258"/>
            <a:chOff x="4708512" y="2165460"/>
            <a:chExt cx="2774670" cy="1115258"/>
          </a:xfrm>
        </p:grpSpPr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2F09B99-F1CD-C1CB-0117-AEDB6E242C8B}"/>
                </a:ext>
              </a:extLst>
            </p:cNvPr>
            <p:cNvSpPr txBox="1"/>
            <p:nvPr/>
          </p:nvSpPr>
          <p:spPr>
            <a:xfrm>
              <a:off x="4708512" y="2165460"/>
              <a:ext cx="2774670" cy="64633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s-ES" dirty="0"/>
                <a:t>Papel de acogida de España</a:t>
              </a:r>
            </a:p>
            <a:p>
              <a:endParaRPr lang="es-ES" dirty="0"/>
            </a:p>
          </p:txBody>
        </p:sp>
        <p:pic>
          <p:nvPicPr>
            <p:cNvPr id="29" name="Gráfico 28" descr="Dirigir dos pines por un camino con relleno sólido">
              <a:extLst>
                <a:ext uri="{FF2B5EF4-FFF2-40B4-BE49-F238E27FC236}">
                  <a16:creationId xmlns:a16="http://schemas.microsoft.com/office/drawing/2014/main" id="{2D58FF87-4EFE-C761-F052-46ABBBDCF7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9323" y="2567670"/>
              <a:ext cx="713048" cy="713048"/>
            </a:xfrm>
            <a:prstGeom prst="rect">
              <a:avLst/>
            </a:prstGeom>
          </p:spPr>
        </p:pic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676D87C-FB93-1A11-08BE-CB37ABB01FB8}"/>
              </a:ext>
            </a:extLst>
          </p:cNvPr>
          <p:cNvGrpSpPr/>
          <p:nvPr/>
        </p:nvGrpSpPr>
        <p:grpSpPr>
          <a:xfrm>
            <a:off x="7881840" y="1573653"/>
            <a:ext cx="3336522" cy="1192848"/>
            <a:chOff x="7881840" y="1573653"/>
            <a:chExt cx="3336522" cy="1192848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67ACDB15-EB5E-FDBD-78CF-C4F82390CBC4}"/>
                </a:ext>
              </a:extLst>
            </p:cNvPr>
            <p:cNvSpPr txBox="1"/>
            <p:nvPr/>
          </p:nvSpPr>
          <p:spPr>
            <a:xfrm>
              <a:off x="7881840" y="1573653"/>
              <a:ext cx="3336522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ES" dirty="0"/>
                <a:t>Análisis desde la Historia del Arte</a:t>
              </a:r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291EADB-82BF-E70B-7714-6D4D501A58AD}"/>
                </a:ext>
              </a:extLst>
            </p:cNvPr>
            <p:cNvGrpSpPr/>
            <p:nvPr/>
          </p:nvGrpSpPr>
          <p:grpSpPr>
            <a:xfrm>
              <a:off x="9157707" y="1947126"/>
              <a:ext cx="771107" cy="819375"/>
              <a:chOff x="8948865" y="2052834"/>
              <a:chExt cx="845702" cy="909320"/>
            </a:xfrm>
          </p:grpSpPr>
          <p:pic>
            <p:nvPicPr>
              <p:cNvPr id="39" name="Gráfico 38" descr="Paleta con relleno sólido">
                <a:extLst>
                  <a:ext uri="{FF2B5EF4-FFF2-40B4-BE49-F238E27FC236}">
                    <a16:creationId xmlns:a16="http://schemas.microsoft.com/office/drawing/2014/main" id="{B4C4FD9D-1025-8042-7B09-43D73EDB2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48865" y="2052834"/>
                <a:ext cx="646331" cy="646331"/>
              </a:xfrm>
              <a:prstGeom prst="rect">
                <a:avLst/>
              </a:prstGeom>
            </p:spPr>
          </p:pic>
          <p:pic>
            <p:nvPicPr>
              <p:cNvPr id="41" name="Gráfico 40" descr="Libro abierto contorno">
                <a:extLst>
                  <a:ext uri="{FF2B5EF4-FFF2-40B4-BE49-F238E27FC236}">
                    <a16:creationId xmlns:a16="http://schemas.microsoft.com/office/drawing/2014/main" id="{449213BD-521B-1AB8-D21F-5571B603D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081519" y="2249106"/>
                <a:ext cx="713048" cy="713048"/>
              </a:xfrm>
              <a:prstGeom prst="rect">
                <a:avLst/>
              </a:prstGeom>
            </p:spPr>
          </p:pic>
        </p:grp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200F074-40FF-38AA-701F-1DD09B781E47}"/>
              </a:ext>
            </a:extLst>
          </p:cNvPr>
          <p:cNvGrpSpPr/>
          <p:nvPr/>
        </p:nvGrpSpPr>
        <p:grpSpPr>
          <a:xfrm>
            <a:off x="2615051" y="4060948"/>
            <a:ext cx="6938683" cy="1257950"/>
            <a:chOff x="2615051" y="4060948"/>
            <a:chExt cx="6938683" cy="1257950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0A2F2C5-C82C-F1AE-2603-C34BF119F28E}"/>
                </a:ext>
              </a:extLst>
            </p:cNvPr>
            <p:cNvSpPr txBox="1"/>
            <p:nvPr/>
          </p:nvSpPr>
          <p:spPr>
            <a:xfrm>
              <a:off x="2615051" y="4060948"/>
              <a:ext cx="6938683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s-ES" dirty="0"/>
                <a:t>Vision homogénea de lo histórico, político y cultural junto con lo visual</a:t>
              </a:r>
            </a:p>
          </p:txBody>
        </p:sp>
        <p:pic>
          <p:nvPicPr>
            <p:cNvPr id="45" name="Gráfico 44" descr="Ojo con relleno sólido">
              <a:extLst>
                <a:ext uri="{FF2B5EF4-FFF2-40B4-BE49-F238E27FC236}">
                  <a16:creationId xmlns:a16="http://schemas.microsoft.com/office/drawing/2014/main" id="{0E136CD2-9347-9233-9537-8FA2DFE2FC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23560" y="4404498"/>
              <a:ext cx="914400" cy="914400"/>
            </a:xfrm>
            <a:prstGeom prst="rect">
              <a:avLst/>
            </a:prstGeom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84044C8-1461-CB67-812C-E1EA006DDFFE}"/>
              </a:ext>
            </a:extLst>
          </p:cNvPr>
          <p:cNvGrpSpPr/>
          <p:nvPr/>
        </p:nvGrpSpPr>
        <p:grpSpPr>
          <a:xfrm>
            <a:off x="1221638" y="1577794"/>
            <a:ext cx="2909707" cy="1037881"/>
            <a:chOff x="1221638" y="1577794"/>
            <a:chExt cx="2909707" cy="103788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4079263-0913-FEE5-084E-6CAE208B19CA}"/>
                </a:ext>
              </a:extLst>
            </p:cNvPr>
            <p:cNvSpPr txBox="1"/>
            <p:nvPr/>
          </p:nvSpPr>
          <p:spPr>
            <a:xfrm>
              <a:off x="1221638" y="1577794"/>
              <a:ext cx="2909707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s-ES" dirty="0"/>
                <a:t>El cine como puente cultural</a:t>
              </a:r>
            </a:p>
          </p:txBody>
        </p:sp>
        <p:pic>
          <p:nvPicPr>
            <p:cNvPr id="52" name="Gráfico 51" descr="Escena de un puente con relleno sólido">
              <a:extLst>
                <a:ext uri="{FF2B5EF4-FFF2-40B4-BE49-F238E27FC236}">
                  <a16:creationId xmlns:a16="http://schemas.microsoft.com/office/drawing/2014/main" id="{E5F07A4A-4442-1075-CF87-595645623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52412" y="1967517"/>
              <a:ext cx="648158" cy="648158"/>
            </a:xfrm>
            <a:prstGeom prst="rect">
              <a:avLst/>
            </a:prstGeom>
          </p:spPr>
        </p:pic>
      </p:grpSp>
      <p:pic>
        <p:nvPicPr>
          <p:cNvPr id="55" name="Imagen 54">
            <a:extLst>
              <a:ext uri="{FF2B5EF4-FFF2-40B4-BE49-F238E27FC236}">
                <a16:creationId xmlns:a16="http://schemas.microsoft.com/office/drawing/2014/main" id="{9E5EAEB0-C169-CFD2-E79F-30B7FA1ECA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43BDBFDC-44DB-A4B7-F71C-2FC4E58338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8458" y="1090352"/>
            <a:ext cx="6400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8458" y="2070996"/>
            <a:ext cx="50822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458" y="3047777"/>
            <a:ext cx="50509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0EF7AD-A6CA-81BF-4C54-7DFA89D4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1C82DC1-2B87-B184-3ABC-BB7BA4EF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1553129-B866-6DDF-75FB-14CBC43ABDBA}"/>
              </a:ext>
            </a:extLst>
          </p:cNvPr>
          <p:cNvSpPr txBox="1"/>
          <p:nvPr/>
        </p:nvSpPr>
        <p:spPr>
          <a:xfrm>
            <a:off x="1307305" y="5043499"/>
            <a:ext cx="102896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i="0" dirty="0">
                <a:effectLst/>
                <a:latin typeface="-apple-system"/>
              </a:rPr>
              <a:t>Examinar las coproducciones </a:t>
            </a:r>
            <a:r>
              <a:rPr lang="es-ES" sz="2400" i="0" dirty="0" err="1">
                <a:effectLst/>
                <a:latin typeface="-apple-system"/>
              </a:rPr>
              <a:t>hispanoargentinas</a:t>
            </a:r>
            <a:r>
              <a:rPr lang="es-ES" sz="2400" i="0" dirty="0">
                <a:effectLst/>
                <a:latin typeface="-apple-system"/>
              </a:rPr>
              <a:t> como vía de visibilidad: alcance, posibilidades y tensiones.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87BF8D-98A5-D65F-F314-EFAD8F5E6C1D}"/>
              </a:ext>
            </a:extLst>
          </p:cNvPr>
          <p:cNvSpPr txBox="1"/>
          <p:nvPr/>
        </p:nvSpPr>
        <p:spPr>
          <a:xfrm>
            <a:off x="1307306" y="1105439"/>
            <a:ext cx="10085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i="0" dirty="0">
                <a:effectLst/>
                <a:latin typeface="-apple-system"/>
              </a:rPr>
              <a:t>Analizar la visibilidad del cine argentino en España (1980-2000) desde la Historia del Arte</a:t>
            </a:r>
            <a:r>
              <a:rPr lang="es-ES" sz="2400" dirty="0">
                <a:solidFill>
                  <a:srgbClr val="C1BEC6"/>
                </a:solidFill>
                <a:latin typeface="-apple-system"/>
              </a:rPr>
              <a:t> </a:t>
            </a:r>
            <a:r>
              <a:rPr lang="es-ES" sz="2400" b="0" i="0" dirty="0">
                <a:effectLst/>
                <a:latin typeface="-apple-system"/>
              </a:rPr>
              <a:t>atendiendo a su construcción visual. 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9A814D-882E-F647-98DD-A9E4E2DF1001}"/>
              </a:ext>
            </a:extLst>
          </p:cNvPr>
          <p:cNvSpPr txBox="1"/>
          <p:nvPr/>
        </p:nvSpPr>
        <p:spPr>
          <a:xfrm>
            <a:off x="1307306" y="2078366"/>
            <a:ext cx="99544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i="0" dirty="0">
                <a:effectLst/>
                <a:latin typeface="-apple-system"/>
              </a:rPr>
              <a:t>Estudiar el uso del espacio cinematográfico como herramienta de sentido en los tres casos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781A988-F0BE-6358-C186-99E15E6670F4}"/>
              </a:ext>
            </a:extLst>
          </p:cNvPr>
          <p:cNvSpPr txBox="1"/>
          <p:nvPr/>
        </p:nvSpPr>
        <p:spPr>
          <a:xfrm>
            <a:off x="1307306" y="3047777"/>
            <a:ext cx="10152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i="0" dirty="0">
                <a:effectLst/>
                <a:latin typeface="-apple-system"/>
              </a:rPr>
              <a:t>Analizar cómo la memoria de la represión se traduce en el discurso narrativo y estético de las películas y su recepción en España.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1ECF4EA-5008-CEDE-AFCF-8AE5BA9A8A99}"/>
              </a:ext>
            </a:extLst>
          </p:cNvPr>
          <p:cNvSpPr txBox="1"/>
          <p:nvPr/>
        </p:nvSpPr>
        <p:spPr>
          <a:xfrm>
            <a:off x="1307305" y="4045638"/>
            <a:ext cx="101525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i="0" dirty="0">
                <a:effectLst/>
                <a:latin typeface="-apple-system"/>
              </a:rPr>
              <a:t>Estudiar el papel del exiliado argentino como mediador cultural y en las redes de intercambio artístico entre los dos países.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003F8372-72B5-9DD9-40B5-5DED3D14A657}"/>
              </a:ext>
            </a:extLst>
          </p:cNvPr>
          <p:cNvSpPr txBox="1"/>
          <p:nvPr/>
        </p:nvSpPr>
        <p:spPr>
          <a:xfrm>
            <a:off x="901597" y="4034942"/>
            <a:ext cx="50509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600" b="1" dirty="0">
                <a:solidFill>
                  <a:srgbClr val="00B0F0"/>
                </a:solidFill>
                <a:latin typeface="Calibri"/>
              </a:rPr>
              <a:t>4</a:t>
            </a:r>
            <a:r>
              <a:rPr sz="2600" b="1" i="0" dirty="0">
                <a:solidFill>
                  <a:srgbClr val="00B0F0"/>
                </a:solidFill>
                <a:latin typeface="Calibri"/>
              </a:rPr>
              <a:t>.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631E490A-6470-99A5-4842-BE10191B95C9}"/>
              </a:ext>
            </a:extLst>
          </p:cNvPr>
          <p:cNvSpPr txBox="1"/>
          <p:nvPr/>
        </p:nvSpPr>
        <p:spPr>
          <a:xfrm>
            <a:off x="901597" y="5019539"/>
            <a:ext cx="50509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600" b="1" dirty="0">
                <a:solidFill>
                  <a:srgbClr val="00B0F0"/>
                </a:solidFill>
                <a:latin typeface="Calibri"/>
              </a:rPr>
              <a:t>5</a:t>
            </a:r>
            <a:r>
              <a:rPr sz="2600" b="1" i="0" dirty="0">
                <a:solidFill>
                  <a:srgbClr val="00B0F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B470-FC27-A6A1-9C09-E5C9248D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26BE37-002D-3809-447F-2FD3305C5A9D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00B0F0"/>
                </a:solidFill>
                <a:latin typeface="Calibri"/>
              </a:rPr>
              <a:t>METODOLOGÍA</a:t>
            </a:r>
            <a:endParaRPr sz="2600" b="1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6A58F-2E1A-3B22-60D0-1111898A8BED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E32F7-9B7B-025B-BFB6-2871C55CBFB0}"/>
              </a:ext>
            </a:extLst>
          </p:cNvPr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CD32C1BA-8B63-D350-31FA-014B2DC3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78B01BBC-2AA8-C838-D7DE-3EC9C187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B781563-4FD8-9208-515A-7E97137F8173}"/>
              </a:ext>
            </a:extLst>
          </p:cNvPr>
          <p:cNvGrpSpPr/>
          <p:nvPr/>
        </p:nvGrpSpPr>
        <p:grpSpPr>
          <a:xfrm>
            <a:off x="1185682" y="975387"/>
            <a:ext cx="2970954" cy="4658631"/>
            <a:chOff x="1185682" y="975387"/>
            <a:chExt cx="2970954" cy="4658631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1A9DD5F-0489-3615-3C40-F0672C603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85682" y="975387"/>
              <a:ext cx="2970954" cy="4254500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B66DA47F-5C16-6385-E055-D2A9A734AE4B}"/>
                </a:ext>
              </a:extLst>
            </p:cNvPr>
            <p:cNvSpPr txBox="1"/>
            <p:nvPr/>
          </p:nvSpPr>
          <p:spPr>
            <a:xfrm>
              <a:off x="1894824" y="5264686"/>
              <a:ext cx="1552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C523CFB2-ECE9-77AD-5B9A-D5D3590E9169}"/>
              </a:ext>
            </a:extLst>
          </p:cNvPr>
          <p:cNvGrpSpPr/>
          <p:nvPr/>
        </p:nvGrpSpPr>
        <p:grpSpPr>
          <a:xfrm>
            <a:off x="8647085" y="1045718"/>
            <a:ext cx="2486396" cy="4546862"/>
            <a:chOff x="8647085" y="1045718"/>
            <a:chExt cx="2486396" cy="4546862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3B1A8E-D5BB-2898-AAA6-14B314BB5949}"/>
                </a:ext>
              </a:extLst>
            </p:cNvPr>
            <p:cNvSpPr txBox="1"/>
            <p:nvPr/>
          </p:nvSpPr>
          <p:spPr>
            <a:xfrm>
              <a:off x="9455708" y="5223248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B126B96-1717-F9A0-EA86-243F7772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7085" y="1045718"/>
              <a:ext cx="2486396" cy="4254500"/>
            </a:xfrm>
            <a:prstGeom prst="rect">
              <a:avLst/>
            </a:prstGeom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29CCED6B-F0B6-A171-F44A-BCD06C5C65F2}"/>
              </a:ext>
            </a:extLst>
          </p:cNvPr>
          <p:cNvGrpSpPr/>
          <p:nvPr/>
        </p:nvGrpSpPr>
        <p:grpSpPr>
          <a:xfrm>
            <a:off x="5049585" y="975387"/>
            <a:ext cx="2704551" cy="4665517"/>
            <a:chOff x="5049585" y="975387"/>
            <a:chExt cx="2704551" cy="4665517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716AEA48-13F5-1E93-E7ED-FAE55CD46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49585" y="975387"/>
              <a:ext cx="2704551" cy="4257321"/>
            </a:xfrm>
            <a:prstGeom prst="rect">
              <a:avLst/>
            </a:prstGeom>
          </p:spPr>
        </p:pic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7B966EE-29D7-8062-313E-DA7F95353D31}"/>
                </a:ext>
              </a:extLst>
            </p:cNvPr>
            <p:cNvSpPr txBox="1"/>
            <p:nvPr/>
          </p:nvSpPr>
          <p:spPr>
            <a:xfrm>
              <a:off x="5858329" y="5271572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/>
            </a:p>
          </p:txBody>
        </p:sp>
      </p:grpSp>
      <p:sp>
        <p:nvSpPr>
          <p:cNvPr id="35" name="TextBox 23">
            <a:extLst>
              <a:ext uri="{FF2B5EF4-FFF2-40B4-BE49-F238E27FC236}">
                <a16:creationId xmlns:a16="http://schemas.microsoft.com/office/drawing/2014/main" id="{7675061A-9500-8992-3AB1-2CE2EE552EFB}"/>
              </a:ext>
            </a:extLst>
          </p:cNvPr>
          <p:cNvSpPr txBox="1"/>
          <p:nvPr/>
        </p:nvSpPr>
        <p:spPr>
          <a:xfrm>
            <a:off x="1185682" y="5321808"/>
            <a:ext cx="2970954" cy="602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Amado, Ana María. 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La imagen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justa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: cine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argentino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y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política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(1980–2007)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. Buenos Aires: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Colihue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, 2009.</a:t>
            </a:r>
          </a:p>
        </p:txBody>
      </p:sp>
      <p:sp>
        <p:nvSpPr>
          <p:cNvPr id="37" name="TextBox 25">
            <a:extLst>
              <a:ext uri="{FF2B5EF4-FFF2-40B4-BE49-F238E27FC236}">
                <a16:creationId xmlns:a16="http://schemas.microsoft.com/office/drawing/2014/main" id="{0ED0172B-366D-CBA1-850D-086757F898DC}"/>
              </a:ext>
            </a:extLst>
          </p:cNvPr>
          <p:cNvSpPr txBox="1"/>
          <p:nvPr/>
        </p:nvSpPr>
        <p:spPr>
          <a:xfrm>
            <a:off x="5049585" y="5321808"/>
            <a:ext cx="2704551" cy="7720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Sarlo, Beatriz. 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Tiempo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pasado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. Cultura de la memoria y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giro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subjetivo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. Una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discusión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. Buenos Aires: Siglo XXI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Editores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, 2005.</a:t>
            </a: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7B1FC7D6-FED0-3DED-C880-568716101E66}"/>
              </a:ext>
            </a:extLst>
          </p:cNvPr>
          <p:cNvSpPr txBox="1"/>
          <p:nvPr/>
        </p:nvSpPr>
        <p:spPr>
          <a:xfrm>
            <a:off x="8647085" y="5321808"/>
            <a:ext cx="2486396" cy="7720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Jensen, Silvina. 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Los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exiliados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. La lucha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por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los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derechos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humanos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durante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la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dictadura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militar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. Buenos Aires: Editorial Sudamericana, 2010</a:t>
            </a:r>
            <a:r>
              <a:rPr sz="90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339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BCF5-55E1-7CCA-64AE-DA72DB7E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6E978-ADEA-6D3F-A858-16193B2147A9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00B0F0"/>
                </a:solidFill>
                <a:latin typeface="Calibri"/>
              </a:rPr>
              <a:t>METODOLOGÍA</a:t>
            </a:r>
            <a:endParaRPr sz="2600" b="1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E4DEC-731E-CB3F-74D3-486281905DB6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A0509-39F6-8028-F925-54ABF367BEBB}"/>
              </a:ext>
            </a:extLst>
          </p:cNvPr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E012CC69-43A1-D263-6279-9D357F38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84024448-F59A-22D3-35B7-3DF32D15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798F8C9-B3DE-3AD8-D295-D2A9DB58D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02" y="981962"/>
            <a:ext cx="2996302" cy="42357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8B60DE0-1F6E-B0CD-3A0E-D815D41D8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31" y="987551"/>
            <a:ext cx="2993164" cy="423570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2EB7721-B1F2-0B5D-1382-74DE76B9B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10" y="981964"/>
            <a:ext cx="2993164" cy="4235704"/>
          </a:xfrm>
          <a:prstGeom prst="rect">
            <a:avLst/>
          </a:prstGeom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247668CF-C2B2-3B08-5EA4-6B4D7D10185F}"/>
              </a:ext>
            </a:extLst>
          </p:cNvPr>
          <p:cNvSpPr txBox="1"/>
          <p:nvPr/>
        </p:nvSpPr>
        <p:spPr>
          <a:xfrm>
            <a:off x="8518402" y="5285232"/>
            <a:ext cx="2996302" cy="602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González, Leandro Ramiro. «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Cruzando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Atlántico: cine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argentino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España».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Imagofagia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, n.º 17 (2018): 41–70.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17C78ED-9D83-DC86-188E-7EA334C14708}"/>
              </a:ext>
            </a:extLst>
          </p:cNvPr>
          <p:cNvSpPr txBox="1"/>
          <p:nvPr/>
        </p:nvSpPr>
        <p:spPr>
          <a:xfrm>
            <a:off x="1332031" y="5285232"/>
            <a:ext cx="2993164" cy="7720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Rodríguez Marino, Paula.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Figuras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destierro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.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Narraciones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cine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argentino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(1978–1988)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.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Viedma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: Universidad Nacional de Río Negro, 2013.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FD6B6-5AD8-D0B1-2C72-1C333786CBCD}"/>
              </a:ext>
            </a:extLst>
          </p:cNvPr>
          <p:cNvSpPr txBox="1"/>
          <p:nvPr/>
        </p:nvSpPr>
        <p:spPr>
          <a:xfrm>
            <a:off x="4547158" y="5205036"/>
            <a:ext cx="3749281" cy="94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" i="0" dirty="0">
                <a:solidFill>
                  <a:srgbClr val="03293B"/>
                </a:solidFill>
                <a:latin typeface="Calibri"/>
              </a:rPr>
              <a:t>Elena, Alberto. «La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difusión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del cine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latinoamericano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España: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aproximación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cuantitativa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». En 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Tras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sueño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: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actas</a:t>
            </a:r>
            <a:r>
              <a:rPr sz="1200" i="1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200" i="1" dirty="0" err="1">
                <a:solidFill>
                  <a:srgbClr val="03293B"/>
                </a:solidFill>
                <a:latin typeface="Calibri"/>
              </a:rPr>
              <a:t>centenario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,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editado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por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Josetxo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Cerdán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y Julio Pérez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Perucha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, 221–230. Madrid: Academia de las Artes y las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Ciencias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00" i="0" dirty="0" err="1">
                <a:solidFill>
                  <a:srgbClr val="03293B"/>
                </a:solidFill>
                <a:latin typeface="Calibri"/>
              </a:rPr>
              <a:t>Cinematográficas</a:t>
            </a:r>
            <a:r>
              <a:rPr sz="1200" i="0" dirty="0">
                <a:solidFill>
                  <a:srgbClr val="03293B"/>
                </a:solidFill>
                <a:latin typeface="Calibri"/>
              </a:rPr>
              <a:t> de España, 1998</a:t>
            </a:r>
            <a:r>
              <a:rPr sz="85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23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F2C9-C7FF-B09D-E918-06CA257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E8B674-06B9-DEA5-E315-BCBF6E935457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00B0F0"/>
                </a:solidFill>
                <a:latin typeface="Calibri"/>
              </a:rPr>
              <a:t>Contexto Histórico</a:t>
            </a:r>
            <a:endParaRPr sz="2600" b="1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34281-9124-9BCA-6F06-ED8021554FFA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528BF-889A-6CF1-2FF5-F0400A382802}"/>
              </a:ext>
            </a:extLst>
          </p:cNvPr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1F72BB-2E9E-BE38-23BC-ECC70E98596F}"/>
              </a:ext>
            </a:extLst>
          </p:cNvPr>
          <p:cNvSpPr txBox="1"/>
          <p:nvPr/>
        </p:nvSpPr>
        <p:spPr>
          <a:xfrm>
            <a:off x="3421828" y="4569266"/>
            <a:ext cx="512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Juramento de Jorge Rafael Videla como Presidente de Argentina, 1976. Fuente: Wikipedia Commons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87522-EC33-BD2C-A668-4BF4FFB7298D}"/>
              </a:ext>
            </a:extLst>
          </p:cNvPr>
          <p:cNvSpPr txBox="1"/>
          <p:nvPr/>
        </p:nvSpPr>
        <p:spPr>
          <a:xfrm>
            <a:off x="2714324" y="1560201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ARGENTINA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9F8E97F-304E-0015-AB9E-A1EC16E5FCE8}"/>
              </a:ext>
            </a:extLst>
          </p:cNvPr>
          <p:cNvSpPr txBox="1"/>
          <p:nvPr/>
        </p:nvSpPr>
        <p:spPr>
          <a:xfrm>
            <a:off x="399632" y="1971690"/>
            <a:ext cx="3782727" cy="182332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 err="1">
                <a:solidFill>
                  <a:schemeClr val="tx1"/>
                </a:solidFill>
                <a:latin typeface="Calibri"/>
              </a:rPr>
              <a:t>Dictadura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 (1976-1983):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secuestro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tortura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y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desaparición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chemeClr val="tx1"/>
                </a:solidFill>
                <a:latin typeface="Calibri"/>
              </a:rPr>
              <a:t>El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exilio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se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vuelve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necesidad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supervivencia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(Briski, Guevara, Alterio).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2202FFF4-EF07-7326-5685-C96F4DD0977B}"/>
              </a:ext>
            </a:extLst>
          </p:cNvPr>
          <p:cNvSpPr txBox="1"/>
          <p:nvPr/>
        </p:nvSpPr>
        <p:spPr>
          <a:xfrm>
            <a:off x="7246220" y="171810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ESPAÑA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1666F5B0-82F7-F88D-2D01-DC3846189F05}"/>
              </a:ext>
            </a:extLst>
          </p:cNvPr>
          <p:cNvSpPr txBox="1"/>
          <p:nvPr/>
        </p:nvSpPr>
        <p:spPr>
          <a:xfrm>
            <a:off x="7379371" y="2119001"/>
            <a:ext cx="3997466" cy="150015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>
                <a:solidFill>
                  <a:schemeClr val="tx1"/>
                </a:solidFill>
                <a:latin typeface="Calibri"/>
              </a:rPr>
              <a:t>Muerte de Franco (1975) 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transición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chemeClr val="tx1"/>
                </a:solidFill>
                <a:latin typeface="Calibri"/>
              </a:rPr>
              <a:t>democrática</a:t>
            </a:r>
            <a:r>
              <a:rPr sz="2000" b="0" i="0" dirty="0">
                <a:solidFill>
                  <a:schemeClr val="tx1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chemeClr val="tx1"/>
                </a:solidFill>
                <a:latin typeface="Calibri"/>
              </a:rPr>
              <a:t>Madrid y Barcelona, </a:t>
            </a:r>
            <a:r>
              <a:rPr sz="2000" b="1" i="0" dirty="0" err="1">
                <a:solidFill>
                  <a:schemeClr val="tx1"/>
                </a:solidFill>
                <a:latin typeface="Calibri"/>
              </a:rPr>
              <a:t>espacios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tx1"/>
                </a:solidFill>
                <a:latin typeface="Calibri"/>
              </a:rPr>
              <a:t>receptivos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 para </a:t>
            </a:r>
            <a:r>
              <a:rPr sz="2000" b="1" i="0" dirty="0" err="1">
                <a:solidFill>
                  <a:schemeClr val="tx1"/>
                </a:solidFill>
                <a:latin typeface="Calibri"/>
              </a:rPr>
              <a:t>el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tx1"/>
                </a:solidFill>
                <a:latin typeface="Calibri"/>
              </a:rPr>
              <a:t>exilio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tx1"/>
                </a:solidFill>
                <a:latin typeface="Calibri"/>
              </a:rPr>
              <a:t>argentino</a:t>
            </a:r>
            <a:r>
              <a:rPr sz="2000" b="1" i="0" dirty="0">
                <a:solidFill>
                  <a:schemeClr val="tx1"/>
                </a:solidFill>
                <a:latin typeface="Calibri"/>
              </a:rPr>
              <a:t>.</a:t>
            </a:r>
            <a:endParaRPr lang="es-ES" sz="2000" b="1" i="0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9" name="Picture 11" descr="image.png">
            <a:extLst>
              <a:ext uri="{FF2B5EF4-FFF2-40B4-BE49-F238E27FC236}">
                <a16:creationId xmlns:a16="http://schemas.microsoft.com/office/drawing/2014/main" id="{F2F6F7DF-39CB-365B-F79D-B2C8A2CD1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514858"/>
            <a:ext cx="2880360" cy="1997530"/>
          </a:xfrm>
          <a:prstGeom prst="rect">
            <a:avLst/>
          </a:prstGeom>
          <a:ln w="25400">
            <a:solidFill>
              <a:srgbClr val="03293B"/>
            </a:solidFill>
          </a:ln>
        </p:spPr>
      </p:pic>
      <p:pic>
        <p:nvPicPr>
          <p:cNvPr id="21" name="Gráfico 20" descr="Nudo de cuerda con relleno sólido">
            <a:extLst>
              <a:ext uri="{FF2B5EF4-FFF2-40B4-BE49-F238E27FC236}">
                <a16:creationId xmlns:a16="http://schemas.microsoft.com/office/drawing/2014/main" id="{ECB77BC9-9E65-03D9-73FF-19AC62782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9556">
            <a:off x="4521237" y="530096"/>
            <a:ext cx="2241758" cy="2241758"/>
          </a:xfrm>
          <a:prstGeom prst="rect">
            <a:avLst/>
          </a:prstGeom>
        </p:spPr>
      </p:pic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4141A27F-F2DD-FD17-BE18-6F3E9E3F94E3}"/>
              </a:ext>
            </a:extLst>
          </p:cNvPr>
          <p:cNvSpPr/>
          <p:nvPr/>
        </p:nvSpPr>
        <p:spPr>
          <a:xfrm>
            <a:off x="1090108" y="5250414"/>
            <a:ext cx="9784080" cy="914400"/>
          </a:xfrm>
          <a:prstGeom prst="round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EF5"/>
                </a:solidFill>
                <a:latin typeface="Calibri"/>
              </a:rPr>
              <a:t>Dos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países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salían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la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violencia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Estado se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reconocen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las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mismas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imágenes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.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497118F-12F5-E7D6-C1E2-C0F29567BC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457711A-3478-9A9C-2E9A-229331517B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8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a 34">
            <a:extLst>
              <a:ext uri="{FF2B5EF4-FFF2-40B4-BE49-F238E27FC236}">
                <a16:creationId xmlns:a16="http://schemas.microsoft.com/office/drawing/2014/main" id="{0CC64443-9643-D2BA-124E-A694677BC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94278"/>
              </p:ext>
            </p:extLst>
          </p:nvPr>
        </p:nvGraphicFramePr>
        <p:xfrm>
          <a:off x="274320" y="-29811"/>
          <a:ext cx="11644778" cy="311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20040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0B0F0"/>
                </a:solidFill>
                <a:latin typeface="Calibri"/>
              </a:rPr>
              <a:t>LA MEMORIA EN PANTALLA: DE LOS 80 A LOS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1800" b="1" i="0" dirty="0">
              <a:solidFill>
                <a:srgbClr val="E73C2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931" y="2463265"/>
            <a:ext cx="5632320" cy="1660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Realismo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afectivo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imaginación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melodramática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 err="1">
                <a:solidFill>
                  <a:srgbClr val="444444"/>
                </a:solidFill>
                <a:latin typeface="Calibri"/>
              </a:rPr>
              <a:t>Vocación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didáctica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relatos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claros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directos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  <a:r>
              <a:rPr lang="es-ES" sz="2000" b="0" i="0" dirty="0">
                <a:solidFill>
                  <a:srgbClr val="444444"/>
                </a:solidFill>
                <a:latin typeface="Calibri"/>
              </a:rPr>
              <a:t> </a:t>
            </a:r>
            <a:endParaRPr sz="2000" b="0" i="0" dirty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familiar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espejo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sociedad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2685" y="2520974"/>
            <a:ext cx="4909315" cy="2122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fragmento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distancia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Richard: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la memoria es un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territorio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disputa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Sarlo: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riesgo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del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8" name="Gráfico 17" descr="Corazón con pulso con relleno sólido">
            <a:extLst>
              <a:ext uri="{FF2B5EF4-FFF2-40B4-BE49-F238E27FC236}">
                <a16:creationId xmlns:a16="http://schemas.microsoft.com/office/drawing/2014/main" id="{4FDD0214-8B6F-00E1-E7F9-25BD97E0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752" y="2483112"/>
            <a:ext cx="579612" cy="579612"/>
          </a:xfrm>
          <a:prstGeom prst="rect">
            <a:avLst/>
          </a:prstGeom>
        </p:spPr>
      </p:pic>
      <p:pic>
        <p:nvPicPr>
          <p:cNvPr id="22" name="Gráfico 21" descr="Birrete con relleno sólido">
            <a:extLst>
              <a:ext uri="{FF2B5EF4-FFF2-40B4-BE49-F238E27FC236}">
                <a16:creationId xmlns:a16="http://schemas.microsoft.com/office/drawing/2014/main" id="{9B674427-1670-F9D7-25A4-39F38FAEE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80" y="3038251"/>
            <a:ext cx="594384" cy="594384"/>
          </a:xfrm>
          <a:prstGeom prst="rect">
            <a:avLst/>
          </a:prstGeom>
        </p:spPr>
      </p:pic>
      <p:pic>
        <p:nvPicPr>
          <p:cNvPr id="24" name="Gráfico 23" descr="Trabajar desde casa Wi-Fi con relleno sólido">
            <a:extLst>
              <a:ext uri="{FF2B5EF4-FFF2-40B4-BE49-F238E27FC236}">
                <a16:creationId xmlns:a16="http://schemas.microsoft.com/office/drawing/2014/main" id="{2C098092-F113-A3D9-53F3-517A8E1DB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2547" y="3632635"/>
            <a:ext cx="469249" cy="469249"/>
          </a:xfrm>
          <a:prstGeom prst="rect">
            <a:avLst/>
          </a:prstGeom>
        </p:spPr>
      </p:pic>
      <p:pic>
        <p:nvPicPr>
          <p:cNvPr id="26" name="Gráfico 25" descr="Piezas de rompecabezas con relleno sólido">
            <a:extLst>
              <a:ext uri="{FF2B5EF4-FFF2-40B4-BE49-F238E27FC236}">
                <a16:creationId xmlns:a16="http://schemas.microsoft.com/office/drawing/2014/main" id="{2F7C4FF3-1F88-C4CB-0D69-DFE9E73B1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9211" y="2556192"/>
            <a:ext cx="501144" cy="501144"/>
          </a:xfrm>
          <a:prstGeom prst="rect">
            <a:avLst/>
          </a:prstGeom>
        </p:spPr>
      </p:pic>
      <p:pic>
        <p:nvPicPr>
          <p:cNvPr id="28" name="Gráfico 27" descr="Advertencia con relleno sólido">
            <a:extLst>
              <a:ext uri="{FF2B5EF4-FFF2-40B4-BE49-F238E27FC236}">
                <a16:creationId xmlns:a16="http://schemas.microsoft.com/office/drawing/2014/main" id="{8299A4D5-D4B6-8749-FD6F-338533826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1444" y="4140838"/>
            <a:ext cx="501144" cy="501144"/>
          </a:xfrm>
          <a:prstGeom prst="rect">
            <a:avLst/>
          </a:prstGeom>
        </p:spPr>
      </p:pic>
      <p:pic>
        <p:nvPicPr>
          <p:cNvPr id="32" name="Gráfico 31" descr="Cerebro izquierdo y derecho con relleno sólido">
            <a:extLst>
              <a:ext uri="{FF2B5EF4-FFF2-40B4-BE49-F238E27FC236}">
                <a16:creationId xmlns:a16="http://schemas.microsoft.com/office/drawing/2014/main" id="{D6921189-BCD0-8B76-5F68-E567D66C1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59211" y="3194280"/>
            <a:ext cx="500765" cy="500765"/>
          </a:xfrm>
          <a:prstGeom prst="rect">
            <a:avLst/>
          </a:prstGeom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2C66C60-C608-BDD0-E319-3E7642729222}"/>
              </a:ext>
            </a:extLst>
          </p:cNvPr>
          <p:cNvCxnSpPr/>
          <p:nvPr/>
        </p:nvCxnSpPr>
        <p:spPr>
          <a:xfrm>
            <a:off x="6459251" y="1691640"/>
            <a:ext cx="0" cy="45079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D3AC445D-B625-BCD2-F50E-A504502F0C1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34ACD28-F23D-4EE3-4F82-16DF77D3685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3293B"/>
                </a:solidFill>
                <a:latin typeface="Calibri"/>
              </a:rPr>
              <a:t>CASO 1 · LA HISTORIA OFICIAL</a:t>
            </a:r>
            <a:r>
              <a:rPr sz="2300" b="0" i="0">
                <a:solidFill>
                  <a:srgbClr val="03293B"/>
                </a:solidFill>
                <a:latin typeface="Calibri"/>
              </a:rPr>
              <a:t> (Puenzo, 1985)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46988"/>
            <a:ext cx="672998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1500" dirty="0">
                <a:solidFill>
                  <a:srgbClr val="00B0F0"/>
                </a:solidFill>
                <a:latin typeface="Calibri"/>
              </a:rPr>
              <a:t>Idea principal: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lang="es-ES" sz="1500" b="0" i="0" dirty="0">
                <a:solidFill>
                  <a:srgbClr val="00B0F0"/>
                </a:solidFill>
                <a:latin typeface="Calibri"/>
              </a:rPr>
              <a:t>burbuja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—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hogar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burgués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cerrado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a la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verdad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de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9211" y="1929158"/>
            <a:ext cx="108813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00B0F0"/>
                </a:solidFill>
                <a:latin typeface="Calibri"/>
              </a:rPr>
              <a:t>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0660" y="614680"/>
            <a:ext cx="12131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0B0F0"/>
                </a:solidFill>
                <a:latin typeface="Calibri"/>
              </a:rPr>
              <a:t>EXTERIOR</a:t>
            </a:r>
          </a:p>
        </p:txBody>
      </p:sp>
      <p:pic>
        <p:nvPicPr>
          <p:cNvPr id="7" name="Picture 6" descr="Tranquilidad y felicidad del hogar de Alicia frente a la verdad del ex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516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8" name="Picture 7" descr="Alicia contemplando la marcha de las Madres de Mayo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060704"/>
            <a:ext cx="4197096" cy="4197096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0" y="5396954"/>
            <a:ext cx="512064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 dirty="0">
                <a:solidFill>
                  <a:srgbClr val="03293B"/>
                </a:solidFill>
                <a:latin typeface="Calibri"/>
              </a:rPr>
              <a:t>El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hogar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acomodado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 de Alicia:</a:t>
            </a:r>
            <a:r>
              <a:rPr lang="es-ES" sz="125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felicidad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9405" y="5348523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 dirty="0">
                <a:solidFill>
                  <a:srgbClr val="03293B"/>
                </a:solidFill>
                <a:latin typeface="Calibri"/>
              </a:rPr>
              <a:t>Las Madres de Plaza de Mayo: la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verdad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 del exterior.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ECD2524-9780-920F-0910-FBFCD6C196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C472BEE-52DD-833E-E905-53AE1862C1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 dirty="0">
                <a:solidFill>
                  <a:srgbClr val="00B0F0"/>
                </a:solidFill>
                <a:latin typeface="Calibri"/>
              </a:rPr>
              <a:t>EL EXILIO: UN PUENTE ENTRE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6874" y="844525"/>
            <a:ext cx="1142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EXILIO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3112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No es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migración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económica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es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huida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violencia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amenaza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9620" y="2301099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«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Figuras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destierro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» (Rodríguez Marino):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pérdida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retorno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imposible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hacen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lenguaje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7894" y="4130096"/>
            <a:ext cx="4535905" cy="20065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exiliado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lang="es-ES" sz="1600" b="1" i="0" dirty="0">
                <a:solidFill>
                  <a:srgbClr val="03293B"/>
                </a:solidFill>
                <a:latin typeface="Calibri"/>
              </a:rPr>
              <a:t>construye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puentes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Reflexiones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un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salvaje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(Vallejo, 1978)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franquismo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represión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argentina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</a:t>
            </a:r>
            <a:r>
              <a:rPr sz="1150" b="0" i="0" dirty="0">
                <a:solidFill>
                  <a:srgbClr val="E73C23"/>
                </a:solidFill>
                <a:latin typeface="Calibri"/>
              </a:rPr>
              <a:t>)</a:t>
            </a:r>
          </a:p>
        </p:txBody>
      </p:sp>
      <p:pic>
        <p:nvPicPr>
          <p:cNvPr id="16" name="Gráfico 15" descr="Flecha: curva ligera con relleno sólido">
            <a:extLst>
              <a:ext uri="{FF2B5EF4-FFF2-40B4-BE49-F238E27FC236}">
                <a16:creationId xmlns:a16="http://schemas.microsoft.com/office/drawing/2014/main" id="{5D417564-5E85-68FB-CD35-1CCBFFA78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22117">
            <a:off x="6679744" y="1491667"/>
            <a:ext cx="914400" cy="914400"/>
          </a:xfrm>
          <a:prstGeom prst="rect">
            <a:avLst/>
          </a:prstGeom>
        </p:spPr>
      </p:pic>
      <p:pic>
        <p:nvPicPr>
          <p:cNvPr id="20" name="Gráfico 19" descr="Flecha: curva ligera con relleno sólido">
            <a:extLst>
              <a:ext uri="{FF2B5EF4-FFF2-40B4-BE49-F238E27FC236}">
                <a16:creationId xmlns:a16="http://schemas.microsoft.com/office/drawing/2014/main" id="{EA1E3CAB-0487-65B2-C974-6AD502A6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881417" flipH="1">
            <a:off x="4768871" y="1493788"/>
            <a:ext cx="899543" cy="899543"/>
          </a:xfrm>
          <a:prstGeom prst="rect">
            <a:avLst/>
          </a:prstGeom>
        </p:spPr>
      </p:pic>
      <p:sp>
        <p:nvSpPr>
          <p:cNvPr id="26" name="Gráfico 24" descr="Flecha: curva ligera con relleno sólido">
            <a:extLst>
              <a:ext uri="{FF2B5EF4-FFF2-40B4-BE49-F238E27FC236}">
                <a16:creationId xmlns:a16="http://schemas.microsoft.com/office/drawing/2014/main" id="{E97BE8D3-C696-EE1E-87F6-8E16F3996032}"/>
              </a:ext>
            </a:extLst>
          </p:cNvPr>
          <p:cNvSpPr/>
          <p:nvPr/>
        </p:nvSpPr>
        <p:spPr>
          <a:xfrm rot="5400000">
            <a:off x="5055438" y="2496480"/>
            <a:ext cx="2239127" cy="457200"/>
          </a:xfrm>
          <a:custGeom>
            <a:avLst/>
            <a:gdLst>
              <a:gd name="csX0" fmla="*/ 838200 w 838226"/>
              <a:gd name="csY0" fmla="*/ 228600 h 457200"/>
              <a:gd name="csX1" fmla="*/ 609600 w 838226"/>
              <a:gd name="csY1" fmla="*/ 0 h 457200"/>
              <a:gd name="csX2" fmla="*/ 609600 w 838226"/>
              <a:gd name="csY2" fmla="*/ 142875 h 457200"/>
              <a:gd name="csX3" fmla="*/ 0 w 838226"/>
              <a:gd name="csY3" fmla="*/ 142875 h 457200"/>
              <a:gd name="csX4" fmla="*/ 609600 w 838226"/>
              <a:gd name="csY4" fmla="*/ 361950 h 457200"/>
              <a:gd name="csX5" fmla="*/ 609600 w 838226"/>
              <a:gd name="csY5" fmla="*/ 457200 h 457200"/>
              <a:gd name="csX6" fmla="*/ 838200 w 838226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41255 w 867102"/>
              <a:gd name="csY2" fmla="*/ 95627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67102" h="457200">
                <a:moveTo>
                  <a:pt x="867076" y="228600"/>
                </a:moveTo>
                <a:cubicBezTo>
                  <a:pt x="869934" y="228600"/>
                  <a:pt x="638476" y="0"/>
                  <a:pt x="638476" y="0"/>
                </a:cubicBezTo>
                <a:cubicBezTo>
                  <a:pt x="639402" y="31876"/>
                  <a:pt x="640329" y="63751"/>
                  <a:pt x="641255" y="95627"/>
                </a:cubicBezTo>
                <a:cubicBezTo>
                  <a:pt x="489808" y="30799"/>
                  <a:pt x="463" y="165865"/>
                  <a:pt x="0" y="210252"/>
                </a:cubicBezTo>
                <a:cubicBezTo>
                  <a:pt x="-463" y="254639"/>
                  <a:pt x="353679" y="391478"/>
                  <a:pt x="638476" y="361950"/>
                </a:cubicBezTo>
                <a:lnTo>
                  <a:pt x="638476" y="457200"/>
                </a:lnTo>
                <a:lnTo>
                  <a:pt x="867076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5A42D4-B6DC-EF67-6DFF-5778C74C36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D73E65-601D-DFA5-253C-F228394881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LAS COPRODUCCIONES: LA VÍA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177" y="2992874"/>
            <a:ext cx="177138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COPRODUCCIÓN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Más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fórmula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legal: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estrategia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supervivencia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frente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al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dominio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Hollywood.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69748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Convenio Hispano-Argentino de 1969: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son «nacionales» en ambos países (participación 30 %-70 %).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Distintos modelos: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Aristarain (autoral) frente a Piñeyro (industrial: Plata quemada, Kamchatka).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s-ES" sz="1500" b="0" i="1" dirty="0">
                <a:solidFill>
                  <a:srgbClr val="03293B"/>
                </a:solidFill>
                <a:latin typeface="Calibri"/>
              </a:rPr>
              <a:t>Cierta t</a:t>
            </a:r>
            <a:r>
              <a:rPr sz="1500" b="0" i="1" dirty="0" err="1">
                <a:solidFill>
                  <a:srgbClr val="03293B"/>
                </a:solidFill>
                <a:latin typeface="Calibri"/>
              </a:rPr>
              <a:t>ensión</a:t>
            </a:r>
            <a:r>
              <a:rPr sz="1500" b="0" i="1" dirty="0">
                <a:solidFill>
                  <a:srgbClr val="03293B"/>
                </a:solidFill>
                <a:latin typeface="Calibri"/>
              </a:rPr>
              <a:t>: la econ</a:t>
            </a:r>
            <a:r>
              <a:rPr lang="es-ES" sz="1500" b="0" i="1" dirty="0" err="1">
                <a:solidFill>
                  <a:srgbClr val="03293B"/>
                </a:solidFill>
                <a:latin typeface="Calibri"/>
              </a:rPr>
              <a:t>omía</a:t>
            </a:r>
            <a:r>
              <a:rPr sz="1500" b="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03293B"/>
                </a:solidFill>
                <a:latin typeface="Calibri"/>
              </a:rPr>
              <a:t>condiciona</a:t>
            </a:r>
            <a:r>
              <a:rPr sz="1500" b="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500" b="1" i="1" dirty="0" err="1">
                <a:solidFill>
                  <a:srgbClr val="03293B"/>
                </a:solidFill>
                <a:latin typeface="Calibri"/>
              </a:rPr>
              <a:t>qué</a:t>
            </a:r>
            <a:r>
              <a:rPr sz="1500" b="1" i="1" dirty="0">
                <a:solidFill>
                  <a:srgbClr val="03293B"/>
                </a:solidFill>
                <a:latin typeface="Calibri"/>
              </a:rPr>
              <a:t> imagen de Argentina </a:t>
            </a:r>
            <a:r>
              <a:rPr sz="1500" b="1" i="1" dirty="0" err="1">
                <a:solidFill>
                  <a:srgbClr val="03293B"/>
                </a:solidFill>
                <a:latin typeface="Calibri"/>
              </a:rPr>
              <a:t>circula</a:t>
            </a:r>
            <a:r>
              <a:rPr sz="1500" b="0" i="1" dirty="0">
                <a:solidFill>
                  <a:srgbClr val="03293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500" b="0" i="1" dirty="0">
                <a:solidFill>
                  <a:srgbClr val="03293B"/>
                </a:solidFill>
                <a:latin typeface="Calibri"/>
              </a:rPr>
              <a:t> España.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C6B7BA5E-C9F2-541C-DC30-E0214F25B31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76561" y="185166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4DEB0309-879C-C844-D858-143C32724263}"/>
              </a:ext>
            </a:extLst>
          </p:cNvPr>
          <p:cNvCxnSpPr>
            <a:stCxn id="4" idx="3"/>
          </p:cNvCxnSpPr>
          <p:nvPr/>
        </p:nvCxnSpPr>
        <p:spPr>
          <a:xfrm>
            <a:off x="2276561" y="317754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3C93EE72-85D8-17BD-DC94-F6F2563F768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76561" y="3177540"/>
            <a:ext cx="1554775" cy="1270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EA2D6296-3F94-1139-17D9-7FAA991E5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2321448-A0D0-F201-B4F9-ED93B9D7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2 · UN LUGAR EN EL MUNDO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</a:t>
            </a:r>
            <a:r>
              <a:rPr lang="es-ES" sz="1500" dirty="0">
                <a:solidFill>
                  <a:srgbClr val="00B0F0"/>
                </a:solidFill>
                <a:latin typeface="Calibri"/>
              </a:rPr>
              <a:t>principal.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lang="es-ES" sz="1500" b="0" i="0" dirty="0">
                <a:solidFill>
                  <a:srgbClr val="00B0F0"/>
                </a:solidFill>
                <a:latin typeface="Calibri"/>
              </a:rPr>
              <a:t>es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UNITARIO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lang="es-ES" sz="1500" b="0" i="0" dirty="0">
                <a:solidFill>
                  <a:srgbClr val="00B0F0"/>
                </a:solidFill>
                <a:latin typeface="Calibri"/>
              </a:rPr>
              <a:t>—</a:t>
            </a:r>
            <a:r>
              <a:rPr lang="es-ES" sz="1600" dirty="0">
                <a:solidFill>
                  <a:srgbClr val="00B0F0"/>
                </a:solidFill>
              </a:rPr>
              <a:t>»</a:t>
            </a:r>
            <a:r>
              <a:rPr lang="es-ES" sz="1500" b="0" i="0" dirty="0">
                <a:solidFill>
                  <a:srgbClr val="00B0F0"/>
                </a:solidFill>
                <a:latin typeface="Calibri"/>
              </a:rPr>
              <a:t> todavía hay un lugar que defender.</a:t>
            </a:r>
          </a:p>
        </p:txBody>
      </p:sp>
      <p:pic>
        <p:nvPicPr>
          <p:cNvPr id="5" name="Picture 4" descr="Plano del paisaje en San Lu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ontraste entre el mundo del avance (tren) y mundo r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paisaje árido de San Luis, casi un personaje (diálogo con el western).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tren: el progreso que avanza pero arrasa lo que no se adapta.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1613B9B-047A-C2CC-C4B3-2FF6C72684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A5E5156-736B-4C89-1819-C503796EE6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3 · MARTÍN (HACHE)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</a:t>
            </a:r>
            <a:r>
              <a:rPr lang="es-ES" sz="1500" b="0" i="0" dirty="0">
                <a:solidFill>
                  <a:srgbClr val="00B0F0"/>
                </a:solidFill>
                <a:latin typeface="Calibri"/>
              </a:rPr>
              <a:t>principal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FRAGMENTADO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=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identidad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fragmentada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. La memoria,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omisión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Dante recibe a Martin y a Hache en el aeropu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artel de Nueva York y Pacifico en el video de H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 dirty="0">
                <a:solidFill>
                  <a:srgbClr val="03293B"/>
                </a:solidFill>
                <a:latin typeface="Calibri"/>
              </a:rPr>
              <a:t>Madrid y Buenos Aires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casi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indiferenciados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pocos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3293B"/>
                </a:solidFill>
                <a:latin typeface="Calibri"/>
              </a:rPr>
              <a:t>exteriores</a:t>
            </a:r>
            <a:r>
              <a:rPr sz="125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«Pacífico» sobre Nueva York: la nostalgia inventa horizontes imposibles.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B930C85-C6D7-AEB9-0DDA-14B972F6F0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98999B8-3CC9-E35C-5880-EA19447B85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RECEPCIÓN EN ESPAÑA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93E24F-B0A1-9F40-C927-5E5C6344C6DC}"/>
              </a:ext>
            </a:extLst>
          </p:cNvPr>
          <p:cNvSpPr txBox="1"/>
          <p:nvPr/>
        </p:nvSpPr>
        <p:spPr>
          <a:xfrm>
            <a:off x="777235" y="1402507"/>
            <a:ext cx="10451951" cy="85222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lang="es-ES" sz="2400" b="1" i="0" dirty="0">
                <a:solidFill>
                  <a:srgbClr val="444444"/>
                </a:solidFill>
                <a:latin typeface="Calibri"/>
              </a:rPr>
              <a:t>Festivales y crítica: </a:t>
            </a:r>
            <a:r>
              <a:rPr lang="es-ES" sz="2400" b="0" i="0" dirty="0">
                <a:solidFill>
                  <a:srgbClr val="444444"/>
                </a:solidFill>
                <a:latin typeface="Calibri"/>
              </a:rPr>
              <a:t>se percibe </a:t>
            </a:r>
            <a:r>
              <a:rPr lang="es-ES" sz="2400" dirty="0">
                <a:solidFill>
                  <a:srgbClr val="444444"/>
                </a:solidFill>
                <a:latin typeface="Calibri"/>
              </a:rPr>
              <a:t>al </a:t>
            </a:r>
            <a:r>
              <a:rPr lang="es-ES" sz="2400" b="0" i="0" dirty="0">
                <a:solidFill>
                  <a:srgbClr val="444444"/>
                </a:solidFill>
                <a:latin typeface="Calibri"/>
              </a:rPr>
              <a:t>cine argentino como una cinematografía con identidad propia. Elena llama a Aristarain el «buque insignia».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DCCBEA-FF5E-B606-05B3-7ABB88845DD0}"/>
              </a:ext>
            </a:extLst>
          </p:cNvPr>
          <p:cNvSpPr txBox="1"/>
          <p:nvPr/>
        </p:nvSpPr>
        <p:spPr>
          <a:xfrm>
            <a:off x="777234" y="2542668"/>
            <a:ext cx="10451951" cy="85222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lang="es-ES" sz="2400" b="1" i="0" dirty="0">
                <a:solidFill>
                  <a:srgbClr val="444444"/>
                </a:solidFill>
                <a:latin typeface="Calibri"/>
              </a:rPr>
              <a:t>Premios Goya: </a:t>
            </a:r>
            <a:r>
              <a:rPr lang="es-ES" sz="2400" b="0" i="0" dirty="0">
                <a:solidFill>
                  <a:srgbClr val="444444"/>
                </a:solidFill>
                <a:latin typeface="Calibri"/>
              </a:rPr>
              <a:t>Un lugar en el mundo, Cenizas del paraíso y el Goya de Cecilia Roth por Martín (Hache).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82CC65D-71FA-5B73-B344-D6F4913E2A6A}"/>
              </a:ext>
            </a:extLst>
          </p:cNvPr>
          <p:cNvSpPr txBox="1"/>
          <p:nvPr/>
        </p:nvSpPr>
        <p:spPr>
          <a:xfrm>
            <a:off x="777234" y="3730572"/>
            <a:ext cx="10451950" cy="85222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lang="es-ES" sz="2400" dirty="0">
                <a:solidFill>
                  <a:srgbClr val="444444"/>
                </a:solidFill>
                <a:latin typeface="Calibri"/>
              </a:rPr>
              <a:t>Éx</a:t>
            </a:r>
            <a:r>
              <a:rPr lang="es-ES" sz="2400" b="0" i="0" dirty="0">
                <a:solidFill>
                  <a:srgbClr val="444444"/>
                </a:solidFill>
                <a:latin typeface="Calibri"/>
              </a:rPr>
              <a:t>ito sobre todo crítico e institucional. Salvo “Un lugar en el mundo”, la mayoría circuló en salas especializadas y versión original.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1B655FB-9B14-2999-C620-750D566E1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EF7F18D-B138-8DD2-A972-3E967477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4858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169356"/>
            <a:ext cx="10058400" cy="8328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i="0" dirty="0">
                <a:latin typeface="Calibri"/>
              </a:rPr>
              <a:t>El</a:t>
            </a:r>
            <a:r>
              <a:rPr sz="2400" b="1" i="0" dirty="0">
                <a:latin typeface="Calibri"/>
              </a:rPr>
              <a:t> </a:t>
            </a:r>
            <a:r>
              <a:rPr lang="es-ES" sz="2400" b="1" i="0" dirty="0">
                <a:latin typeface="Calibri"/>
              </a:rPr>
              <a:t>espacio</a:t>
            </a:r>
            <a:r>
              <a:rPr sz="2400" b="1" i="0" dirty="0">
                <a:latin typeface="Calibri"/>
              </a:rPr>
              <a:t> </a:t>
            </a:r>
            <a:r>
              <a:rPr lang="es-ES" sz="2400" i="0" dirty="0">
                <a:latin typeface="Calibri"/>
              </a:rPr>
              <a:t>se convierte en una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herramienta</a:t>
            </a:r>
            <a:r>
              <a:rPr sz="2400" i="0" dirty="0">
                <a:latin typeface="Calibri"/>
              </a:rPr>
              <a:t> de </a:t>
            </a:r>
            <a:r>
              <a:rPr sz="2400" i="0" dirty="0" err="1">
                <a:latin typeface="Calibri"/>
              </a:rPr>
              <a:t>sentido</a:t>
            </a:r>
            <a:r>
              <a:rPr sz="2400" i="0" dirty="0">
                <a:latin typeface="Calibri"/>
              </a:rPr>
              <a:t>: </a:t>
            </a:r>
            <a:r>
              <a:rPr sz="2400" i="0" dirty="0" err="1">
                <a:latin typeface="Calibri"/>
              </a:rPr>
              <a:t>ceguera</a:t>
            </a:r>
            <a:r>
              <a:rPr sz="2400" i="0" dirty="0">
                <a:latin typeface="Calibri"/>
              </a:rPr>
              <a:t> (La </a:t>
            </a:r>
            <a:r>
              <a:rPr sz="2400" i="0" dirty="0" err="1">
                <a:latin typeface="Calibri"/>
              </a:rPr>
              <a:t>historia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oficial</a:t>
            </a:r>
            <a:r>
              <a:rPr sz="2400" i="0" dirty="0">
                <a:latin typeface="Calibri"/>
              </a:rPr>
              <a:t>), </a:t>
            </a:r>
            <a:r>
              <a:rPr sz="2400" i="0" dirty="0" err="1">
                <a:latin typeface="Calibri"/>
              </a:rPr>
              <a:t>unidad</a:t>
            </a:r>
            <a:r>
              <a:rPr sz="2400" i="0" dirty="0">
                <a:latin typeface="Calibri"/>
              </a:rPr>
              <a:t> (Un </a:t>
            </a:r>
            <a:r>
              <a:rPr sz="2400" i="0" dirty="0" err="1">
                <a:latin typeface="Calibri"/>
              </a:rPr>
              <a:t>lugar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en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el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mundo</a:t>
            </a:r>
            <a:r>
              <a:rPr sz="2400" i="0" dirty="0">
                <a:latin typeface="Calibri"/>
              </a:rPr>
              <a:t>), </a:t>
            </a:r>
            <a:r>
              <a:rPr sz="2400" i="0" dirty="0" err="1">
                <a:latin typeface="Calibri"/>
              </a:rPr>
              <a:t>fragmentación</a:t>
            </a:r>
            <a:r>
              <a:rPr sz="2400" i="0" dirty="0">
                <a:latin typeface="Calibri"/>
              </a:rPr>
              <a:t> (Martín (Hache).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5918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39382"/>
            <a:ext cx="10058400" cy="8328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400" i="0" dirty="0">
                <a:latin typeface="Calibri"/>
              </a:rPr>
              <a:t>La </a:t>
            </a:r>
            <a:r>
              <a:rPr lang="es-ES" sz="2400" b="1" i="0" dirty="0">
                <a:latin typeface="Calibri"/>
              </a:rPr>
              <a:t>memoria</a:t>
            </a:r>
            <a:r>
              <a:rPr lang="es-ES" sz="2400" i="0" dirty="0">
                <a:latin typeface="Calibri"/>
              </a:rPr>
              <a:t> encontró dos modos de manifestarse</a:t>
            </a:r>
            <a:r>
              <a:rPr sz="2400" i="0" dirty="0">
                <a:latin typeface="Calibri"/>
              </a:rPr>
              <a:t>: </a:t>
            </a:r>
            <a:r>
              <a:rPr sz="2400" i="0" dirty="0" err="1">
                <a:latin typeface="Calibri"/>
              </a:rPr>
              <a:t>realismo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afectivo</a:t>
            </a:r>
            <a:r>
              <a:rPr sz="2400" i="0" dirty="0">
                <a:latin typeface="Calibri"/>
              </a:rPr>
              <a:t> y </a:t>
            </a:r>
            <a:r>
              <a:rPr sz="2400" i="0" dirty="0" err="1">
                <a:latin typeface="Calibri"/>
              </a:rPr>
              <a:t>didáctico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en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los</a:t>
            </a:r>
            <a:r>
              <a:rPr sz="2400" i="0" dirty="0">
                <a:latin typeface="Calibri"/>
              </a:rPr>
              <a:t> 80 </a:t>
            </a:r>
            <a:r>
              <a:rPr sz="2400" i="0" dirty="0" err="1">
                <a:latin typeface="Calibri"/>
              </a:rPr>
              <a:t>frente</a:t>
            </a:r>
            <a:r>
              <a:rPr sz="2400" i="0" dirty="0">
                <a:latin typeface="Calibri"/>
              </a:rPr>
              <a:t> a </a:t>
            </a:r>
            <a:r>
              <a:rPr sz="2400" i="0" dirty="0" err="1">
                <a:latin typeface="Calibri"/>
              </a:rPr>
              <a:t>ambigüedad</a:t>
            </a:r>
            <a:r>
              <a:rPr sz="2400" i="0" dirty="0">
                <a:latin typeface="Calibri"/>
              </a:rPr>
              <a:t> y </a:t>
            </a:r>
            <a:r>
              <a:rPr sz="2400" i="0" dirty="0" err="1">
                <a:latin typeface="Calibri"/>
              </a:rPr>
              <a:t>distanciamiento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en</a:t>
            </a:r>
            <a:r>
              <a:rPr sz="2400" i="0" dirty="0">
                <a:latin typeface="Calibri"/>
              </a:rPr>
              <a:t> </a:t>
            </a:r>
            <a:r>
              <a:rPr sz="2400" i="0" dirty="0" err="1">
                <a:latin typeface="Calibri"/>
              </a:rPr>
              <a:t>los</a:t>
            </a:r>
            <a:r>
              <a:rPr sz="2400" i="0" dirty="0">
                <a:latin typeface="Calibri"/>
              </a:rPr>
              <a:t> 90</a:t>
            </a:r>
            <a:r>
              <a:rPr sz="1600" i="0" dirty="0"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301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1874"/>
            <a:ext cx="10058400" cy="1541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lang="es-ES" sz="2400" dirty="0"/>
              <a:t>El </a:t>
            </a:r>
            <a:r>
              <a:rPr lang="es-ES" sz="2400" b="1" dirty="0"/>
              <a:t>exilio</a:t>
            </a:r>
            <a:r>
              <a:rPr lang="es-ES" sz="2400" dirty="0"/>
              <a:t> tendió los puentes y las </a:t>
            </a:r>
            <a:r>
              <a:rPr lang="es-ES" sz="2400" b="1" dirty="0"/>
              <a:t>coproducciones</a:t>
            </a:r>
            <a:r>
              <a:rPr lang="es-ES" sz="2400" dirty="0"/>
              <a:t> fueron la vía decisiva de circulación, financiación y reconocimiento —aunque el éxito fue más crítico e institucional que de taquilla.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03200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67470"/>
            <a:ext cx="1005840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ES" sz="2400" dirty="0"/>
              <a:t>Un factor importante en la recepción favorable del cine argentino en España fue el tratamiento de la </a:t>
            </a:r>
            <a:r>
              <a:rPr lang="es-ES" sz="2400" b="1" dirty="0"/>
              <a:t>memoria</a:t>
            </a:r>
            <a:r>
              <a:rPr lang="es-ES" sz="2400" dirty="0"/>
              <a:t>. Llegó a una España que salía de su propia dictadura y por eso dialogó con su público, no por identificación exacta sino por resonancia.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150F16D-BD70-6623-4986-49E0A9B3A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8628C80-42D5-90D9-4C50-E396706D9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REFERENCIAS BIBLIOGRÁFICAS Y DOCUMENTALES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291" y="791204"/>
            <a:ext cx="109728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b="0" i="0" dirty="0">
                <a:latin typeface="Calibri"/>
              </a:rPr>
              <a:t>Amado, Ana María. </a:t>
            </a:r>
            <a:r>
              <a:rPr lang="es-ES" b="0" i="1" dirty="0">
                <a:latin typeface="Calibri"/>
              </a:rPr>
              <a:t>La imagen justa: cine argentino y política (1980-2007). </a:t>
            </a:r>
            <a:r>
              <a:rPr lang="es-ES" b="0" i="0" dirty="0">
                <a:latin typeface="Calibri"/>
              </a:rPr>
              <a:t>Buenos Aires: Colihue,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s-ES"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Campero, Agustín. 2009. </a:t>
            </a:r>
            <a:r>
              <a:rPr lang="es-ES" i="1" dirty="0"/>
              <a:t>Nuevo cine argentino: de Rapado a Historias extraordinarias</a:t>
            </a:r>
            <a:r>
              <a:rPr lang="es-ES" dirty="0"/>
              <a:t>. Buenos Aires: Universidad Nacional de General Sarmiento/Biblioteca Nacional. Colección «25 años, 25 libros», 21.</a:t>
            </a:r>
            <a:endParaRPr lang="es-ES" b="0" i="0" dirty="0">
              <a:solidFill>
                <a:srgbClr val="444444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Elena, Alberto. 1998. «La difusión del cine latinoamericano en España: una aproximación cuantitativa». En </a:t>
            </a:r>
            <a:r>
              <a:rPr lang="es-ES" i="1" dirty="0"/>
              <a:t>Tras el sueño: actas del centenario. VI Congreso de la Asociación Española de Historiadores de Cine</a:t>
            </a:r>
            <a:r>
              <a:rPr lang="es-ES" dirty="0"/>
              <a:t>, editado por </a:t>
            </a:r>
            <a:r>
              <a:rPr lang="es-ES" dirty="0" err="1"/>
              <a:t>Josetxo</a:t>
            </a:r>
            <a:r>
              <a:rPr lang="es-ES" dirty="0"/>
              <a:t> Cerdán y Julio Pérez </a:t>
            </a:r>
            <a:r>
              <a:rPr lang="es-ES" dirty="0" err="1"/>
              <a:t>Perucha</a:t>
            </a:r>
            <a:r>
              <a:rPr lang="es-ES" dirty="0"/>
              <a:t>, 221–230. Madrid: Academia de las Artes y las Ciencias Cinematográficas de España.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Jensen, Silvina. 2010</a:t>
            </a:r>
            <a:r>
              <a:rPr lang="es-ES" i="1" dirty="0"/>
              <a:t>. Los exiliados. La lucha por los derechos humanos durante la dictadura militar</a:t>
            </a:r>
            <a:r>
              <a:rPr lang="es-ES" dirty="0"/>
              <a:t>. Buenos Aires: Editorial Sudamericana.</a:t>
            </a:r>
            <a:endParaRPr b="0" i="0" dirty="0">
              <a:solidFill>
                <a:srgbClr val="444444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Richard, Nelly. 2007</a:t>
            </a:r>
            <a:r>
              <a:rPr lang="es-ES" i="1" dirty="0"/>
              <a:t>. Fracturas de la memoria: arte y pensamiento crítico</a:t>
            </a:r>
            <a:r>
              <a:rPr lang="es-ES" dirty="0"/>
              <a:t>. Buenos Aires: Siglo XXI Editores.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Rodríguez Marino, Paula. 2013. </a:t>
            </a:r>
            <a:r>
              <a:rPr lang="es-ES" i="1" dirty="0"/>
              <a:t>Figuras del destierro. Narraciones del exilio en el cine argentino (1978–1988). </a:t>
            </a:r>
            <a:r>
              <a:rPr lang="es-ES" dirty="0"/>
              <a:t>Viedma: Universidad Nacional de Río Negro.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Sarlo, Beatriz. 2005. </a:t>
            </a:r>
            <a:r>
              <a:rPr lang="es-ES" i="1" dirty="0"/>
              <a:t>Tiempo pasado. Cultura de la memoria y giro subjetivo. Una discusión</a:t>
            </a:r>
            <a:r>
              <a:rPr lang="es-ES" dirty="0"/>
              <a:t>. Buenos Aires: Siglo XXI Editores. </a:t>
            </a:r>
            <a:endParaRPr b="0" i="0" dirty="0">
              <a:solidFill>
                <a:srgbClr val="444444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Thibaudeau, Pascale. 2003. «</a:t>
            </a:r>
            <a:r>
              <a:rPr lang="es-ES" i="1" dirty="0"/>
              <a:t>Martín (Hache)</a:t>
            </a:r>
            <a:r>
              <a:rPr lang="es-ES" dirty="0"/>
              <a:t>: del exilio al regreso, el itinerario de una transmisión». </a:t>
            </a:r>
            <a:r>
              <a:rPr lang="es-ES" i="1" dirty="0"/>
              <a:t>Amérique Latine </a:t>
            </a:r>
            <a:r>
              <a:rPr lang="es-ES" i="1" dirty="0" err="1"/>
              <a:t>Histoire</a:t>
            </a:r>
            <a:r>
              <a:rPr lang="es-ES" i="1" dirty="0"/>
              <a:t> et </a:t>
            </a:r>
            <a:r>
              <a:rPr lang="es-ES" i="1" dirty="0" err="1"/>
              <a:t>Mémoire</a:t>
            </a:r>
            <a:r>
              <a:rPr lang="es-ES" dirty="0"/>
              <a:t>. </a:t>
            </a:r>
            <a:r>
              <a:rPr lang="es-ES" i="1" dirty="0"/>
              <a:t>Les </a:t>
            </a:r>
            <a:r>
              <a:rPr lang="es-ES" i="1" dirty="0" err="1"/>
              <a:t>Cahiers</a:t>
            </a:r>
            <a:r>
              <a:rPr lang="es-ES" i="1" dirty="0"/>
              <a:t> ALHIM</a:t>
            </a:r>
            <a:r>
              <a:rPr lang="es-ES" dirty="0"/>
              <a:t>, n.º 6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lang="es-ES" dirty="0"/>
              <a:t>Convenio Hispano-Argentino de Relaciones Cinematográficas. Firmado en Buenos Aires, 28 de agosto de 1969. BOE n.º 238, 4 de octubre de 1969, 15550-15552.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8BBEAEC-4F33-9B42-A461-385ADD6B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29"/>
          <a:stretch>
            <a:fillRect/>
          </a:stretch>
        </p:blipFill>
        <p:spPr>
          <a:xfrm>
            <a:off x="188331" y="6164345"/>
            <a:ext cx="2066613" cy="7577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D8EC9C-73BA-CA98-1282-E6B154BFE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88"/>
          <a:stretch>
            <a:fillRect/>
          </a:stretch>
        </p:blipFill>
        <p:spPr>
          <a:xfrm>
            <a:off x="10392591" y="6168285"/>
            <a:ext cx="1632522" cy="7732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EF5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9DDCF"/>
                </a:solidFill>
                <a:latin typeface="Calibri"/>
              </a:rPr>
              <a:t>Quedo a disposición del tribunal para sus preguntas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1B4A41-763A-D6DA-2F8F-824EB748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624" y="0"/>
            <a:ext cx="4554071" cy="19355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TM03090430[[fn=Con bandas]]</Template>
  <TotalTime>2424</TotalTime>
  <Words>1550</Words>
  <Application>Microsoft Office PowerPoint</Application>
  <PresentationFormat>Panorámica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-apple-system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Ariel Vallejos</dc:creator>
  <cp:keywords/>
  <dc:description>generated using python-pptx</dc:description>
  <cp:lastModifiedBy>Juan Ariel Vallejos</cp:lastModifiedBy>
  <cp:revision>4</cp:revision>
  <dcterms:created xsi:type="dcterms:W3CDTF">2013-01-27T09:14:16Z</dcterms:created>
  <dcterms:modified xsi:type="dcterms:W3CDTF">2026-06-29T13:47:03Z</dcterms:modified>
  <cp:category/>
</cp:coreProperties>
</file>