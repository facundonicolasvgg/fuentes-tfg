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media/image12.svg" ContentType="image/svg+xml"/>
  <Override PartName="/ppt/media/image13.svg" ContentType="image/svg+xml"/>
  <Override PartName="/ppt/media/image14.svg" ContentType="image/svg+xml"/>
  <Override PartName="/ppt/media/image15.svg" ContentType="image/svg+xml"/>
  <Override PartName="/ppt/media/image16.svg" ContentType="image/svg+xml"/>
  <Override PartName="/ppt/media/image17.svg" ContentType="image/svg+xml"/>
  <Override PartName="/ppt/media/image18.svg" ContentType="image/svg+xml"/>
  <Override PartName="/ppt/media/image21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73" r:id="rId5"/>
    <p:sldId id="274" r:id="rId6"/>
    <p:sldId id="259" r:id="rId7"/>
    <p:sldId id="260" r:id="rId8"/>
    <p:sldId id="276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E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56" autoAdjust="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25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67D296F-AA4E-4AF5-86D1-5D10949A36C0}" type="doc">
      <dgm:prSet loTypeId="urn:microsoft.com/office/officeart/2005/8/layout/funnel1" loCatId="relationship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E7F4A3AA-DEFB-4C5C-B98C-800328B420E0}">
      <dgm:prSet phldrT="[Texto]" phldr="0" custT="1"/>
      <dgm:spPr/>
      <dgm:t>
        <a:bodyPr/>
        <a:lstStyle/>
        <a:p>
          <a:r>
            <a:rPr lang="es-ES" sz="2000" dirty="0"/>
            <a:t>Secuestro</a:t>
          </a:r>
        </a:p>
      </dgm:t>
    </dgm:pt>
    <dgm:pt modelId="{71E1AADC-9A19-44D5-B4A7-14B277E1600E}" type="parTrans" cxnId="{D15A2141-2122-4024-8014-D91AD57BED3F}">
      <dgm:prSet/>
      <dgm:spPr/>
      <dgm:t>
        <a:bodyPr/>
        <a:lstStyle/>
        <a:p>
          <a:endParaRPr lang="es-ES"/>
        </a:p>
      </dgm:t>
    </dgm:pt>
    <dgm:pt modelId="{D98F7B16-0862-4EBB-8B58-1CBBB740EF42}" type="sibTrans" cxnId="{D15A2141-2122-4024-8014-D91AD57BED3F}">
      <dgm:prSet/>
      <dgm:spPr/>
      <dgm:t>
        <a:bodyPr/>
        <a:lstStyle/>
        <a:p>
          <a:endParaRPr lang="es-ES"/>
        </a:p>
      </dgm:t>
    </dgm:pt>
    <dgm:pt modelId="{8F551290-AC7C-4266-AB7A-9FDADDAA9B9C}">
      <dgm:prSet phldrT="[Texto]" phldr="0" custT="1"/>
      <dgm:spPr/>
      <dgm:t>
        <a:bodyPr/>
        <a:lstStyle/>
        <a:p>
          <a:r>
            <a:rPr lang="es-ES" sz="2000" dirty="0"/>
            <a:t>Tortura</a:t>
          </a:r>
        </a:p>
      </dgm:t>
    </dgm:pt>
    <dgm:pt modelId="{FA61205E-9288-4E73-A61A-9294B86FA1E9}" type="parTrans" cxnId="{43DD6A14-E502-4303-9D83-6B34FEFE01D5}">
      <dgm:prSet/>
      <dgm:spPr/>
      <dgm:t>
        <a:bodyPr/>
        <a:lstStyle/>
        <a:p>
          <a:endParaRPr lang="es-ES"/>
        </a:p>
      </dgm:t>
    </dgm:pt>
    <dgm:pt modelId="{B66B5638-B0AC-4A59-A537-4B6FC4F89621}" type="sibTrans" cxnId="{43DD6A14-E502-4303-9D83-6B34FEFE01D5}">
      <dgm:prSet/>
      <dgm:spPr/>
      <dgm:t>
        <a:bodyPr/>
        <a:lstStyle/>
        <a:p>
          <a:endParaRPr lang="es-ES"/>
        </a:p>
      </dgm:t>
    </dgm:pt>
    <dgm:pt modelId="{A62E18EF-7107-4A7B-84B2-CB11F57C0DE5}">
      <dgm:prSet phldrT="[Texto]" phldr="0" custT="1"/>
      <dgm:spPr/>
      <dgm:t>
        <a:bodyPr/>
        <a:lstStyle/>
        <a:p>
          <a:pPr algn="l"/>
          <a:r>
            <a:rPr lang="es-ES" sz="2000" dirty="0" err="1"/>
            <a:t>Desaparaciones</a:t>
          </a:r>
          <a:endParaRPr lang="es-ES" sz="2000" dirty="0"/>
        </a:p>
      </dgm:t>
    </dgm:pt>
    <dgm:pt modelId="{3485985F-E771-4237-A5BE-47EB76110D12}" type="parTrans" cxnId="{2C1B65A1-992A-4FC3-B5D3-6B8ED60021AB}">
      <dgm:prSet/>
      <dgm:spPr/>
      <dgm:t>
        <a:bodyPr/>
        <a:lstStyle/>
        <a:p>
          <a:endParaRPr lang="es-ES"/>
        </a:p>
      </dgm:t>
    </dgm:pt>
    <dgm:pt modelId="{466E6DA9-7129-4CDB-89F2-63FB00441234}" type="sibTrans" cxnId="{2C1B65A1-992A-4FC3-B5D3-6B8ED60021AB}">
      <dgm:prSet/>
      <dgm:spPr/>
      <dgm:t>
        <a:bodyPr/>
        <a:lstStyle/>
        <a:p>
          <a:endParaRPr lang="es-ES"/>
        </a:p>
      </dgm:t>
    </dgm:pt>
    <dgm:pt modelId="{E70BACAE-9CEC-4A99-AAEA-8C77A92359C7}">
      <dgm:prSet phldrT="[Texto]" phldr="0"/>
      <dgm:spPr/>
      <dgm:t>
        <a:bodyPr/>
        <a:lstStyle/>
        <a:p>
          <a:r>
            <a:rPr lang="es-ES" dirty="0"/>
            <a:t>Maquinaria Represiva</a:t>
          </a:r>
        </a:p>
      </dgm:t>
    </dgm:pt>
    <dgm:pt modelId="{24D6F9B6-87EE-4DDF-B3A6-27913F2B63D6}" type="parTrans" cxnId="{B04B577A-D59C-4756-81B9-9938FF66EF01}">
      <dgm:prSet/>
      <dgm:spPr/>
      <dgm:t>
        <a:bodyPr/>
        <a:lstStyle/>
        <a:p>
          <a:endParaRPr lang="es-ES"/>
        </a:p>
      </dgm:t>
    </dgm:pt>
    <dgm:pt modelId="{2BC04CC3-C931-465D-AEF9-09D3393D1F55}" type="sibTrans" cxnId="{B04B577A-D59C-4756-81B9-9938FF66EF01}">
      <dgm:prSet/>
      <dgm:spPr/>
      <dgm:t>
        <a:bodyPr/>
        <a:lstStyle/>
        <a:p>
          <a:endParaRPr lang="es-ES"/>
        </a:p>
      </dgm:t>
    </dgm:pt>
    <dgm:pt modelId="{C076CB9C-1819-40A1-8C55-869D30FD607E}" type="pres">
      <dgm:prSet presAssocID="{D67D296F-AA4E-4AF5-86D1-5D10949A36C0}" presName="Name0" presStyleCnt="0">
        <dgm:presLayoutVars>
          <dgm:chMax val="4"/>
          <dgm:resizeHandles val="exact"/>
        </dgm:presLayoutVars>
      </dgm:prSet>
      <dgm:spPr/>
    </dgm:pt>
    <dgm:pt modelId="{ED6A9663-295E-4038-A688-9CCE9CE7CB93}" type="pres">
      <dgm:prSet presAssocID="{D67D296F-AA4E-4AF5-86D1-5D10949A36C0}" presName="ellipse" presStyleLbl="trBgShp" presStyleIdx="0" presStyleCnt="1" custLinFactNeighborX="-6788" custLinFactNeighborY="5921"/>
      <dgm:spPr/>
    </dgm:pt>
    <dgm:pt modelId="{30B74E32-CE19-47D8-A805-CCEA56DCBA00}" type="pres">
      <dgm:prSet presAssocID="{D67D296F-AA4E-4AF5-86D1-5D10949A36C0}" presName="arrow1" presStyleLbl="fgShp" presStyleIdx="0" presStyleCnt="1" custLinFactNeighborX="-22046" custLinFactNeighborY="10565"/>
      <dgm:spPr/>
    </dgm:pt>
    <dgm:pt modelId="{6F5BEE3D-C7E1-4DC5-A325-04231B6D01A9}" type="pres">
      <dgm:prSet presAssocID="{D67D296F-AA4E-4AF5-86D1-5D10949A36C0}" presName="rectangle" presStyleLbl="revTx" presStyleIdx="0" presStyleCnt="1" custLinFactNeighborX="-6894" custLinFactNeighborY="6683">
        <dgm:presLayoutVars>
          <dgm:bulletEnabled val="1"/>
        </dgm:presLayoutVars>
      </dgm:prSet>
      <dgm:spPr/>
    </dgm:pt>
    <dgm:pt modelId="{C722118C-AC57-4D2C-913C-DDEAF9A3743B}" type="pres">
      <dgm:prSet presAssocID="{A62E18EF-7107-4A7B-84B2-CB11F57C0DE5}" presName="item1" presStyleLbl="node1" presStyleIdx="0" presStyleCnt="3" custLinFactNeighborX="-31281" custLinFactNeighborY="5226">
        <dgm:presLayoutVars>
          <dgm:bulletEnabled val="1"/>
        </dgm:presLayoutVars>
      </dgm:prSet>
      <dgm:spPr/>
    </dgm:pt>
    <dgm:pt modelId="{D5F22D21-DECA-45D9-AEFF-B66C285F25FD}" type="pres">
      <dgm:prSet presAssocID="{8F551290-AC7C-4266-AB7A-9FDADDAA9B9C}" presName="item2" presStyleLbl="node1" presStyleIdx="1" presStyleCnt="3" custScaleX="142377" custLinFactNeighborX="-15515" custLinFactNeighborY="-14340">
        <dgm:presLayoutVars>
          <dgm:bulletEnabled val="1"/>
        </dgm:presLayoutVars>
      </dgm:prSet>
      <dgm:spPr/>
    </dgm:pt>
    <dgm:pt modelId="{86318317-CCC4-403D-A807-0D47500A3BFD}" type="pres">
      <dgm:prSet presAssocID="{E70BACAE-9CEC-4A99-AAEA-8C77A92359C7}" presName="item3" presStyleLbl="node1" presStyleIdx="2" presStyleCnt="3" custLinFactNeighborX="11591" custLinFactNeighborY="9838">
        <dgm:presLayoutVars>
          <dgm:bulletEnabled val="1"/>
        </dgm:presLayoutVars>
      </dgm:prSet>
      <dgm:spPr/>
    </dgm:pt>
    <dgm:pt modelId="{F79A9D02-9F0C-43B4-B4AE-655ED77922D5}" type="pres">
      <dgm:prSet presAssocID="{D67D296F-AA4E-4AF5-86D1-5D10949A36C0}" presName="funnel" presStyleLbl="trAlignAcc1" presStyleIdx="0" presStyleCnt="1" custLinFactNeighborX="-6049" custLinFactNeighborY="1821"/>
      <dgm:spPr/>
    </dgm:pt>
  </dgm:ptLst>
  <dgm:cxnLst>
    <dgm:cxn modelId="{43DD6A14-E502-4303-9D83-6B34FEFE01D5}" srcId="{D67D296F-AA4E-4AF5-86D1-5D10949A36C0}" destId="{8F551290-AC7C-4266-AB7A-9FDADDAA9B9C}" srcOrd="2" destOrd="0" parTransId="{FA61205E-9288-4E73-A61A-9294B86FA1E9}" sibTransId="{B66B5638-B0AC-4A59-A537-4B6FC4F89621}"/>
    <dgm:cxn modelId="{9A6CD41F-F187-438C-A64B-1A0ED83664BA}" type="presOf" srcId="{8F551290-AC7C-4266-AB7A-9FDADDAA9B9C}" destId="{C722118C-AC57-4D2C-913C-DDEAF9A3743B}" srcOrd="0" destOrd="0" presId="urn:microsoft.com/office/officeart/2005/8/layout/funnel1"/>
    <dgm:cxn modelId="{D15A2141-2122-4024-8014-D91AD57BED3F}" srcId="{D67D296F-AA4E-4AF5-86D1-5D10949A36C0}" destId="{E7F4A3AA-DEFB-4C5C-B98C-800328B420E0}" srcOrd="0" destOrd="0" parTransId="{71E1AADC-9A19-44D5-B4A7-14B277E1600E}" sibTransId="{D98F7B16-0862-4EBB-8B58-1CBBB740EF42}"/>
    <dgm:cxn modelId="{D3C91B46-C6CF-4E9F-A662-BDDEB699E321}" type="presOf" srcId="{E7F4A3AA-DEFB-4C5C-B98C-800328B420E0}" destId="{86318317-CCC4-403D-A807-0D47500A3BFD}" srcOrd="0" destOrd="0" presId="urn:microsoft.com/office/officeart/2005/8/layout/funnel1"/>
    <dgm:cxn modelId="{B04B577A-D59C-4756-81B9-9938FF66EF01}" srcId="{D67D296F-AA4E-4AF5-86D1-5D10949A36C0}" destId="{E70BACAE-9CEC-4A99-AAEA-8C77A92359C7}" srcOrd="3" destOrd="0" parTransId="{24D6F9B6-87EE-4DDF-B3A6-27913F2B63D6}" sibTransId="{2BC04CC3-C931-465D-AEF9-09D3393D1F55}"/>
    <dgm:cxn modelId="{A6D1CD95-811A-4A54-AC57-721CFA72C124}" type="presOf" srcId="{D67D296F-AA4E-4AF5-86D1-5D10949A36C0}" destId="{C076CB9C-1819-40A1-8C55-869D30FD607E}" srcOrd="0" destOrd="0" presId="urn:microsoft.com/office/officeart/2005/8/layout/funnel1"/>
    <dgm:cxn modelId="{17C01A9B-307B-409D-8C24-0D5BB4D05C93}" type="presOf" srcId="{E70BACAE-9CEC-4A99-AAEA-8C77A92359C7}" destId="{6F5BEE3D-C7E1-4DC5-A325-04231B6D01A9}" srcOrd="0" destOrd="0" presId="urn:microsoft.com/office/officeart/2005/8/layout/funnel1"/>
    <dgm:cxn modelId="{2C1B65A1-992A-4FC3-B5D3-6B8ED60021AB}" srcId="{D67D296F-AA4E-4AF5-86D1-5D10949A36C0}" destId="{A62E18EF-7107-4A7B-84B2-CB11F57C0DE5}" srcOrd="1" destOrd="0" parTransId="{3485985F-E771-4237-A5BE-47EB76110D12}" sibTransId="{466E6DA9-7129-4CDB-89F2-63FB00441234}"/>
    <dgm:cxn modelId="{F5BD67EC-DC05-4A42-9249-4A7E9CDA1575}" type="presOf" srcId="{A62E18EF-7107-4A7B-84B2-CB11F57C0DE5}" destId="{D5F22D21-DECA-45D9-AEFF-B66C285F25FD}" srcOrd="0" destOrd="0" presId="urn:microsoft.com/office/officeart/2005/8/layout/funnel1"/>
    <dgm:cxn modelId="{81BCECA9-95BC-48E0-8B30-6821AE54D425}" type="presParOf" srcId="{C076CB9C-1819-40A1-8C55-869D30FD607E}" destId="{ED6A9663-295E-4038-A688-9CCE9CE7CB93}" srcOrd="0" destOrd="0" presId="urn:microsoft.com/office/officeart/2005/8/layout/funnel1"/>
    <dgm:cxn modelId="{A95918EA-EB14-414C-955D-86E040AE522E}" type="presParOf" srcId="{C076CB9C-1819-40A1-8C55-869D30FD607E}" destId="{30B74E32-CE19-47D8-A805-CCEA56DCBA00}" srcOrd="1" destOrd="0" presId="urn:microsoft.com/office/officeart/2005/8/layout/funnel1"/>
    <dgm:cxn modelId="{6A2D95A6-9ED9-484B-B0DB-2B788508BA8E}" type="presParOf" srcId="{C076CB9C-1819-40A1-8C55-869D30FD607E}" destId="{6F5BEE3D-C7E1-4DC5-A325-04231B6D01A9}" srcOrd="2" destOrd="0" presId="urn:microsoft.com/office/officeart/2005/8/layout/funnel1"/>
    <dgm:cxn modelId="{5E441A8B-8098-4A50-9F07-C10F64287622}" type="presParOf" srcId="{C076CB9C-1819-40A1-8C55-869D30FD607E}" destId="{C722118C-AC57-4D2C-913C-DDEAF9A3743B}" srcOrd="3" destOrd="0" presId="urn:microsoft.com/office/officeart/2005/8/layout/funnel1"/>
    <dgm:cxn modelId="{C4B2A9B5-2EFB-41D1-87F3-9E6375FAFC52}" type="presParOf" srcId="{C076CB9C-1819-40A1-8C55-869D30FD607E}" destId="{D5F22D21-DECA-45D9-AEFF-B66C285F25FD}" srcOrd="4" destOrd="0" presId="urn:microsoft.com/office/officeart/2005/8/layout/funnel1"/>
    <dgm:cxn modelId="{ADC200F3-E472-4CBC-BE30-900002B9743B}" type="presParOf" srcId="{C076CB9C-1819-40A1-8C55-869D30FD607E}" destId="{86318317-CCC4-403D-A807-0D47500A3BFD}" srcOrd="5" destOrd="0" presId="urn:microsoft.com/office/officeart/2005/8/layout/funnel1"/>
    <dgm:cxn modelId="{3B63BCD9-D381-4681-918D-05E7E741CEE7}" type="presParOf" srcId="{C076CB9C-1819-40A1-8C55-869D30FD607E}" destId="{F79A9D02-9F0C-43B4-B4AE-655ED77922D5}" srcOrd="6" destOrd="0" presId="urn:microsoft.com/office/officeart/2005/8/layout/funnel1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E7BF835-8DA7-497F-B275-90B5E1E29DC1}" type="doc">
      <dgm:prSet loTypeId="urn:microsoft.com/office/officeart/2005/8/layout/hProcess11" loCatId="timeline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94C22977-BCD7-4F20-8BCD-B10E04339F7E}">
      <dgm:prSet phldrT="[Texto]" phldr="0" custT="1"/>
      <dgm:spPr/>
      <dgm:t>
        <a:bodyPr/>
        <a:lstStyle/>
        <a:p>
          <a:r>
            <a:rPr lang="es-ES" sz="3600" dirty="0">
              <a:solidFill>
                <a:srgbClr val="00B0F0"/>
              </a:solidFill>
            </a:rPr>
            <a:t>Años 80</a:t>
          </a:r>
        </a:p>
      </dgm:t>
    </dgm:pt>
    <dgm:pt modelId="{C5111ECD-E987-4510-8646-DFA2EFAE98EB}" type="parTrans" cxnId="{E842B2FC-7A27-4D4E-8D90-31A478DC8695}">
      <dgm:prSet/>
      <dgm:spPr/>
      <dgm:t>
        <a:bodyPr/>
        <a:lstStyle/>
        <a:p>
          <a:endParaRPr lang="es-ES"/>
        </a:p>
      </dgm:t>
    </dgm:pt>
    <dgm:pt modelId="{626A25F1-B890-4E4F-BEEA-C516BE7D2F5C}" type="sibTrans" cxnId="{E842B2FC-7A27-4D4E-8D90-31A478DC8695}">
      <dgm:prSet/>
      <dgm:spPr/>
      <dgm:t>
        <a:bodyPr/>
        <a:lstStyle/>
        <a:p>
          <a:endParaRPr lang="es-ES"/>
        </a:p>
      </dgm:t>
    </dgm:pt>
    <dgm:pt modelId="{A4C7F5FD-ECA3-41D4-8D9E-61B0E1DEB744}">
      <dgm:prSet phldrT="[Texto]" phldr="0" custT="1"/>
      <dgm:spPr/>
      <dgm:t>
        <a:bodyPr/>
        <a:lstStyle/>
        <a:p>
          <a:r>
            <a:rPr lang="es-ES" sz="3600" dirty="0">
              <a:solidFill>
                <a:srgbClr val="00B0F0"/>
              </a:solidFill>
            </a:rPr>
            <a:t>Años 90</a:t>
          </a:r>
        </a:p>
      </dgm:t>
    </dgm:pt>
    <dgm:pt modelId="{57A99AC9-C24E-4268-9D57-01DA4909E637}" type="parTrans" cxnId="{749F5735-58F4-4FE1-BC47-ED455EDB81A6}">
      <dgm:prSet/>
      <dgm:spPr/>
      <dgm:t>
        <a:bodyPr/>
        <a:lstStyle/>
        <a:p>
          <a:endParaRPr lang="es-ES"/>
        </a:p>
      </dgm:t>
    </dgm:pt>
    <dgm:pt modelId="{8CE7B7AF-4D8D-432B-B5A6-EAC3CE986D8C}" type="sibTrans" cxnId="{749F5735-58F4-4FE1-BC47-ED455EDB81A6}">
      <dgm:prSet/>
      <dgm:spPr/>
      <dgm:t>
        <a:bodyPr/>
        <a:lstStyle/>
        <a:p>
          <a:endParaRPr lang="es-ES"/>
        </a:p>
      </dgm:t>
    </dgm:pt>
    <dgm:pt modelId="{DFBB8ED2-4457-447F-950A-99A7BF1F88B7}" type="pres">
      <dgm:prSet presAssocID="{7E7BF835-8DA7-497F-B275-90B5E1E29DC1}" presName="Name0" presStyleCnt="0">
        <dgm:presLayoutVars>
          <dgm:dir/>
          <dgm:resizeHandles val="exact"/>
        </dgm:presLayoutVars>
      </dgm:prSet>
      <dgm:spPr/>
    </dgm:pt>
    <dgm:pt modelId="{E88EA05A-5CD0-4A29-B674-BCF5F684344E}" type="pres">
      <dgm:prSet presAssocID="{7E7BF835-8DA7-497F-B275-90B5E1E29DC1}" presName="arrow" presStyleLbl="bgShp" presStyleIdx="0" presStyleCnt="1" custScaleY="52633" custLinFactNeighborX="1765" custLinFactNeighborY="-1775"/>
      <dgm:spPr/>
    </dgm:pt>
    <dgm:pt modelId="{11B64564-F0C9-45C3-BAEB-3B4E925277BA}" type="pres">
      <dgm:prSet presAssocID="{7E7BF835-8DA7-497F-B275-90B5E1E29DC1}" presName="points" presStyleCnt="0"/>
      <dgm:spPr/>
    </dgm:pt>
    <dgm:pt modelId="{D873D507-CAF5-452A-8862-06D31CD8F0C5}" type="pres">
      <dgm:prSet presAssocID="{94C22977-BCD7-4F20-8BCD-B10E04339F7E}" presName="compositeA" presStyleCnt="0"/>
      <dgm:spPr/>
    </dgm:pt>
    <dgm:pt modelId="{01A15A24-1840-4208-87CC-6A2F7397D323}" type="pres">
      <dgm:prSet presAssocID="{94C22977-BCD7-4F20-8BCD-B10E04339F7E}" presName="textA" presStyleLbl="revTx" presStyleIdx="0" presStyleCnt="2" custScaleX="90838" custScaleY="79831" custLinFactY="19979" custLinFactNeighborX="5568" custLinFactNeighborY="100000">
        <dgm:presLayoutVars>
          <dgm:bulletEnabled val="1"/>
        </dgm:presLayoutVars>
      </dgm:prSet>
      <dgm:spPr/>
    </dgm:pt>
    <dgm:pt modelId="{E8FCC846-1791-415E-BFB3-28CB29720EBE}" type="pres">
      <dgm:prSet presAssocID="{94C22977-BCD7-4F20-8BCD-B10E04339F7E}" presName="circleA" presStyleLbl="node1" presStyleIdx="0" presStyleCnt="2" custLinFactNeighborX="96189" custLinFactNeighborY="12412"/>
      <dgm:spPr/>
    </dgm:pt>
    <dgm:pt modelId="{0FCC2F5C-0315-4642-BF86-B7CD64252561}" type="pres">
      <dgm:prSet presAssocID="{94C22977-BCD7-4F20-8BCD-B10E04339F7E}" presName="spaceA" presStyleCnt="0"/>
      <dgm:spPr/>
    </dgm:pt>
    <dgm:pt modelId="{830C4CA7-52C3-4D3B-A861-3D6E5C9C02F2}" type="pres">
      <dgm:prSet presAssocID="{626A25F1-B890-4E4F-BEEA-C516BE7D2F5C}" presName="space" presStyleCnt="0"/>
      <dgm:spPr/>
    </dgm:pt>
    <dgm:pt modelId="{D14E7519-F162-4ECA-A6AD-67D71E3577EC}" type="pres">
      <dgm:prSet presAssocID="{A4C7F5FD-ECA3-41D4-8D9E-61B0E1DEB744}" presName="compositeB" presStyleCnt="0"/>
      <dgm:spPr/>
    </dgm:pt>
    <dgm:pt modelId="{6756CE44-1693-41AC-B099-C0BBD34F824E}" type="pres">
      <dgm:prSet presAssocID="{A4C7F5FD-ECA3-41D4-8D9E-61B0E1DEB744}" presName="textB" presStyleLbl="revTx" presStyleIdx="1" presStyleCnt="2" custScaleX="89798" custScaleY="100392" custLinFactNeighborX="22175" custLinFactNeighborY="-24685">
        <dgm:presLayoutVars>
          <dgm:bulletEnabled val="1"/>
        </dgm:presLayoutVars>
      </dgm:prSet>
      <dgm:spPr/>
    </dgm:pt>
    <dgm:pt modelId="{B504AF9A-8F3D-4367-A08F-A9D6104DEF30}" type="pres">
      <dgm:prSet presAssocID="{A4C7F5FD-ECA3-41D4-8D9E-61B0E1DEB744}" presName="circleB" presStyleLbl="node1" presStyleIdx="1" presStyleCnt="2" custLinFactX="162528" custLinFactNeighborX="200000" custLinFactNeighborY="-5549"/>
      <dgm:spPr/>
    </dgm:pt>
    <dgm:pt modelId="{65C5762C-BB44-420A-9F3C-45BC3E0447B3}" type="pres">
      <dgm:prSet presAssocID="{A4C7F5FD-ECA3-41D4-8D9E-61B0E1DEB744}" presName="spaceB" presStyleCnt="0"/>
      <dgm:spPr/>
    </dgm:pt>
  </dgm:ptLst>
  <dgm:cxnLst>
    <dgm:cxn modelId="{4D90751F-1BA8-4D8B-B9D5-D03FB0C4346D}" type="presOf" srcId="{7E7BF835-8DA7-497F-B275-90B5E1E29DC1}" destId="{DFBB8ED2-4457-447F-950A-99A7BF1F88B7}" srcOrd="0" destOrd="0" presId="urn:microsoft.com/office/officeart/2005/8/layout/hProcess11"/>
    <dgm:cxn modelId="{F6877B2C-58DE-4E45-BE72-43A22A7B1C7B}" type="presOf" srcId="{94C22977-BCD7-4F20-8BCD-B10E04339F7E}" destId="{01A15A24-1840-4208-87CC-6A2F7397D323}" srcOrd="0" destOrd="0" presId="urn:microsoft.com/office/officeart/2005/8/layout/hProcess11"/>
    <dgm:cxn modelId="{749F5735-58F4-4FE1-BC47-ED455EDB81A6}" srcId="{7E7BF835-8DA7-497F-B275-90B5E1E29DC1}" destId="{A4C7F5FD-ECA3-41D4-8D9E-61B0E1DEB744}" srcOrd="1" destOrd="0" parTransId="{57A99AC9-C24E-4268-9D57-01DA4909E637}" sibTransId="{8CE7B7AF-4D8D-432B-B5A6-EAC3CE986D8C}"/>
    <dgm:cxn modelId="{E31FDCAF-5FE3-473E-86DB-00A9127F5310}" type="presOf" srcId="{A4C7F5FD-ECA3-41D4-8D9E-61B0E1DEB744}" destId="{6756CE44-1693-41AC-B099-C0BBD34F824E}" srcOrd="0" destOrd="0" presId="urn:microsoft.com/office/officeart/2005/8/layout/hProcess11"/>
    <dgm:cxn modelId="{E842B2FC-7A27-4D4E-8D90-31A478DC8695}" srcId="{7E7BF835-8DA7-497F-B275-90B5E1E29DC1}" destId="{94C22977-BCD7-4F20-8BCD-B10E04339F7E}" srcOrd="0" destOrd="0" parTransId="{C5111ECD-E987-4510-8646-DFA2EFAE98EB}" sibTransId="{626A25F1-B890-4E4F-BEEA-C516BE7D2F5C}"/>
    <dgm:cxn modelId="{E6DAB87C-E6BA-4B38-AA20-EE367489F728}" type="presParOf" srcId="{DFBB8ED2-4457-447F-950A-99A7BF1F88B7}" destId="{E88EA05A-5CD0-4A29-B674-BCF5F684344E}" srcOrd="0" destOrd="0" presId="urn:microsoft.com/office/officeart/2005/8/layout/hProcess11"/>
    <dgm:cxn modelId="{9AD09489-2A96-4BB4-BEF3-7C86245CDF3C}" type="presParOf" srcId="{DFBB8ED2-4457-447F-950A-99A7BF1F88B7}" destId="{11B64564-F0C9-45C3-BAEB-3B4E925277BA}" srcOrd="1" destOrd="0" presId="urn:microsoft.com/office/officeart/2005/8/layout/hProcess11"/>
    <dgm:cxn modelId="{3D031A1A-827D-4526-B8C7-33CFB1EE70EF}" type="presParOf" srcId="{11B64564-F0C9-45C3-BAEB-3B4E925277BA}" destId="{D873D507-CAF5-452A-8862-06D31CD8F0C5}" srcOrd="0" destOrd="0" presId="urn:microsoft.com/office/officeart/2005/8/layout/hProcess11"/>
    <dgm:cxn modelId="{0FEDB570-7608-4141-BB20-0C19301CC69D}" type="presParOf" srcId="{D873D507-CAF5-452A-8862-06D31CD8F0C5}" destId="{01A15A24-1840-4208-87CC-6A2F7397D323}" srcOrd="0" destOrd="0" presId="urn:microsoft.com/office/officeart/2005/8/layout/hProcess11"/>
    <dgm:cxn modelId="{20EECB06-7FEA-4081-A44A-64389B169D7F}" type="presParOf" srcId="{D873D507-CAF5-452A-8862-06D31CD8F0C5}" destId="{E8FCC846-1791-415E-BFB3-28CB29720EBE}" srcOrd="1" destOrd="0" presId="urn:microsoft.com/office/officeart/2005/8/layout/hProcess11"/>
    <dgm:cxn modelId="{02BD3B49-55BD-4C28-A8A8-59979E20200D}" type="presParOf" srcId="{D873D507-CAF5-452A-8862-06D31CD8F0C5}" destId="{0FCC2F5C-0315-4642-BF86-B7CD64252561}" srcOrd="2" destOrd="0" presId="urn:microsoft.com/office/officeart/2005/8/layout/hProcess11"/>
    <dgm:cxn modelId="{B8059390-8DA3-4351-8547-55A9597428C5}" type="presParOf" srcId="{11B64564-F0C9-45C3-BAEB-3B4E925277BA}" destId="{830C4CA7-52C3-4D3B-A861-3D6E5C9C02F2}" srcOrd="1" destOrd="0" presId="urn:microsoft.com/office/officeart/2005/8/layout/hProcess11"/>
    <dgm:cxn modelId="{D5DE5BB7-9E86-44B1-AA0A-4540F62AE063}" type="presParOf" srcId="{11B64564-F0C9-45C3-BAEB-3B4E925277BA}" destId="{D14E7519-F162-4ECA-A6AD-67D71E3577EC}" srcOrd="2" destOrd="0" presId="urn:microsoft.com/office/officeart/2005/8/layout/hProcess11"/>
    <dgm:cxn modelId="{38F23FBA-2533-4FAF-AEB6-3EBAF5BB9E3C}" type="presParOf" srcId="{D14E7519-F162-4ECA-A6AD-67D71E3577EC}" destId="{6756CE44-1693-41AC-B099-C0BBD34F824E}" srcOrd="0" destOrd="0" presId="urn:microsoft.com/office/officeart/2005/8/layout/hProcess11"/>
    <dgm:cxn modelId="{065C4A5B-B8C6-43AE-8F5A-F53D8F39F025}" type="presParOf" srcId="{D14E7519-F162-4ECA-A6AD-67D71E3577EC}" destId="{B504AF9A-8F3D-4367-A08F-A9D6104DEF30}" srcOrd="1" destOrd="0" presId="urn:microsoft.com/office/officeart/2005/8/layout/hProcess11"/>
    <dgm:cxn modelId="{0DC93F87-BE11-4AE1-8688-F36A938E23ED}" type="presParOf" srcId="{D14E7519-F162-4ECA-A6AD-67D71E3577EC}" destId="{65C5762C-BB44-420A-9F3C-45BC3E0447B3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6A9663-295E-4038-A688-9CCE9CE7CB93}">
      <dsp:nvSpPr>
        <dsp:cNvPr id="0" name=""/>
        <dsp:cNvSpPr/>
      </dsp:nvSpPr>
      <dsp:spPr>
        <a:xfrm>
          <a:off x="1463161" y="351657"/>
          <a:ext cx="4956375" cy="1721283"/>
        </a:xfrm>
        <a:prstGeom prst="ellipse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52400" prstMaterial="matte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B74E32-CE19-47D8-A805-CCEA56DCBA00}">
      <dsp:nvSpPr>
        <dsp:cNvPr id="0" name=""/>
        <dsp:cNvSpPr/>
      </dsp:nvSpPr>
      <dsp:spPr>
        <a:xfrm>
          <a:off x="3593442" y="4529527"/>
          <a:ext cx="960537" cy="614744"/>
        </a:xfrm>
        <a:prstGeom prst="down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5BEE3D-C7E1-4DC5-A325-04231B6D01A9}">
      <dsp:nvSpPr>
        <dsp:cNvPr id="0" name=""/>
        <dsp:cNvSpPr/>
      </dsp:nvSpPr>
      <dsp:spPr>
        <a:xfrm>
          <a:off x="1662327" y="4994796"/>
          <a:ext cx="4610581" cy="1152645"/>
        </a:xfrm>
        <a:prstGeom prst="rect">
          <a:avLst/>
        </a:prstGeom>
        <a:noFill/>
        <a:ln w="9525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6032" tIns="256032" rIns="256032" bIns="256032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600" kern="1200" dirty="0"/>
            <a:t>Maquinaria Represiva</a:t>
          </a:r>
        </a:p>
      </dsp:txBody>
      <dsp:txXfrm>
        <a:off x="1662327" y="4994796"/>
        <a:ext cx="4610581" cy="1152645"/>
      </dsp:txXfrm>
    </dsp:sp>
    <dsp:sp modelId="{C722118C-AC57-4D2C-913C-DDEAF9A3743B}">
      <dsp:nvSpPr>
        <dsp:cNvPr id="0" name=""/>
        <dsp:cNvSpPr/>
      </dsp:nvSpPr>
      <dsp:spPr>
        <a:xfrm>
          <a:off x="3060730" y="2194317"/>
          <a:ext cx="1728968" cy="172896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 dirty="0"/>
            <a:t>Tortura</a:t>
          </a:r>
        </a:p>
      </dsp:txBody>
      <dsp:txXfrm>
        <a:off x="3313932" y="2447519"/>
        <a:ext cx="1222564" cy="1222564"/>
      </dsp:txXfrm>
    </dsp:sp>
    <dsp:sp modelId="{D5F22D21-DECA-45D9-AEFF-B66C285F25FD}">
      <dsp:nvSpPr>
        <dsp:cNvPr id="0" name=""/>
        <dsp:cNvSpPr/>
      </dsp:nvSpPr>
      <dsp:spPr>
        <a:xfrm>
          <a:off x="1729804" y="558917"/>
          <a:ext cx="2461652" cy="172896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 dirty="0" err="1"/>
            <a:t>Desaparaciones</a:t>
          </a:r>
          <a:endParaRPr lang="es-ES" sz="2000" kern="1200" dirty="0"/>
        </a:p>
      </dsp:txBody>
      <dsp:txXfrm>
        <a:off x="2090305" y="812119"/>
        <a:ext cx="1740650" cy="1222564"/>
      </dsp:txXfrm>
    </dsp:sp>
    <dsp:sp modelId="{86318317-CCC4-403D-A807-0D47500A3BFD}">
      <dsp:nvSpPr>
        <dsp:cNvPr id="0" name=""/>
        <dsp:cNvSpPr/>
      </dsp:nvSpPr>
      <dsp:spPr>
        <a:xfrm>
          <a:off x="4332190" y="558921"/>
          <a:ext cx="1728968" cy="172896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 dirty="0"/>
            <a:t>Secuestro</a:t>
          </a:r>
        </a:p>
      </dsp:txBody>
      <dsp:txXfrm>
        <a:off x="4585392" y="812123"/>
        <a:ext cx="1222564" cy="1222564"/>
      </dsp:txXfrm>
    </dsp:sp>
    <dsp:sp modelId="{F79A9D02-9F0C-43B4-B4AE-655ED77922D5}">
      <dsp:nvSpPr>
        <dsp:cNvPr id="0" name=""/>
        <dsp:cNvSpPr/>
      </dsp:nvSpPr>
      <dsp:spPr>
        <a:xfrm>
          <a:off x="1270589" y="116782"/>
          <a:ext cx="5379011" cy="4303209"/>
        </a:xfrm>
        <a:prstGeom prst="funnel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8EA05A-5CD0-4A29-B674-BCF5F684344E}">
      <dsp:nvSpPr>
        <dsp:cNvPr id="0" name=""/>
        <dsp:cNvSpPr/>
      </dsp:nvSpPr>
      <dsp:spPr>
        <a:xfrm>
          <a:off x="0" y="1207148"/>
          <a:ext cx="11644778" cy="655626"/>
        </a:xfrm>
        <a:prstGeom prst="notched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prstMaterial="plastic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A15A24-1840-4208-87CC-6A2F7397D323}">
      <dsp:nvSpPr>
        <dsp:cNvPr id="0" name=""/>
        <dsp:cNvSpPr/>
      </dsp:nvSpPr>
      <dsp:spPr>
        <a:xfrm>
          <a:off x="523577" y="1557336"/>
          <a:ext cx="4639300" cy="994420"/>
        </a:xfrm>
        <a:prstGeom prst="rect">
          <a:avLst/>
        </a:prstGeom>
        <a:noFill/>
        <a:ln w="9525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6032" tIns="256032" rIns="256032" bIns="256032" numCol="1" spcCol="1270" anchor="b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600" kern="1200" dirty="0">
              <a:solidFill>
                <a:srgbClr val="00B0F0"/>
              </a:solidFill>
            </a:rPr>
            <a:t>Años 80</a:t>
          </a:r>
        </a:p>
      </dsp:txBody>
      <dsp:txXfrm>
        <a:off x="523577" y="1557336"/>
        <a:ext cx="4639300" cy="994420"/>
      </dsp:txXfrm>
    </dsp:sp>
    <dsp:sp modelId="{E8FCC846-1791-415E-BFB3-28CB29720EBE}">
      <dsp:nvSpPr>
        <dsp:cNvPr id="0" name=""/>
        <dsp:cNvSpPr/>
      </dsp:nvSpPr>
      <dsp:spPr>
        <a:xfrm>
          <a:off x="2702696" y="1377208"/>
          <a:ext cx="311414" cy="31141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756CE44-1693-41AC-B099-C0BBD34F824E}">
      <dsp:nvSpPr>
        <dsp:cNvPr id="0" name=""/>
        <dsp:cNvSpPr/>
      </dsp:nvSpPr>
      <dsp:spPr>
        <a:xfrm>
          <a:off x="6760877" y="1557333"/>
          <a:ext cx="4586185" cy="1250540"/>
        </a:xfrm>
        <a:prstGeom prst="rect">
          <a:avLst/>
        </a:prstGeom>
        <a:noFill/>
        <a:ln w="9525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6032" tIns="256032" rIns="256032" bIns="256032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600" kern="1200" dirty="0">
              <a:solidFill>
                <a:srgbClr val="00B0F0"/>
              </a:solidFill>
            </a:rPr>
            <a:t>Años 90</a:t>
          </a:r>
        </a:p>
      </dsp:txBody>
      <dsp:txXfrm>
        <a:off x="6760877" y="1557333"/>
        <a:ext cx="4586185" cy="1250540"/>
      </dsp:txXfrm>
    </dsp:sp>
    <dsp:sp modelId="{B504AF9A-8F3D-4367-A08F-A9D6104DEF30}">
      <dsp:nvSpPr>
        <dsp:cNvPr id="0" name=""/>
        <dsp:cNvSpPr/>
      </dsp:nvSpPr>
      <dsp:spPr>
        <a:xfrm>
          <a:off x="8894700" y="1382863"/>
          <a:ext cx="311414" cy="31141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funnel1">
  <dgm:title val=""/>
  <dgm:desc val=""/>
  <dgm:catLst>
    <dgm:cat type="relationship" pri="2000"/>
    <dgm:cat type="process" pri="2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4"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1">
      <dgm:if name="Name2" axis="ch" ptType="node" func="cnt" op="equ" val="2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w" for="ch" forName="item1" refType="w" fact="0.35"/>
          <dgm:constr type="h" for="ch" forName="item1" refType="w" fact="0.35"/>
          <dgm:constr type="t" for="ch" forName="item1" refType="h" fact="0.05"/>
          <dgm:constr type="l" for="ch" forName="item1" refType="w" fact="0.125"/>
          <dgm:constr type="primFontSz" for="ch" forName="item1" op="equ" val="65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if>
      <dgm:else name="Name3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primFontSz" for="ch" forName="rectangle" val="65"/>
          <dgm:constr type="w" for="ch" forName="item1" refType="w" fact="0.225"/>
          <dgm:constr type="h" for="ch" forName="item1" refType="w" fact="0.225"/>
          <dgm:constr type="t" for="ch" forName="item1" refType="h" fact="0.336"/>
          <dgm:constr type="l" for="ch" forName="item1" refType="w" fact="0.261"/>
          <dgm:constr type="primFontSz" for="ch" forName="item1" val="65"/>
          <dgm:constr type="w" for="ch" forName="item2" refType="w" fact="0.225"/>
          <dgm:constr type="h" for="ch" forName="item2" refType="w" fact="0.225"/>
          <dgm:constr type="t" for="ch" forName="item2" refType="h" fact="0.125"/>
          <dgm:constr type="l" for="ch" forName="item2" refType="w" fact="0.1"/>
          <dgm:constr type="primFontSz" for="ch" forName="item2" refType="primFontSz" refFor="ch" refForName="item1" op="equ"/>
          <dgm:constr type="w" for="ch" forName="item3" refType="w" fact="0.225"/>
          <dgm:constr type="h" for="ch" forName="item3" refType="w" fact="0.225"/>
          <dgm:constr type="t" for="ch" forName="item3" refType="h" fact="0.057"/>
          <dgm:constr type="l" for="ch" forName="item3" refType="w" fact="0.33"/>
          <dgm:constr type="primFontSz" for="ch" forName="item3" refType="primFontSz" refFor="ch" refForName="item1" op="equ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else>
    </dgm:choose>
    <dgm:ruleLst/>
    <dgm:choose name="Name4">
      <dgm:if name="Name5" axis="ch" ptType="node" func="cnt" op="gte" val="1">
        <dgm:layoutNode name="ellipse" styleLbl="tr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arrow1" styleLbl="fgShp">
          <dgm:alg type="sp"/>
          <dgm:shape xmlns:r="http://schemas.openxmlformats.org/officeDocument/2006/relationships" type="downArrow" r:blip="">
            <dgm:adjLst/>
          </dgm:shape>
          <dgm:presOf/>
          <dgm:constrLst/>
          <dgm:ruleLst/>
        </dgm:layoutNode>
        <dgm:layoutNode name="rectangle" styleLbl="revTx">
          <dgm:varLst>
            <dgm:bulletEnabled val="1"/>
          </dgm:varLst>
          <dgm:alg type="tx">
            <dgm:param type="txAnchorHorzCh" val="ctr"/>
          </dgm:alg>
          <dgm:shape xmlns:r="http://schemas.openxmlformats.org/officeDocument/2006/relationships" type="rect" r:blip="">
            <dgm:adjLst/>
          </dgm:shape>
          <dgm:choose name="Name6">
            <dgm:if name="Name7" axis="ch" ptType="node" func="cnt" op="equ" val="1">
              <dgm:presOf axis="ch desOrSelf" ptType="node node" st="1 1" cnt="1 0"/>
            </dgm:if>
            <dgm:if name="Name8" axis="ch" ptType="node" func="cnt" op="equ" val="2">
              <dgm:presOf axis="ch desOrSelf" ptType="node node" st="2 1" cnt="1 0"/>
            </dgm:if>
            <dgm:if name="Name9" axis="ch" ptType="node" func="cnt" op="equ" val="3">
              <dgm:presOf axis="ch desOrSelf" ptType="node node" st="3 1" cnt="1 0"/>
            </dgm:if>
            <dgm:else name="Name10">
              <dgm:presOf axis="ch desOrSelf" ptType="node node" st="4 1" cnt="1 0"/>
            </dgm:else>
          </dgm:choose>
          <dgm:constrLst/>
          <dgm:ruleLst>
            <dgm:rule type="primFontSz" val="5" fact="NaN" max="NaN"/>
          </dgm:ruleLst>
        </dgm:layoutNode>
        <dgm:forEach name="Name11" axis="ch" ptType="node" st="2" cnt="1">
          <dgm:layoutNode name="item1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2">
              <dgm:if name="Name13" axis="root ch" ptType="all node" func="cnt" op="equ" val="1">
                <dgm:presOf/>
              </dgm:if>
              <dgm:if name="Name14" axis="root ch" ptType="all node" func="cnt" op="equ" val="2">
                <dgm:presOf axis="root ch desOrSelf" ptType="all node node" st="1 1 1" cnt="0 1 0"/>
              </dgm:if>
              <dgm:if name="Name15" axis="root ch" ptType="all node" func="cnt" op="equ" val="3">
                <dgm:presOf axis="root ch desOrSelf" ptType="all node node" st="1 2 1" cnt="0 1 0"/>
              </dgm:if>
              <dgm:else name="Name16">
                <dgm:presOf axis="root ch desOrSelf" ptType="all node node" st="1 3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17" axis="ch" ptType="node" st="3" cnt="1">
          <dgm:layoutNode name="item2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8">
              <dgm:if name="Name19" axis="root ch" ptType="all node" func="cnt" op="equ" val="1">
                <dgm:presOf/>
              </dgm:if>
              <dgm:if name="Name20" axis="root ch" ptType="all node" func="cnt" op="equ" val="2">
                <dgm:presOf/>
              </dgm:if>
              <dgm:if name="Name21" axis="root ch" ptType="all node" func="cnt" op="equ" val="3">
                <dgm:presOf axis="root ch desOrSelf" ptType="all node node" st="1 1 1" cnt="0 1 0"/>
              </dgm:if>
              <dgm:else name="Name22">
                <dgm:presOf axis="root ch desOrSelf" ptType="all node node" st="1 2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23" axis="ch" ptType="node" st="4" cnt="1">
          <dgm:layoutNode name="item3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4">
              <dgm:if name="Name25" axis="root ch" ptType="all node" func="cnt" op="equ" val="1">
                <dgm:presOf/>
              </dgm:if>
              <dgm:if name="Name26" axis="root ch" ptType="all node" func="cnt" op="equ" val="2">
                <dgm:presOf/>
              </dgm:if>
              <dgm:if name="Name27" axis="root ch" ptType="all node" func="cnt" op="equ" val="3">
                <dgm:presOf/>
              </dgm:if>
              <dgm:else name="Name28">
                <dgm:presOf axis="root ch desOrSelf" ptType="all node node" st="1 1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layoutNode name="funnel" styleLbl="trAlignAcc1">
          <dgm:alg type="sp"/>
          <dgm:shape xmlns:r="http://schemas.openxmlformats.org/officeDocument/2006/relationships" type="funnel" r:blip="">
            <dgm:adjLst/>
          </dgm:shape>
          <dgm:presOf/>
          <dgm:constrLst/>
          <dgm:ruleLst/>
        </dgm:layoutNode>
      </dgm:if>
      <dgm:else name="Name29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timeline" pri="103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9139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Saludo breve y tranquilo. 'Buenos dias. Muchas gracias, miembros del tribunal. Voy a defender mi TFG sobre la presencia del cine argentino en España entre 1980 y 2000.' No leas el titulo: ya esta en pantalla. Mira al tribunal.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Hoja de ruta en 15 segundos. 'La presentacion sigue la estructura clasica: introduccion, contenido con tres casos de cine, y conclusiones.'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EXPERTO: situa el debate (Amado y la 'imagen justa', Jensen sobre el exilio, Elena con los datos de circulacion). LEGO: 'Mucho se ha escrito sobre la politica y la historia de estas peliculas, pero casi nadie las ha mirado como lo que son: imagenes. Eso es lo que aporto, mirarlas con ojos de historiador del arte.'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7A8AD-1C3B-128B-B505-F7230BCE6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53D19E-693F-A846-A572-DCF3ED6B76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245D29-CF78-9EE5-A0C6-412F200F71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EXPERTO: situa el debate (Amado y la 'imagen justa', Jensen sobre el exilio, Elena con los datos de circulacion). LEGO: 'Mucho se ha escrito sobre la politica y la historia de estas peliculas, pero casi nadie las ha mirado como lo que son: imagenes. Eso es lo que aporto, mirarlas con ojos de historiador del arte.'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ACF334-469F-29B5-53D7-3E907A35F6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6179484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ADEBD-C55C-B9C7-1339-64BD6544E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4405CA-5422-3F11-C47A-E9CFA43EC9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C07075-96F3-3E87-4F20-1757246E15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EXPERTO: </a:t>
            </a:r>
            <a:r>
              <a:rPr dirty="0" err="1"/>
              <a:t>situa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debate (Amado y la 'imagen </a:t>
            </a:r>
            <a:r>
              <a:rPr dirty="0" err="1"/>
              <a:t>justa</a:t>
            </a:r>
            <a:r>
              <a:rPr dirty="0"/>
              <a:t>', Jensen </a:t>
            </a:r>
            <a:r>
              <a:rPr dirty="0" err="1"/>
              <a:t>sobre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exilio</a:t>
            </a:r>
            <a:r>
              <a:rPr dirty="0"/>
              <a:t>, Elena con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datos</a:t>
            </a:r>
            <a:r>
              <a:rPr dirty="0"/>
              <a:t> de </a:t>
            </a:r>
            <a:r>
              <a:rPr dirty="0" err="1"/>
              <a:t>circulacion</a:t>
            </a:r>
            <a:r>
              <a:rPr dirty="0"/>
              <a:t>). LEGO: 'Mucho se ha </a:t>
            </a:r>
            <a:r>
              <a:rPr dirty="0" err="1"/>
              <a:t>escrito</a:t>
            </a:r>
            <a:r>
              <a:rPr dirty="0"/>
              <a:t> </a:t>
            </a:r>
            <a:r>
              <a:rPr dirty="0" err="1"/>
              <a:t>sobre</a:t>
            </a:r>
            <a:r>
              <a:rPr dirty="0"/>
              <a:t> la </a:t>
            </a:r>
            <a:r>
              <a:rPr dirty="0" err="1"/>
              <a:t>politica</a:t>
            </a:r>
            <a:r>
              <a:rPr dirty="0"/>
              <a:t> y la </a:t>
            </a:r>
            <a:r>
              <a:rPr dirty="0" err="1"/>
              <a:t>historia</a:t>
            </a:r>
            <a:r>
              <a:rPr dirty="0"/>
              <a:t> de </a:t>
            </a:r>
            <a:r>
              <a:rPr dirty="0" err="1"/>
              <a:t>estas</a:t>
            </a:r>
            <a:r>
              <a:rPr dirty="0"/>
              <a:t> </a:t>
            </a:r>
            <a:r>
              <a:rPr dirty="0" err="1"/>
              <a:t>peliculas</a:t>
            </a:r>
            <a:r>
              <a:rPr dirty="0"/>
              <a:t>, </a:t>
            </a:r>
            <a:r>
              <a:rPr dirty="0" err="1"/>
              <a:t>pero</a:t>
            </a:r>
            <a:r>
              <a:rPr dirty="0"/>
              <a:t> </a:t>
            </a:r>
            <a:r>
              <a:rPr dirty="0" err="1"/>
              <a:t>casi</a:t>
            </a:r>
            <a:r>
              <a:rPr dirty="0"/>
              <a:t> </a:t>
            </a:r>
            <a:r>
              <a:rPr dirty="0" err="1"/>
              <a:t>nadie</a:t>
            </a:r>
            <a:r>
              <a:rPr dirty="0"/>
              <a:t> las ha </a:t>
            </a:r>
            <a:r>
              <a:rPr dirty="0" err="1"/>
              <a:t>mirado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lo </a:t>
            </a:r>
            <a:r>
              <a:rPr dirty="0" err="1"/>
              <a:t>que</a:t>
            </a:r>
            <a:r>
              <a:rPr dirty="0"/>
              <a:t> son: </a:t>
            </a:r>
            <a:r>
              <a:rPr dirty="0" err="1"/>
              <a:t>imagenes</a:t>
            </a:r>
            <a:r>
              <a:rPr dirty="0"/>
              <a:t>. Eso es lo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aporto</a:t>
            </a:r>
            <a:r>
              <a:rPr dirty="0"/>
              <a:t>, </a:t>
            </a:r>
            <a:r>
              <a:rPr dirty="0" err="1"/>
              <a:t>mirarlas</a:t>
            </a:r>
            <a:r>
              <a:rPr dirty="0"/>
              <a:t> con ojos de </a:t>
            </a:r>
            <a:r>
              <a:rPr dirty="0" err="1"/>
              <a:t>historiador</a:t>
            </a:r>
            <a:r>
              <a:rPr dirty="0"/>
              <a:t> del </a:t>
            </a:r>
            <a:r>
              <a:rPr dirty="0" err="1"/>
              <a:t>arte</a:t>
            </a:r>
            <a:r>
              <a:rPr dirty="0"/>
              <a:t>.'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32178C-BEA0-4729-C38C-6B5A029459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8561882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Estas tres hipotesis son la columna vertebral; en conclusiones se 'resuelven'. Apréndelas de memoria. LEGO: traduce cada una a una frase ('¿por que gusto aqui? por la memoria; ¿quien tendio el puente? los exiliados; ¿como llego? por las coproducciones').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EXPERTO: subraya que combinas analisis formal e historico-cultural y que lees el film como texto visual. LEGO: 'Veo las peliculas con lupa -como se coloca la camara, que se ilumina, que espacio se muestra- y ademas las situo en su momento historico.'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6428B-2954-7A11-D355-2E80F99B1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E5F670-8AC3-F26D-9E11-30E45B949C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A8840C-F3AD-C9AB-D4FC-57BE8D02D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EXPERTO: subraya que combinas analisis formal e historico-cultural y que lees el film como texto visual. LEGO: 'Veo las peliculas con lupa -como se coloca la camara, que se ilumina, que espacio se muestra- y ademas las situo en su momento historico.'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D2C90E-7A44-DF65-A8E0-95FA9E74B0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3276571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Idea clave y muy accesible: el cine argentino no llego a un pais cualquiera, sino a otro que tambien venia de una dictadura. Por eso 'resonaba'. No narres toda la historia politica: una frase por lado.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EXPERTO: 'imagen justa' (Amado), giro subjetivo (Sarlo), memoria como disputa (Richard). LEGO: 'En los 80 el cine explicaba el horror de forma clara y emotiva, casi pedagogica. En los 90 se vuelve mas sugerente, deja preguntas abiertas.' Esto prepara el contraste entre los tres casos.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LEGO (argumento en 2 frases): una profesora de clase acomodada empieza a sospechar que su hija adoptiva puede ser hija de desaparecidos. EXPERTO: Puenzo viene de la publicidad; puesta en escena muy controlada; interiores calidos vs exteriores frios = ceguera social; la transformacion de Alicia como alegoria nacional. Dato: Oscar 1986. Matiz critico: el melodrama puede rozar la 'teoria de los dos demonios'.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LEGO: distingue exiliado (huye para salvar la vida) de emigrante economico. EXPERTO: 'figuras del destierro' de Rodriguez Marino; Vallejo rueda en España y equipara la represion franquista con la argentina (Don Quijote/Martin Fierro, los republicanos asesinados, montaje a lo Eisenstein). Si vas justo de tiempo, esta diapositiva es la mas recortable.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LEGO: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coproduccion</a:t>
            </a:r>
            <a:r>
              <a:rPr dirty="0"/>
              <a:t> es '</a:t>
            </a:r>
            <a:r>
              <a:rPr dirty="0" err="1"/>
              <a:t>poner</a:t>
            </a:r>
            <a:r>
              <a:rPr dirty="0"/>
              <a:t> dinero entre </a:t>
            </a:r>
            <a:r>
              <a:rPr dirty="0" err="1"/>
              <a:t>varios</a:t>
            </a:r>
            <a:r>
              <a:rPr dirty="0"/>
              <a:t> </a:t>
            </a:r>
            <a:r>
              <a:rPr dirty="0" err="1"/>
              <a:t>paises</a:t>
            </a:r>
            <a:r>
              <a:rPr dirty="0"/>
              <a:t> para </a:t>
            </a:r>
            <a:r>
              <a:rPr dirty="0" err="1"/>
              <a:t>hacer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pelicula</a:t>
            </a:r>
            <a:r>
              <a:rPr dirty="0"/>
              <a:t>'; </a:t>
            </a:r>
            <a:r>
              <a:rPr dirty="0" err="1"/>
              <a:t>eso</a:t>
            </a:r>
            <a:r>
              <a:rPr dirty="0"/>
              <a:t> le </a:t>
            </a:r>
            <a:r>
              <a:rPr dirty="0" err="1"/>
              <a:t>abre</a:t>
            </a:r>
            <a:r>
              <a:rPr dirty="0"/>
              <a:t> cines y </a:t>
            </a:r>
            <a:r>
              <a:rPr dirty="0" err="1"/>
              <a:t>ayudas</a:t>
            </a:r>
            <a:r>
              <a:rPr dirty="0"/>
              <a:t> a las </a:t>
            </a:r>
            <a:r>
              <a:rPr dirty="0" err="1"/>
              <a:t>que</a:t>
            </a:r>
            <a:r>
              <a:rPr dirty="0"/>
              <a:t> sola no </a:t>
            </a:r>
            <a:r>
              <a:rPr dirty="0" err="1"/>
              <a:t>llegaria</a:t>
            </a:r>
            <a:r>
              <a:rPr dirty="0"/>
              <a:t>. EXPERTO: </a:t>
            </a:r>
            <a:r>
              <a:rPr dirty="0" err="1"/>
              <a:t>Convenio</a:t>
            </a:r>
            <a:r>
              <a:rPr dirty="0"/>
              <a:t> de 1969 (</a:t>
            </a:r>
            <a:r>
              <a:rPr dirty="0" err="1"/>
              <a:t>segundo</a:t>
            </a:r>
            <a:r>
              <a:rPr dirty="0"/>
              <a:t> mas </a:t>
            </a:r>
            <a:r>
              <a:rPr dirty="0" err="1"/>
              <a:t>antiguo</a:t>
            </a:r>
            <a:r>
              <a:rPr dirty="0"/>
              <a:t> de España), doble </a:t>
            </a:r>
            <a:r>
              <a:rPr dirty="0" err="1"/>
              <a:t>nacionalidad</a:t>
            </a:r>
            <a:r>
              <a:rPr dirty="0"/>
              <a:t>; </a:t>
            </a:r>
            <a:r>
              <a:rPr dirty="0" err="1"/>
              <a:t>modelos</a:t>
            </a:r>
            <a:r>
              <a:rPr dirty="0"/>
              <a:t> </a:t>
            </a:r>
            <a:r>
              <a:rPr dirty="0" err="1"/>
              <a:t>autoral</a:t>
            </a:r>
            <a:r>
              <a:rPr dirty="0"/>
              <a:t> vs industrial; tension: </a:t>
            </a:r>
            <a:r>
              <a:rPr dirty="0" err="1"/>
              <a:t>el</a:t>
            </a:r>
            <a:r>
              <a:rPr dirty="0"/>
              <a:t> socio </a:t>
            </a:r>
            <a:r>
              <a:rPr dirty="0" err="1"/>
              <a:t>fuerte</a:t>
            </a:r>
            <a:r>
              <a:rPr dirty="0"/>
              <a:t>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condicionar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relato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LEGO: un maestro rural resiste eticamente en un pueblo perdido; su hijo recuerda esa infancia. EXPERTO: estetica de western (paisaje = aislamiento y resistencia); el tren como progreso destructor; un tercio de la pelicula son trayectos que 'cosen' un mundo unitario = 'tener un lugar en el mundo'. Dato: Concha de Oro (San Sebastian), Goya y +500.000 espectadores en España.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LEGO: un cineasta argentino exiliado en Madrid recibe a su hijo adolescente tras una sobredosis; ninguno termina de pertenecer a ningun sitio. EXPERTO: predominio del dialogo (cine de autor europeo); espacio fragmentado = identidad rota; se OMITE la dictadura (memoria latente en el silencio); el titulo: la 'hache' muda, el tiempo en suspenso; el brindis final 'por Martin' restituye el nombre.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Honestidad academica (gusta al tribunal): no idealizar. Prestigio critico ≠ exito de taquilla. LEGO: 'triunfo en festivales y premios, pero no fue cine masivo, salvo una excepcion.'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Cierra con fuerza y mirando al tribunal. La frase de oro: 'Entre 1980 y 2000 las imagenes cruzaron el Atlantico cargadas de memoria, pero tambien de nuevas posibilidades esteticas e industriales.' El hilo conductor de toda la charla ha sido EL ESPACIO.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 leas las referencias. Estan para mostrar solidez bibliografica. Si preguntan por una fuente concreta, aqui la tienes localizada. Estilo Chicago-Deusto, como exige el Grado.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Sonrie, respira, no recojas papeles todavia. Espera las preguntas con calma. Si no sabes algo, reconduce con honestidad hacia lo que si dominas.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microsoft.com/office/2007/relationships/hdphoto" Target="../media/hdphoto1.wdp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microsoft.com/office/2007/relationships/hdphoto" Target="../media/hdphoto2.wdp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diagramData" Target="../diagrams/data1.xml"/><Relationship Id="rId7" Type="http://schemas.openxmlformats.org/officeDocument/2006/relationships/diagramLayout" Target="../diagrams/layout1.xml"/><Relationship Id="rId8" Type="http://schemas.openxmlformats.org/officeDocument/2006/relationships/diagramQuickStyle" Target="../diagrams/quickStyle1.xml"/><Relationship Id="rId9" Type="http://schemas.openxmlformats.org/officeDocument/2006/relationships/diagramColors" Target="../diagrams/colors1.xml"/><Relationship Id="rId10" Type="http://schemas.microsoft.com/office/2007/relationships/diagramDrawing" Target="../diagrams/drawing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2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diagramData" Target="../diagrams/data2.xml"/><Relationship Id="rId4" Type="http://schemas.openxmlformats.org/officeDocument/2006/relationships/diagramLayout" Target="../diagrams/layout2.xml"/><Relationship Id="rId5" Type="http://schemas.openxmlformats.org/officeDocument/2006/relationships/diagramQuickStyle" Target="../diagrams/quickStyle2.xml"/><Relationship Id="rId6" Type="http://schemas.openxmlformats.org/officeDocument/2006/relationships/diagramColors" Target="../diagrams/colors2.xml"/><Relationship Id="rId7" Type="http://schemas.microsoft.com/office/2007/relationships/diagramDrawing" Target="../diagrams/drawing2.xml"/><Relationship Id="rId8" Type="http://schemas.openxmlformats.org/officeDocument/2006/relationships/image" Target="../media/image2.png"/><Relationship Id="rId9" Type="http://schemas.openxmlformats.org/officeDocument/2006/relationships/image" Target="../media/image13.svg"/><Relationship Id="rId10" Type="http://schemas.openxmlformats.org/officeDocument/2006/relationships/image" Target="../media/image14.svg"/><Relationship Id="rId11" Type="http://schemas.openxmlformats.org/officeDocument/2006/relationships/image" Target="../media/image15.svg"/><Relationship Id="rId12" Type="http://schemas.openxmlformats.org/officeDocument/2006/relationships/image" Target="../media/image16.svg"/><Relationship Id="rId13" Type="http://schemas.openxmlformats.org/officeDocument/2006/relationships/image" Target="../media/image17.svg"/><Relationship Id="rId14" Type="http://schemas.openxmlformats.org/officeDocument/2006/relationships/image" Target="../media/image18.sv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21.sv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ogo_coraz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5760" y="20560"/>
            <a:ext cx="4206240" cy="1787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234440"/>
            <a:ext cx="7955279" cy="11628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300" b="1" i="0" dirty="0">
                <a:solidFill>
                  <a:srgbClr val="00B0F0"/>
                </a:solidFill>
                <a:latin typeface="Calibri"/>
              </a:rPr>
              <a:t>LA VISIBILIDAD DEL CINE ARGENTINO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300" b="1" i="0" dirty="0">
                <a:solidFill>
                  <a:srgbClr val="00B0F0"/>
                </a:solidFill>
                <a:latin typeface="Calibri"/>
              </a:rPr>
              <a:t>EN ESPAÑA (1980-2000)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07389"/>
            <a:ext cx="786384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1" dirty="0">
                <a:solidFill>
                  <a:srgbClr val="00B0F0"/>
                </a:solidFill>
                <a:latin typeface="Calibri"/>
              </a:rPr>
              <a:t>Memoria, </a:t>
            </a:r>
            <a:r>
              <a:rPr sz="2000" b="0" i="1" dirty="0" err="1">
                <a:solidFill>
                  <a:srgbClr val="00B0F0"/>
                </a:solidFill>
                <a:latin typeface="Calibri"/>
              </a:rPr>
              <a:t>exilio</a:t>
            </a:r>
            <a:r>
              <a:rPr sz="2000" b="0" i="1" dirty="0">
                <a:solidFill>
                  <a:srgbClr val="00B0F0"/>
                </a:solidFill>
                <a:latin typeface="Calibri"/>
              </a:rPr>
              <a:t> y </a:t>
            </a:r>
            <a:r>
              <a:rPr sz="2000" b="0" i="1" dirty="0" err="1">
                <a:solidFill>
                  <a:srgbClr val="00B0F0"/>
                </a:solidFill>
                <a:latin typeface="Calibri"/>
              </a:rPr>
              <a:t>coproducciones</a:t>
            </a:r>
            <a:r>
              <a:rPr sz="2000" b="0" i="1" dirty="0">
                <a:solidFill>
                  <a:srgbClr val="00B0F0"/>
                </a:solidFill>
                <a:latin typeface="Calibri"/>
              </a:rPr>
              <a:t> </a:t>
            </a:r>
            <a:r>
              <a:rPr sz="2000" b="0" i="1" dirty="0" err="1">
                <a:solidFill>
                  <a:srgbClr val="00B0F0"/>
                </a:solidFill>
                <a:latin typeface="Calibri"/>
              </a:rPr>
              <a:t>transatlánticas</a:t>
            </a:r>
            <a:endParaRPr sz="2000" b="0" i="1" dirty="0">
              <a:solidFill>
                <a:srgbClr val="00B0F0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8368" y="4480560"/>
            <a:ext cx="78638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3293B"/>
                </a:solidFill>
                <a:latin typeface="Calibri"/>
              </a:rPr>
              <a:t>Facundo Nicolás Vallejos Ribles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03293B"/>
                </a:solidFill>
                <a:latin typeface="Calibri"/>
              </a:rPr>
              <a:t>TFG · Grado en Historia del Arte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03293B"/>
                </a:solidFill>
                <a:latin typeface="Calibri"/>
              </a:rPr>
              <a:t>Prof. D. Joaquín Cánovas Belchí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03293B"/>
                </a:solidFill>
                <a:latin typeface="Calibri"/>
              </a:rPr>
              <a:t>Curso 2025/2026 · Convocatoria junio-julio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99632"/>
            <a:ext cx="12191695" cy="20320"/>
          </a:xfrm>
          <a:prstGeom prst="rect">
            <a:avLst/>
          </a:prstGeom>
          <a:solidFill>
            <a:srgbClr val="03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logo_um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6355080"/>
            <a:ext cx="1181833" cy="384048"/>
          </a:xfrm>
          <a:prstGeom prst="rect">
            <a:avLst/>
          </a:prstGeom>
        </p:spPr>
      </p:pic>
      <p:pic>
        <p:nvPicPr>
          <p:cNvPr id="9" name="Picture 8" descr="logo_faculta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6120" y="6272784"/>
            <a:ext cx="882924" cy="53035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89520" y="6327648"/>
            <a:ext cx="4206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3293B"/>
                </a:solidFill>
                <a:latin typeface="Calibri"/>
              </a:rPr>
              <a:t>Departamento de Historia del Arte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961120" y="365760"/>
            <a:ext cx="2743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3293B"/>
                </a:solidFill>
                <a:latin typeface="Calibri"/>
              </a:rPr>
              <a:t>ÍNDICE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515600" cy="3565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1" i="0" dirty="0">
                <a:solidFill>
                  <a:srgbClr val="E73C23"/>
                </a:solidFill>
                <a:latin typeface="Calibri"/>
              </a:rPr>
              <a:t>INTRODUCCIÓN</a:t>
            </a:r>
          </a:p>
          <a:p>
            <a:pPr algn="l">
              <a:spcAft>
                <a:spcPts val="1000"/>
              </a:spcAft>
            </a:pPr>
            <a:r>
              <a:rPr sz="1700" b="0" i="0" dirty="0">
                <a:solidFill>
                  <a:srgbClr val="03293B"/>
                </a:solidFill>
                <a:latin typeface="Calibri"/>
              </a:rPr>
              <a:t>        </a:t>
            </a:r>
            <a:r>
              <a:rPr sz="1700" b="0" i="0" dirty="0" err="1">
                <a:solidFill>
                  <a:srgbClr val="03293B"/>
                </a:solidFill>
                <a:latin typeface="Calibri"/>
              </a:rPr>
              <a:t>Justificación</a:t>
            </a:r>
            <a:r>
              <a:rPr sz="1700" b="0" i="0" dirty="0">
                <a:solidFill>
                  <a:srgbClr val="03293B"/>
                </a:solidFill>
                <a:latin typeface="Calibri"/>
              </a:rPr>
              <a:t> y </a:t>
            </a:r>
            <a:r>
              <a:rPr sz="1700" b="0" i="0" dirty="0" err="1">
                <a:solidFill>
                  <a:srgbClr val="03293B"/>
                </a:solidFill>
                <a:latin typeface="Calibri"/>
              </a:rPr>
              <a:t>estado</a:t>
            </a:r>
            <a:r>
              <a:rPr sz="1700" b="0" i="0" dirty="0">
                <a:solidFill>
                  <a:srgbClr val="03293B"/>
                </a:solidFill>
                <a:latin typeface="Calibri"/>
              </a:rPr>
              <a:t> de la </a:t>
            </a:r>
            <a:r>
              <a:rPr sz="1700" b="0" i="0" dirty="0" err="1">
                <a:solidFill>
                  <a:srgbClr val="03293B"/>
                </a:solidFill>
                <a:latin typeface="Calibri"/>
              </a:rPr>
              <a:t>cuestión</a:t>
            </a:r>
            <a:endParaRPr sz="1700" b="0" i="0" dirty="0">
              <a:solidFill>
                <a:srgbClr val="03293B"/>
              </a:solidFill>
              <a:latin typeface="Calibri"/>
            </a:endParaRPr>
          </a:p>
          <a:p>
            <a:pPr algn="l">
              <a:spcAft>
                <a:spcPts val="1000"/>
              </a:spcAft>
            </a:pPr>
            <a:r>
              <a:rPr sz="1700" b="0" i="0" dirty="0">
                <a:solidFill>
                  <a:srgbClr val="03293B"/>
                </a:solidFill>
                <a:latin typeface="Calibri"/>
              </a:rPr>
              <a:t>        </a:t>
            </a:r>
            <a:r>
              <a:rPr sz="1700" b="0" i="0" dirty="0" err="1">
                <a:solidFill>
                  <a:srgbClr val="03293B"/>
                </a:solidFill>
                <a:latin typeface="Calibri"/>
              </a:rPr>
              <a:t>Hipótesis</a:t>
            </a:r>
            <a:r>
              <a:rPr sz="1700" b="0" i="0" dirty="0">
                <a:solidFill>
                  <a:srgbClr val="03293B"/>
                </a:solidFill>
                <a:latin typeface="Calibri"/>
              </a:rPr>
              <a:t> y </a:t>
            </a:r>
            <a:r>
              <a:rPr sz="1700" b="0" i="0" dirty="0" err="1">
                <a:solidFill>
                  <a:srgbClr val="03293B"/>
                </a:solidFill>
                <a:latin typeface="Calibri"/>
              </a:rPr>
              <a:t>objetivos</a:t>
            </a:r>
            <a:endParaRPr sz="1700" b="0" i="0" dirty="0">
              <a:solidFill>
                <a:srgbClr val="03293B"/>
              </a:solidFill>
              <a:latin typeface="Calibri"/>
            </a:endParaRPr>
          </a:p>
          <a:p>
            <a:pPr algn="l">
              <a:spcAft>
                <a:spcPts val="1000"/>
              </a:spcAft>
            </a:pPr>
            <a:r>
              <a:rPr sz="1700" b="0" i="0" dirty="0">
                <a:solidFill>
                  <a:srgbClr val="03293B"/>
                </a:solidFill>
                <a:latin typeface="Calibri"/>
              </a:rPr>
              <a:t>        </a:t>
            </a:r>
            <a:r>
              <a:rPr sz="1700" b="0" i="0" dirty="0" err="1">
                <a:solidFill>
                  <a:srgbClr val="03293B"/>
                </a:solidFill>
                <a:latin typeface="Calibri"/>
              </a:rPr>
              <a:t>Metodología</a:t>
            </a:r>
            <a:endParaRPr sz="1700" b="0" i="0" dirty="0">
              <a:solidFill>
                <a:srgbClr val="03293B"/>
              </a:solidFill>
              <a:latin typeface="Calibri"/>
            </a:endParaRPr>
          </a:p>
          <a:p>
            <a:pPr algn="l">
              <a:spcAft>
                <a:spcPts val="1000"/>
              </a:spcAft>
            </a:pPr>
            <a:r>
              <a:rPr sz="1900" b="1" i="0" dirty="0">
                <a:solidFill>
                  <a:srgbClr val="E73C23"/>
                </a:solidFill>
                <a:latin typeface="Calibri"/>
              </a:rPr>
              <a:t>CONTENIDO</a:t>
            </a:r>
          </a:p>
          <a:p>
            <a:pPr algn="l">
              <a:spcAft>
                <a:spcPts val="1000"/>
              </a:spcAft>
            </a:pPr>
            <a:r>
              <a:rPr sz="1700" b="0" i="0" dirty="0">
                <a:solidFill>
                  <a:srgbClr val="03293B"/>
                </a:solidFill>
                <a:latin typeface="Calibri"/>
              </a:rPr>
              <a:t>        </a:t>
            </a:r>
            <a:r>
              <a:rPr sz="1700" b="0" i="0" dirty="0" err="1">
                <a:solidFill>
                  <a:srgbClr val="03293B"/>
                </a:solidFill>
                <a:latin typeface="Calibri"/>
              </a:rPr>
              <a:t>Contexto</a:t>
            </a:r>
            <a:r>
              <a:rPr sz="1700" b="0" i="0" dirty="0">
                <a:solidFill>
                  <a:srgbClr val="03293B"/>
                </a:solidFill>
                <a:latin typeface="Calibri"/>
              </a:rPr>
              <a:t>: memoria, </a:t>
            </a:r>
            <a:r>
              <a:rPr sz="1700" b="0" i="0" dirty="0" err="1">
                <a:solidFill>
                  <a:srgbClr val="03293B"/>
                </a:solidFill>
                <a:latin typeface="Calibri"/>
              </a:rPr>
              <a:t>exilio</a:t>
            </a:r>
            <a:r>
              <a:rPr sz="1700" b="0" i="0" dirty="0">
                <a:solidFill>
                  <a:srgbClr val="03293B"/>
                </a:solidFill>
                <a:latin typeface="Calibri"/>
              </a:rPr>
              <a:t> y </a:t>
            </a:r>
            <a:r>
              <a:rPr sz="1700" b="0" i="0" dirty="0" err="1">
                <a:solidFill>
                  <a:srgbClr val="03293B"/>
                </a:solidFill>
                <a:latin typeface="Calibri"/>
              </a:rPr>
              <a:t>coproducciones</a:t>
            </a:r>
            <a:endParaRPr sz="1700" b="0" i="0" dirty="0">
              <a:solidFill>
                <a:srgbClr val="03293B"/>
              </a:solidFill>
              <a:latin typeface="Calibri"/>
            </a:endParaRPr>
          </a:p>
          <a:p>
            <a:pPr algn="l">
              <a:spcAft>
                <a:spcPts val="1000"/>
              </a:spcAft>
            </a:pPr>
            <a:r>
              <a:rPr sz="1700" b="0" i="0" dirty="0">
                <a:solidFill>
                  <a:srgbClr val="03293B"/>
                </a:solidFill>
                <a:latin typeface="Calibri"/>
              </a:rPr>
              <a:t>        Tres </a:t>
            </a:r>
            <a:r>
              <a:rPr sz="1700" b="0" i="0" dirty="0" err="1">
                <a:solidFill>
                  <a:srgbClr val="03293B"/>
                </a:solidFill>
                <a:latin typeface="Calibri"/>
              </a:rPr>
              <a:t>casos</a:t>
            </a:r>
            <a:r>
              <a:rPr sz="1700" b="0" i="0" dirty="0">
                <a:solidFill>
                  <a:srgbClr val="03293B"/>
                </a:solidFill>
                <a:latin typeface="Calibri"/>
              </a:rPr>
              <a:t> de </a:t>
            </a:r>
            <a:r>
              <a:rPr sz="1700" b="0" i="0" dirty="0" err="1">
                <a:solidFill>
                  <a:srgbClr val="03293B"/>
                </a:solidFill>
                <a:latin typeface="Calibri"/>
              </a:rPr>
              <a:t>estudio</a:t>
            </a:r>
            <a:r>
              <a:rPr sz="1700" b="0" i="0" dirty="0">
                <a:solidFill>
                  <a:srgbClr val="03293B"/>
                </a:solidFill>
                <a:latin typeface="Calibri"/>
              </a:rPr>
              <a:t>: </a:t>
            </a:r>
            <a:r>
              <a:rPr sz="1700" b="1" i="0" dirty="0">
                <a:solidFill>
                  <a:srgbClr val="03293B"/>
                </a:solidFill>
                <a:latin typeface="Calibri"/>
              </a:rPr>
              <a:t>La </a:t>
            </a:r>
            <a:r>
              <a:rPr sz="1700" b="1" i="0" dirty="0" err="1">
                <a:solidFill>
                  <a:srgbClr val="03293B"/>
                </a:solidFill>
                <a:latin typeface="Calibri"/>
              </a:rPr>
              <a:t>historia</a:t>
            </a:r>
            <a:r>
              <a:rPr sz="1700" b="1" i="0" dirty="0">
                <a:solidFill>
                  <a:srgbClr val="03293B"/>
                </a:solidFill>
                <a:latin typeface="Calibri"/>
              </a:rPr>
              <a:t> </a:t>
            </a:r>
            <a:r>
              <a:rPr sz="1700" b="1" i="0" dirty="0" err="1">
                <a:solidFill>
                  <a:srgbClr val="03293B"/>
                </a:solidFill>
                <a:latin typeface="Calibri"/>
              </a:rPr>
              <a:t>oficial</a:t>
            </a:r>
            <a:r>
              <a:rPr sz="1700" b="1" i="0" dirty="0">
                <a:solidFill>
                  <a:srgbClr val="03293B"/>
                </a:solidFill>
                <a:latin typeface="Calibri"/>
              </a:rPr>
              <a:t>, Un </a:t>
            </a:r>
            <a:r>
              <a:rPr sz="1700" b="1" i="0" dirty="0" err="1">
                <a:solidFill>
                  <a:srgbClr val="03293B"/>
                </a:solidFill>
                <a:latin typeface="Calibri"/>
              </a:rPr>
              <a:t>lugar</a:t>
            </a:r>
            <a:r>
              <a:rPr sz="1700" b="1" i="0" dirty="0">
                <a:solidFill>
                  <a:srgbClr val="03293B"/>
                </a:solidFill>
                <a:latin typeface="Calibri"/>
              </a:rPr>
              <a:t> </a:t>
            </a:r>
            <a:r>
              <a:rPr sz="1700" b="1" i="0" dirty="0" err="1">
                <a:solidFill>
                  <a:srgbClr val="03293B"/>
                </a:solidFill>
                <a:latin typeface="Calibri"/>
              </a:rPr>
              <a:t>en</a:t>
            </a:r>
            <a:r>
              <a:rPr sz="1700" b="1" i="0" dirty="0">
                <a:solidFill>
                  <a:srgbClr val="03293B"/>
                </a:solidFill>
                <a:latin typeface="Calibri"/>
              </a:rPr>
              <a:t> </a:t>
            </a:r>
            <a:r>
              <a:rPr sz="1700" b="1" i="0" dirty="0" err="1">
                <a:solidFill>
                  <a:srgbClr val="03293B"/>
                </a:solidFill>
                <a:latin typeface="Calibri"/>
              </a:rPr>
              <a:t>el</a:t>
            </a:r>
            <a:r>
              <a:rPr sz="1700" b="1" i="0" dirty="0">
                <a:solidFill>
                  <a:srgbClr val="03293B"/>
                </a:solidFill>
                <a:latin typeface="Calibri"/>
              </a:rPr>
              <a:t> </a:t>
            </a:r>
            <a:r>
              <a:rPr sz="1700" b="1" i="0" dirty="0" err="1">
                <a:solidFill>
                  <a:srgbClr val="03293B"/>
                </a:solidFill>
                <a:latin typeface="Calibri"/>
              </a:rPr>
              <a:t>mundo</a:t>
            </a:r>
            <a:r>
              <a:rPr sz="1700" b="1" i="0" dirty="0">
                <a:solidFill>
                  <a:srgbClr val="03293B"/>
                </a:solidFill>
                <a:latin typeface="Calibri"/>
              </a:rPr>
              <a:t>, Martín (Hache)</a:t>
            </a:r>
          </a:p>
          <a:p>
            <a:pPr algn="l">
              <a:spcAft>
                <a:spcPts val="1000"/>
              </a:spcAft>
            </a:pPr>
            <a:r>
              <a:rPr sz="1700" b="0" i="0" dirty="0">
                <a:solidFill>
                  <a:srgbClr val="03293B"/>
                </a:solidFill>
                <a:latin typeface="Calibri"/>
              </a:rPr>
              <a:t>        </a:t>
            </a:r>
            <a:r>
              <a:rPr sz="1700" b="0" i="0" dirty="0" err="1">
                <a:solidFill>
                  <a:srgbClr val="03293B"/>
                </a:solidFill>
                <a:latin typeface="Calibri"/>
              </a:rPr>
              <a:t>Recepción</a:t>
            </a:r>
            <a:r>
              <a:rPr sz="1700" b="0" i="0" dirty="0">
                <a:solidFill>
                  <a:srgbClr val="03293B"/>
                </a:solidFill>
                <a:latin typeface="Calibri"/>
              </a:rPr>
              <a:t> </a:t>
            </a:r>
            <a:r>
              <a:rPr sz="1700" b="0" i="0" dirty="0" err="1">
                <a:solidFill>
                  <a:srgbClr val="03293B"/>
                </a:solidFill>
                <a:latin typeface="Calibri"/>
              </a:rPr>
              <a:t>en</a:t>
            </a:r>
            <a:r>
              <a:rPr sz="1700" b="0" i="0" dirty="0">
                <a:solidFill>
                  <a:srgbClr val="03293B"/>
                </a:solidFill>
                <a:latin typeface="Calibri"/>
              </a:rPr>
              <a:t> España</a:t>
            </a:r>
          </a:p>
          <a:p>
            <a:pPr algn="l">
              <a:spcAft>
                <a:spcPts val="1000"/>
              </a:spcAft>
            </a:pPr>
            <a:r>
              <a:rPr sz="1900" b="1" i="0" dirty="0">
                <a:solidFill>
                  <a:srgbClr val="E73C23"/>
                </a:solidFill>
                <a:latin typeface="Calibri"/>
              </a:rPr>
              <a:t>CONCLUSIONES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199632"/>
            <a:ext cx="12191695" cy="20320"/>
          </a:xfrm>
          <a:prstGeom prst="rect">
            <a:avLst/>
          </a:prstGeom>
          <a:solidFill>
            <a:srgbClr val="03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logo_um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355080"/>
            <a:ext cx="1181833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108960" y="6421596"/>
            <a:ext cx="8686800" cy="269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 dirty="0">
                <a:solidFill>
                  <a:srgbClr val="00B0F0"/>
                </a:solidFill>
                <a:latin typeface="Calibri"/>
              </a:rPr>
              <a:t>LA VISIBILIDAD DEL CINE ARGENTINO EN ESPAÑA (1980-2000)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320040"/>
            <a:ext cx="1115568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 dirty="0">
                <a:solidFill>
                  <a:srgbClr val="00B0F0"/>
                </a:solidFill>
                <a:latin typeface="Calibri"/>
              </a:rPr>
              <a:t>JUSTIFICACIÓN Y ESTADO DE LA CUESTIÓN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965960"/>
            <a:ext cx="4114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 dirty="0">
                <a:solidFill>
                  <a:srgbClr val="03293B"/>
                </a:solidFill>
                <a:latin typeface="Calibri"/>
              </a:rPr>
              <a:t>MEMORIA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dirty="0">
                <a:solidFill>
                  <a:srgbClr val="444444"/>
                </a:solidFill>
                <a:latin typeface="Calibri"/>
              </a:rPr>
              <a:t>del trauma de la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dictadura</a:t>
            </a:r>
            <a:endParaRPr sz="1300" b="0" i="0" dirty="0">
              <a:solidFill>
                <a:srgbClr val="444444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0" y="1965960"/>
            <a:ext cx="4114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 dirty="0">
                <a:solidFill>
                  <a:srgbClr val="03293B"/>
                </a:solidFill>
                <a:latin typeface="Calibri"/>
              </a:rPr>
              <a:t>COPRODUCCIONES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dirty="0" err="1">
                <a:solidFill>
                  <a:srgbClr val="444444"/>
                </a:solidFill>
                <a:latin typeface="Calibri"/>
              </a:rPr>
              <a:t>hispano-argentinas</a:t>
            </a:r>
            <a:endParaRPr sz="1300" b="0" i="0" dirty="0">
              <a:solidFill>
                <a:srgbClr val="444444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011680" y="3657600"/>
            <a:ext cx="4114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03293B"/>
                </a:solidFill>
                <a:latin typeface="Calibri"/>
              </a:rPr>
              <a:t>EXILIO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444444"/>
                </a:solidFill>
                <a:latin typeface="Calibri"/>
              </a:rPr>
              <a:t>como mediación cultural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3657600"/>
            <a:ext cx="4114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03293B"/>
                </a:solidFill>
                <a:latin typeface="Calibri"/>
              </a:rPr>
              <a:t>RECEPCIÓN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444444"/>
                </a:solidFill>
                <a:latin typeface="Calibri"/>
              </a:rPr>
              <a:t>crítica e institucional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5257800"/>
            <a:ext cx="10332720" cy="777240"/>
          </a:xfrm>
          <a:prstGeom prst="roundRect">
            <a:avLst/>
          </a:prstGeom>
          <a:solidFill>
            <a:srgbClr val="FFFEF5"/>
          </a:solidFill>
          <a:ln w="22225">
            <a:solidFill>
              <a:srgbClr val="E73C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0" i="0">
                <a:solidFill>
                  <a:srgbClr val="03293B"/>
                </a:solidFill>
                <a:latin typeface="Calibri"/>
              </a:rPr>
              <a:t>La bibliografía aborda el tema desde lo político y social. El hueco que llena este TFG: el </a:t>
            </a:r>
            <a:r>
              <a:rPr sz="1500" b="1" i="0">
                <a:solidFill>
                  <a:srgbClr val="03293B"/>
                </a:solidFill>
                <a:latin typeface="Calibri"/>
              </a:rPr>
              <a:t>análisis FORMAL</a:t>
            </a:r>
            <a:r>
              <a:rPr sz="1500" b="0" i="0">
                <a:solidFill>
                  <a:srgbClr val="03293B"/>
                </a:solidFill>
                <a:latin typeface="Calibri"/>
              </a:rPr>
              <a:t> del cine como objeto visual.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199632"/>
            <a:ext cx="12191695" cy="20320"/>
          </a:xfrm>
          <a:prstGeom prst="rect">
            <a:avLst/>
          </a:prstGeom>
          <a:solidFill>
            <a:srgbClr val="03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logo_um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355080"/>
            <a:ext cx="1181833" cy="38404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108960" y="6421596"/>
            <a:ext cx="8686800" cy="269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 dirty="0">
                <a:solidFill>
                  <a:srgbClr val="00B0F0"/>
                </a:solidFill>
                <a:latin typeface="Calibri"/>
              </a:rPr>
              <a:t>LA VISIBILIDAD DEL CINE ARGENTINO EN ESPAÑA (1980-2000)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D81A1-8721-2A16-6D0C-BE95A96A3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D91F426-701F-265F-535E-14ED76999B89}"/>
              </a:ext>
            </a:extLst>
          </p:cNvPr>
          <p:cNvSpPr txBox="1"/>
          <p:nvPr/>
        </p:nvSpPr>
        <p:spPr>
          <a:xfrm>
            <a:off x="502920" y="320040"/>
            <a:ext cx="1115568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 dirty="0">
                <a:solidFill>
                  <a:srgbClr val="E73C23"/>
                </a:solidFill>
                <a:latin typeface="Calibri"/>
              </a:rPr>
              <a:t>ESTADO DE LA CUESTIÓN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F1D2D53-E885-1C58-3C75-39125BBE2C7D}"/>
              </a:ext>
            </a:extLst>
          </p:cNvPr>
          <p:cNvSpPr/>
          <p:nvPr/>
        </p:nvSpPr>
        <p:spPr>
          <a:xfrm>
            <a:off x="0" y="6199632"/>
            <a:ext cx="12191695" cy="20320"/>
          </a:xfrm>
          <a:prstGeom prst="rect">
            <a:avLst/>
          </a:prstGeom>
          <a:solidFill>
            <a:srgbClr val="03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logo_umu.png">
            <a:extLst>
              <a:ext uri="{FF2B5EF4-FFF2-40B4-BE49-F238E27FC236}">
                <a16:creationId xmlns:a16="http://schemas.microsoft.com/office/drawing/2014/main" id="{0A3CDC92-8534-2C62-2E0B-94A7B9B476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355080"/>
            <a:ext cx="1181833" cy="38404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FF41496-264D-6DF9-C0E1-8081AFDBEBAE}"/>
              </a:ext>
            </a:extLst>
          </p:cNvPr>
          <p:cNvSpPr txBox="1"/>
          <p:nvPr/>
        </p:nvSpPr>
        <p:spPr>
          <a:xfrm>
            <a:off x="3108960" y="6327648"/>
            <a:ext cx="8686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73C23"/>
                </a:solidFill>
                <a:latin typeface="Calibri"/>
              </a:rPr>
              <a:t>LA VISIBILIDAD DEL CINE ARGENTINO EN ESPAÑA (1980-2000)</a:t>
            </a:r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15963207-5032-BC40-07C0-32D5A29BB3CB}"/>
              </a:ext>
            </a:extLst>
          </p:cNvPr>
          <p:cNvGrpSpPr/>
          <p:nvPr/>
        </p:nvGrpSpPr>
        <p:grpSpPr>
          <a:xfrm>
            <a:off x="1185682" y="975387"/>
            <a:ext cx="2970954" cy="4658631"/>
            <a:chOff x="1185682" y="975387"/>
            <a:chExt cx="2970954" cy="4658631"/>
          </a:xfrm>
        </p:grpSpPr>
        <p:pic>
          <p:nvPicPr>
            <p:cNvPr id="19" name="Imagen 18">
              <a:extLst>
                <a:ext uri="{FF2B5EF4-FFF2-40B4-BE49-F238E27FC236}">
                  <a16:creationId xmlns:a16="http://schemas.microsoft.com/office/drawing/2014/main" id="{FA8EEADD-1976-0F5E-3153-7DA748492E6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5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85682" y="975387"/>
              <a:ext cx="2970954" cy="4254500"/>
            </a:xfrm>
            <a:prstGeom prst="rect">
              <a:avLst/>
            </a:prstGeom>
          </p:spPr>
        </p:pic>
        <p:sp>
          <p:nvSpPr>
            <p:cNvPr id="2" name="CuadroTexto 1">
              <a:extLst>
                <a:ext uri="{FF2B5EF4-FFF2-40B4-BE49-F238E27FC236}">
                  <a16:creationId xmlns:a16="http://schemas.microsoft.com/office/drawing/2014/main" id="{6DE4A378-9353-5D65-3942-16FB5D0B2614}"/>
                </a:ext>
              </a:extLst>
            </p:cNvPr>
            <p:cNvSpPr txBox="1"/>
            <p:nvPr/>
          </p:nvSpPr>
          <p:spPr>
            <a:xfrm>
              <a:off x="1894824" y="5264686"/>
              <a:ext cx="15526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/>
          </p:txBody>
        </p:sp>
      </p:grpSp>
      <p:grpSp>
        <p:nvGrpSpPr>
          <p:cNvPr id="5" name="Grupo 4">
            <a:extLst>
              <a:ext uri="{FF2B5EF4-FFF2-40B4-BE49-F238E27FC236}">
                <a16:creationId xmlns:a16="http://schemas.microsoft.com/office/drawing/2014/main" id="{6C54CCC9-364F-BB11-9590-12315292E2CF}"/>
              </a:ext>
            </a:extLst>
          </p:cNvPr>
          <p:cNvGrpSpPr/>
          <p:nvPr/>
        </p:nvGrpSpPr>
        <p:grpSpPr>
          <a:xfrm>
            <a:off x="8647085" y="1045718"/>
            <a:ext cx="2486396" cy="4546862"/>
            <a:chOff x="8647085" y="1045718"/>
            <a:chExt cx="2486396" cy="4546862"/>
          </a:xfrm>
        </p:grpSpPr>
        <p:sp>
          <p:nvSpPr>
            <p:cNvPr id="4" name="CuadroTexto 3">
              <a:extLst>
                <a:ext uri="{FF2B5EF4-FFF2-40B4-BE49-F238E27FC236}">
                  <a16:creationId xmlns:a16="http://schemas.microsoft.com/office/drawing/2014/main" id="{B6F80F29-C4D1-4DAC-2663-57F1AC0492EA}"/>
                </a:ext>
              </a:extLst>
            </p:cNvPr>
            <p:cNvSpPr txBox="1"/>
            <p:nvPr/>
          </p:nvSpPr>
          <p:spPr>
            <a:xfrm>
              <a:off x="9455708" y="5223248"/>
              <a:ext cx="8691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/>
          </p:txBody>
        </p:sp>
        <p:pic>
          <p:nvPicPr>
            <p:cNvPr id="23" name="Imagen 22">
              <a:extLst>
                <a:ext uri="{FF2B5EF4-FFF2-40B4-BE49-F238E27FC236}">
                  <a16:creationId xmlns:a16="http://schemas.microsoft.com/office/drawing/2014/main" id="{A49C2969-84ED-036F-6CC3-B45E5FA0AC6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647085" y="1045718"/>
              <a:ext cx="2486396" cy="4254500"/>
            </a:xfrm>
            <a:prstGeom prst="rect">
              <a:avLst/>
            </a:prstGeom>
          </p:spPr>
        </p:pic>
      </p:grpSp>
      <p:grpSp>
        <p:nvGrpSpPr>
          <p:cNvPr id="8" name="Grupo 7">
            <a:extLst>
              <a:ext uri="{FF2B5EF4-FFF2-40B4-BE49-F238E27FC236}">
                <a16:creationId xmlns:a16="http://schemas.microsoft.com/office/drawing/2014/main" id="{24C0B7C9-9F43-8213-137E-40F1A43F77E0}"/>
              </a:ext>
            </a:extLst>
          </p:cNvPr>
          <p:cNvGrpSpPr/>
          <p:nvPr/>
        </p:nvGrpSpPr>
        <p:grpSpPr>
          <a:xfrm>
            <a:off x="5049585" y="975387"/>
            <a:ext cx="2704551" cy="4665517"/>
            <a:chOff x="5049585" y="975387"/>
            <a:chExt cx="2704551" cy="4665517"/>
          </a:xfrm>
        </p:grpSpPr>
        <p:pic>
          <p:nvPicPr>
            <p:cNvPr id="21" name="Imagen 20">
              <a:extLst>
                <a:ext uri="{FF2B5EF4-FFF2-40B4-BE49-F238E27FC236}">
                  <a16:creationId xmlns:a16="http://schemas.microsoft.com/office/drawing/2014/main" id="{CFC1A30D-F621-F418-1F3D-E572CE2E9AB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sharpenSoften amount="5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049585" y="975387"/>
              <a:ext cx="2704551" cy="4257321"/>
            </a:xfrm>
            <a:prstGeom prst="rect">
              <a:avLst/>
            </a:prstGeom>
          </p:spPr>
        </p:pic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F8DFF8C5-4E4D-DC43-E255-BC412FD35EFD}"/>
                </a:ext>
              </a:extLst>
            </p:cNvPr>
            <p:cNvSpPr txBox="1"/>
            <p:nvPr/>
          </p:nvSpPr>
          <p:spPr>
            <a:xfrm>
              <a:off x="5858329" y="5271572"/>
              <a:ext cx="11865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/>
          </p:txBody>
        </p:sp>
      </p:grpSp>
      <p:sp>
        <p:nvSpPr>
          <p:cNvPr id="24" name="TextBox 23"/>
          <p:cNvSpPr txBox="1"/>
          <p:nvPr/>
        </p:nvSpPr>
        <p:spPr>
          <a:xfrm>
            <a:off x="1185682" y="5413248"/>
            <a:ext cx="297095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i="0">
                <a:solidFill>
                  <a:srgbClr val="03293B"/>
                </a:solidFill>
                <a:latin typeface="Calibri"/>
              </a:rPr>
              <a:t>Amado, </a:t>
            </a:r>
            <a:r>
              <a:rPr sz="1200" i="1">
                <a:solidFill>
                  <a:srgbClr val="03293B"/>
                </a:solidFill>
                <a:latin typeface="Calibri"/>
              </a:rPr>
              <a:t>La imagen justa</a:t>
            </a:r>
            <a:r>
              <a:rPr sz="1200" i="0">
                <a:solidFill>
                  <a:srgbClr val="03293B"/>
                </a:solidFill>
                <a:latin typeface="Calibri"/>
              </a:rPr>
              <a:t> (2009)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7085" y="5413248"/>
            <a:ext cx="2486396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i="0">
                <a:solidFill>
                  <a:srgbClr val="03293B"/>
                </a:solidFill>
                <a:latin typeface="Calibri"/>
              </a:rPr>
              <a:t>Jensen, </a:t>
            </a:r>
            <a:r>
              <a:rPr sz="1200" i="1">
                <a:solidFill>
                  <a:srgbClr val="03293B"/>
                </a:solidFill>
                <a:latin typeface="Calibri"/>
              </a:rPr>
              <a:t>Los exiliados</a:t>
            </a:r>
            <a:r>
              <a:rPr sz="1200" i="0">
                <a:solidFill>
                  <a:srgbClr val="03293B"/>
                </a:solidFill>
                <a:latin typeface="Calibri"/>
              </a:rPr>
              <a:t> (2010)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49585" y="5413248"/>
            <a:ext cx="2704551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i="0">
                <a:solidFill>
                  <a:srgbClr val="03293B"/>
                </a:solidFill>
                <a:latin typeface="Calibri"/>
              </a:rPr>
              <a:t>Sarlo, </a:t>
            </a:r>
            <a:r>
              <a:rPr sz="1200" i="1">
                <a:solidFill>
                  <a:srgbClr val="03293B"/>
                </a:solidFill>
                <a:latin typeface="Calibri"/>
              </a:rPr>
              <a:t>Tiempo pasado</a:t>
            </a:r>
            <a:r>
              <a:rPr sz="1200" i="0">
                <a:solidFill>
                  <a:srgbClr val="03293B"/>
                </a:solidFill>
                <a:latin typeface="Calibri"/>
              </a:rPr>
              <a:t> (2005)</a:t>
            </a:r>
          </a:p>
        </p:txBody>
      </p:sp>
    </p:spTree>
    <p:extLst>
      <p:ext uri="{BB962C8B-B14F-4D97-AF65-F5344CB8AC3E}">
        <p14:creationId xmlns:p14="http://schemas.microsoft.com/office/powerpoint/2010/main" val="3099145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63A0C-79F2-EDBC-2D96-BBC5FB1A2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38C7635-038F-ADE1-0B0E-D732E26554AE}"/>
              </a:ext>
            </a:extLst>
          </p:cNvPr>
          <p:cNvSpPr txBox="1"/>
          <p:nvPr/>
        </p:nvSpPr>
        <p:spPr>
          <a:xfrm>
            <a:off x="502920" y="320040"/>
            <a:ext cx="1115568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 dirty="0">
                <a:solidFill>
                  <a:srgbClr val="E73C23"/>
                </a:solidFill>
                <a:latin typeface="Calibri"/>
              </a:rPr>
              <a:t>ESTADO DE LA CUESTIÓN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B40EFC7-C7D8-3522-D270-67CE56BD7F63}"/>
              </a:ext>
            </a:extLst>
          </p:cNvPr>
          <p:cNvSpPr/>
          <p:nvPr/>
        </p:nvSpPr>
        <p:spPr>
          <a:xfrm>
            <a:off x="0" y="6199632"/>
            <a:ext cx="12191695" cy="20320"/>
          </a:xfrm>
          <a:prstGeom prst="rect">
            <a:avLst/>
          </a:prstGeom>
          <a:solidFill>
            <a:srgbClr val="03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logo_umu.png">
            <a:extLst>
              <a:ext uri="{FF2B5EF4-FFF2-40B4-BE49-F238E27FC236}">
                <a16:creationId xmlns:a16="http://schemas.microsoft.com/office/drawing/2014/main" id="{0272C9D5-D8AB-FF95-87F2-6A13874E44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355080"/>
            <a:ext cx="1181833" cy="38404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A4EF344-F8C0-8638-EB5A-FC3BFCE08ED7}"/>
              </a:ext>
            </a:extLst>
          </p:cNvPr>
          <p:cNvSpPr txBox="1"/>
          <p:nvPr/>
        </p:nvSpPr>
        <p:spPr>
          <a:xfrm>
            <a:off x="3108960" y="6327648"/>
            <a:ext cx="8686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73C23"/>
                </a:solidFill>
                <a:latin typeface="Calibri"/>
              </a:rPr>
              <a:t>LA VISIBILIDAD DEL CINE ARGENTINO EN ESPAÑA (1980-2000)</a:t>
            </a: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47B3F6FA-66FA-80D7-6C3B-657A3DECEC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8402" y="981962"/>
            <a:ext cx="2996302" cy="4235706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E4F7784A-C293-B1EB-049C-F5A86A53BC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2031" y="987551"/>
            <a:ext cx="2993164" cy="4235705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92E4D9AD-AC51-D8F9-3E11-688D8D6385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2010" y="981964"/>
            <a:ext cx="2993164" cy="423570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518402" y="5321808"/>
            <a:ext cx="299630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i="0">
                <a:solidFill>
                  <a:srgbClr val="03293B"/>
                </a:solidFill>
                <a:latin typeface="Calibri"/>
              </a:rPr>
              <a:t>González, «Cruzando el Atlántico» (2018)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32031" y="5321808"/>
            <a:ext cx="299316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i="0">
                <a:solidFill>
                  <a:srgbClr val="03293B"/>
                </a:solidFill>
                <a:latin typeface="Calibri"/>
              </a:rPr>
              <a:t>Rodríguez Marino, </a:t>
            </a:r>
            <a:r>
              <a:rPr sz="1200" i="1">
                <a:solidFill>
                  <a:srgbClr val="03293B"/>
                </a:solidFill>
                <a:latin typeface="Calibri"/>
              </a:rPr>
              <a:t>Figuras del destierro</a:t>
            </a:r>
            <a:r>
              <a:rPr sz="1200" i="0">
                <a:solidFill>
                  <a:srgbClr val="03293B"/>
                </a:solidFill>
                <a:latin typeface="Calibri"/>
              </a:rPr>
              <a:t> (2013)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72010" y="5321808"/>
            <a:ext cx="299316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i="0">
                <a:solidFill>
                  <a:srgbClr val="03293B"/>
                </a:solidFill>
                <a:latin typeface="Calibri"/>
              </a:rPr>
              <a:t>Elena, «La difusión del cine latinoamericano en España» (1998)</a:t>
            </a:r>
          </a:p>
        </p:txBody>
      </p:sp>
    </p:spTree>
    <p:extLst>
      <p:ext uri="{BB962C8B-B14F-4D97-AF65-F5344CB8AC3E}">
        <p14:creationId xmlns:p14="http://schemas.microsoft.com/office/powerpoint/2010/main" val="31720446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320040"/>
            <a:ext cx="1115568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 dirty="0">
                <a:solidFill>
                  <a:srgbClr val="00B0F0"/>
                </a:solidFill>
                <a:latin typeface="Calibri"/>
              </a:rPr>
              <a:t>HIPÓTESIS Y 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640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E73C23"/>
                </a:solidFill>
                <a:latin typeface="Calibri"/>
              </a:rPr>
              <a:t>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55448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dirty="0">
                <a:solidFill>
                  <a:srgbClr val="03293B"/>
                </a:solidFill>
                <a:latin typeface="Calibri"/>
              </a:rPr>
              <a:t>MEMORIA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0" i="0" dirty="0">
                <a:solidFill>
                  <a:srgbClr val="444444"/>
                </a:solidFill>
                <a:latin typeface="Calibri"/>
              </a:rPr>
              <a:t>El cine </a:t>
            </a:r>
            <a:r>
              <a:rPr sz="1550" b="0" i="0" dirty="0" err="1">
                <a:solidFill>
                  <a:srgbClr val="444444"/>
                </a:solidFill>
                <a:latin typeface="Calibri"/>
              </a:rPr>
              <a:t>argentino</a:t>
            </a:r>
            <a:r>
              <a:rPr sz="155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550" b="0" i="0" dirty="0" err="1">
                <a:solidFill>
                  <a:srgbClr val="444444"/>
                </a:solidFill>
                <a:latin typeface="Calibri"/>
              </a:rPr>
              <a:t>tuvo</a:t>
            </a:r>
            <a:r>
              <a:rPr sz="155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550" b="0" i="0" dirty="0" err="1">
                <a:solidFill>
                  <a:srgbClr val="444444"/>
                </a:solidFill>
                <a:latin typeface="Calibri"/>
              </a:rPr>
              <a:t>una</a:t>
            </a:r>
            <a:r>
              <a:rPr sz="155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550" b="0" i="0" dirty="0" err="1">
                <a:solidFill>
                  <a:srgbClr val="444444"/>
                </a:solidFill>
                <a:latin typeface="Calibri"/>
              </a:rPr>
              <a:t>recepción</a:t>
            </a:r>
            <a:r>
              <a:rPr sz="1550" b="0" i="0" dirty="0">
                <a:solidFill>
                  <a:srgbClr val="444444"/>
                </a:solidFill>
                <a:latin typeface="Calibri"/>
              </a:rPr>
              <a:t> singular </a:t>
            </a:r>
            <a:r>
              <a:rPr sz="1550" b="0" i="0" dirty="0" err="1">
                <a:solidFill>
                  <a:srgbClr val="444444"/>
                </a:solidFill>
                <a:latin typeface="Calibri"/>
              </a:rPr>
              <a:t>en</a:t>
            </a:r>
            <a:r>
              <a:rPr sz="1550" b="0" i="0" dirty="0">
                <a:solidFill>
                  <a:srgbClr val="444444"/>
                </a:solidFill>
                <a:latin typeface="Calibri"/>
              </a:rPr>
              <a:t> España </a:t>
            </a:r>
            <a:r>
              <a:rPr sz="1550" b="0" i="0" dirty="0" err="1">
                <a:solidFill>
                  <a:srgbClr val="444444"/>
                </a:solidFill>
                <a:latin typeface="Calibri"/>
              </a:rPr>
              <a:t>por</a:t>
            </a:r>
            <a:r>
              <a:rPr sz="155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550" b="0" i="0" dirty="0" err="1">
                <a:solidFill>
                  <a:srgbClr val="444444"/>
                </a:solidFill>
                <a:latin typeface="Calibri"/>
              </a:rPr>
              <a:t>tratar</a:t>
            </a:r>
            <a:r>
              <a:rPr sz="1550" b="0" i="0" dirty="0">
                <a:solidFill>
                  <a:srgbClr val="444444"/>
                </a:solidFill>
                <a:latin typeface="Calibri"/>
              </a:rPr>
              <a:t> la </a:t>
            </a:r>
            <a:r>
              <a:rPr sz="1550" b="0" i="0" dirty="0" err="1">
                <a:solidFill>
                  <a:srgbClr val="444444"/>
                </a:solidFill>
                <a:latin typeface="Calibri"/>
              </a:rPr>
              <a:t>represión</a:t>
            </a:r>
            <a:r>
              <a:rPr sz="155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550" b="0" i="0" dirty="0" err="1">
                <a:solidFill>
                  <a:srgbClr val="444444"/>
                </a:solidFill>
                <a:latin typeface="Calibri"/>
              </a:rPr>
              <a:t>política</a:t>
            </a:r>
            <a:r>
              <a:rPr sz="1550" b="0" i="0" dirty="0">
                <a:solidFill>
                  <a:srgbClr val="444444"/>
                </a:solidFill>
                <a:latin typeface="Calibri"/>
              </a:rPr>
              <a:t>, </a:t>
            </a:r>
            <a:r>
              <a:rPr sz="1550" b="0" i="0" dirty="0" err="1">
                <a:solidFill>
                  <a:srgbClr val="444444"/>
                </a:solidFill>
                <a:latin typeface="Calibri"/>
              </a:rPr>
              <a:t>reconocible</a:t>
            </a:r>
            <a:r>
              <a:rPr sz="155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550" b="0" i="0" dirty="0" err="1">
                <a:solidFill>
                  <a:srgbClr val="444444"/>
                </a:solidFill>
                <a:latin typeface="Calibri"/>
              </a:rPr>
              <a:t>desde</a:t>
            </a:r>
            <a:r>
              <a:rPr sz="1550" b="0" i="0" dirty="0">
                <a:solidFill>
                  <a:srgbClr val="444444"/>
                </a:solidFill>
                <a:latin typeface="Calibri"/>
              </a:rPr>
              <a:t> la </a:t>
            </a:r>
            <a:r>
              <a:rPr sz="1550" b="0" i="0" dirty="0" err="1">
                <a:solidFill>
                  <a:srgbClr val="444444"/>
                </a:solidFill>
                <a:latin typeface="Calibri"/>
              </a:rPr>
              <a:t>propia</a:t>
            </a:r>
            <a:r>
              <a:rPr sz="155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550" b="0" i="0" dirty="0" err="1">
                <a:solidFill>
                  <a:srgbClr val="444444"/>
                </a:solidFill>
                <a:latin typeface="Calibri"/>
              </a:rPr>
              <a:t>dictadura</a:t>
            </a:r>
            <a:r>
              <a:rPr sz="1550" b="0" i="0" dirty="0">
                <a:solidFill>
                  <a:srgbClr val="444444"/>
                </a:solidFill>
                <a:latin typeface="Calibri"/>
              </a:rPr>
              <a:t> y </a:t>
            </a:r>
            <a:r>
              <a:rPr sz="1550" b="0" i="0" dirty="0" err="1">
                <a:solidFill>
                  <a:srgbClr val="444444"/>
                </a:solidFill>
                <a:latin typeface="Calibri"/>
              </a:rPr>
              <a:t>transición</a:t>
            </a:r>
            <a:r>
              <a:rPr sz="155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550" b="0" i="0" dirty="0" err="1">
                <a:solidFill>
                  <a:srgbClr val="444444"/>
                </a:solidFill>
                <a:latin typeface="Calibri"/>
              </a:rPr>
              <a:t>españolas</a:t>
            </a:r>
            <a:r>
              <a:rPr sz="1550" b="0" i="0" dirty="0">
                <a:solidFill>
                  <a:srgbClr val="444444"/>
                </a:solidFill>
                <a:latin typeface="Calibri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640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E73C23"/>
                </a:solidFill>
                <a:latin typeface="Calibri"/>
              </a:rPr>
              <a:t>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92608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3293B"/>
                </a:solidFill>
                <a:latin typeface="Calibri"/>
              </a:rPr>
              <a:t>EXILIO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0" i="0">
                <a:solidFill>
                  <a:srgbClr val="444444"/>
                </a:solidFill>
                <a:latin typeface="Calibri"/>
              </a:rPr>
              <a:t>El exiliado argentino no fue un sujeto pasivo, sino un mediador cultural que tejió redes de intercambio artístico entre los dos países.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97680"/>
            <a:ext cx="640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E73C23"/>
                </a:solidFill>
                <a:latin typeface="Calibri"/>
              </a:rPr>
              <a:t>3.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429768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3293B"/>
                </a:solidFill>
                <a:latin typeface="Calibri"/>
              </a:rPr>
              <a:t>COPRODUCCIONES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0" i="0">
                <a:solidFill>
                  <a:srgbClr val="444444"/>
                </a:solidFill>
                <a:latin typeface="Calibri"/>
              </a:rPr>
              <a:t>Fueron una de las vías más eficaces de visibilidad del cine argentino, con sus posibilidades pero también con sus tensiones.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199632"/>
            <a:ext cx="12191695" cy="20320"/>
          </a:xfrm>
          <a:prstGeom prst="rect">
            <a:avLst/>
          </a:prstGeom>
          <a:solidFill>
            <a:srgbClr val="03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logo_um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355080"/>
            <a:ext cx="1181833" cy="38404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108960" y="6421596"/>
            <a:ext cx="8686800" cy="269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 dirty="0">
                <a:solidFill>
                  <a:srgbClr val="00B0F0"/>
                </a:solidFill>
                <a:latin typeface="Calibri"/>
              </a:rPr>
              <a:t>LA VISIBILIDAD DEL CINE ARGENTINO EN ESPAÑA (1980-2000)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320040"/>
            <a:ext cx="1115568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 dirty="0">
                <a:solidFill>
                  <a:srgbClr val="00B0F0"/>
                </a:solidFill>
                <a:latin typeface="Calibri"/>
              </a:rPr>
              <a:t>METODOLOGÍA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54179"/>
            <a:ext cx="2011680" cy="4924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 dirty="0">
                <a:solidFill>
                  <a:srgbClr val="00B0F0"/>
                </a:solidFill>
                <a:latin typeface="Calibri"/>
              </a:rPr>
              <a:t>MÉTODO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926080" y="1737360"/>
            <a:ext cx="685800" cy="256032"/>
          </a:xfrm>
          <a:prstGeom prst="rightArrow">
            <a:avLst/>
          </a:prstGeom>
          <a:solidFill>
            <a:srgbClr val="E73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749039" y="1417320"/>
            <a:ext cx="7589520" cy="960120"/>
          </a:xfrm>
          <a:prstGeom prst="roundRect">
            <a:avLst>
              <a:gd name="adj" fmla="val 18000"/>
            </a:avLst>
          </a:prstGeom>
          <a:solidFill>
            <a:srgbClr val="FFFEF5"/>
          </a:solidFill>
          <a:ln w="22225">
            <a:solidFill>
              <a:srgbClr val="E73C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bIns="54864" rtlCol="0" anchor="ctr"/>
          <a:lstStyle/>
          <a:p>
            <a:pPr algn="l"/>
            <a:r>
              <a:rPr sz="1600" b="1" i="0">
                <a:solidFill>
                  <a:srgbClr val="03293B"/>
                </a:solidFill>
                <a:latin typeface="Calibri"/>
              </a:rPr>
              <a:t>Análisis FORMAL: </a:t>
            </a:r>
            <a:r>
              <a:rPr sz="1600" b="0" i="0">
                <a:solidFill>
                  <a:srgbClr val="03293B"/>
                </a:solidFill>
                <a:latin typeface="Calibri"/>
              </a:rPr>
              <a:t>las películas como textos visuales (puesta en escena, espacio, luz, encuadre, montaje).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926080" y="3063240"/>
            <a:ext cx="685800" cy="256032"/>
          </a:xfrm>
          <a:prstGeom prst="rightArrow">
            <a:avLst/>
          </a:prstGeom>
          <a:solidFill>
            <a:srgbClr val="E73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749039" y="2743200"/>
            <a:ext cx="7589520" cy="960120"/>
          </a:xfrm>
          <a:prstGeom prst="roundRect">
            <a:avLst>
              <a:gd name="adj" fmla="val 18000"/>
            </a:avLst>
          </a:prstGeom>
          <a:solidFill>
            <a:srgbClr val="FFFEF5"/>
          </a:solidFill>
          <a:ln w="22225">
            <a:solidFill>
              <a:srgbClr val="E73C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bIns="54864" rtlCol="0" anchor="ctr"/>
          <a:lstStyle/>
          <a:p>
            <a:pPr algn="l"/>
            <a:r>
              <a:rPr sz="1600" b="1" i="0" dirty="0" err="1">
                <a:solidFill>
                  <a:srgbClr val="03293B"/>
                </a:solidFill>
                <a:latin typeface="Calibri"/>
              </a:rPr>
              <a:t>Aproximación</a:t>
            </a:r>
            <a:r>
              <a:rPr sz="1600" b="1" i="0" dirty="0">
                <a:solidFill>
                  <a:srgbClr val="03293B"/>
                </a:solidFill>
                <a:latin typeface="Calibri"/>
              </a:rPr>
              <a:t> HISTÓRICO-CULTURAL: </a:t>
            </a:r>
            <a:r>
              <a:rPr sz="1600" b="0" i="0" dirty="0" err="1">
                <a:solidFill>
                  <a:srgbClr val="03293B"/>
                </a:solidFill>
                <a:latin typeface="Calibri"/>
              </a:rPr>
              <a:t>contexto</a:t>
            </a:r>
            <a:r>
              <a:rPr sz="1600" b="0" i="0" dirty="0">
                <a:solidFill>
                  <a:srgbClr val="03293B"/>
                </a:solidFill>
                <a:latin typeface="Calibri"/>
              </a:rPr>
              <a:t> de </a:t>
            </a:r>
            <a:r>
              <a:rPr sz="1600" b="0" i="0" dirty="0" err="1">
                <a:solidFill>
                  <a:srgbClr val="03293B"/>
                </a:solidFill>
                <a:latin typeface="Calibri"/>
              </a:rPr>
              <a:t>dictadura</a:t>
            </a:r>
            <a:r>
              <a:rPr sz="1600" b="0" i="0" dirty="0">
                <a:solidFill>
                  <a:srgbClr val="03293B"/>
                </a:solidFill>
                <a:latin typeface="Calibri"/>
              </a:rPr>
              <a:t>, </a:t>
            </a:r>
            <a:r>
              <a:rPr sz="1600" b="0" i="0" dirty="0" err="1">
                <a:solidFill>
                  <a:srgbClr val="03293B"/>
                </a:solidFill>
                <a:latin typeface="Calibri"/>
              </a:rPr>
              <a:t>exilio</a:t>
            </a:r>
            <a:r>
              <a:rPr sz="1600" b="0" i="0" dirty="0">
                <a:solidFill>
                  <a:srgbClr val="03293B"/>
                </a:solidFill>
                <a:latin typeface="Calibri"/>
              </a:rPr>
              <a:t> y </a:t>
            </a:r>
            <a:r>
              <a:rPr sz="1600" b="0" i="0" dirty="0" err="1">
                <a:solidFill>
                  <a:srgbClr val="03293B"/>
                </a:solidFill>
                <a:latin typeface="Calibri"/>
              </a:rPr>
              <a:t>relaciones</a:t>
            </a:r>
            <a:r>
              <a:rPr sz="1600" b="0" i="0" dirty="0">
                <a:solidFill>
                  <a:srgbClr val="03293B"/>
                </a:solidFill>
                <a:latin typeface="Calibri"/>
              </a:rPr>
              <a:t> España-Argentina.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926080" y="4389120"/>
            <a:ext cx="685800" cy="256032"/>
          </a:xfrm>
          <a:prstGeom prst="rightArrow">
            <a:avLst/>
          </a:prstGeom>
          <a:solidFill>
            <a:srgbClr val="E73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749039" y="4069080"/>
            <a:ext cx="7589520" cy="960120"/>
          </a:xfrm>
          <a:prstGeom prst="roundRect">
            <a:avLst>
              <a:gd name="adj" fmla="val 18000"/>
            </a:avLst>
          </a:prstGeom>
          <a:solidFill>
            <a:srgbClr val="FFFEF5"/>
          </a:solidFill>
          <a:ln w="22225">
            <a:solidFill>
              <a:srgbClr val="E73C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bIns="54864" rtlCol="0" anchor="ctr"/>
          <a:lstStyle/>
          <a:p>
            <a:pPr algn="l"/>
            <a:r>
              <a:rPr sz="1600" b="1" i="0" dirty="0">
                <a:solidFill>
                  <a:srgbClr val="03293B"/>
                </a:solidFill>
                <a:latin typeface="Calibri"/>
              </a:rPr>
              <a:t>Fuentes: </a:t>
            </a:r>
            <a:r>
              <a:rPr sz="1600" b="0" i="0" dirty="0">
                <a:solidFill>
                  <a:srgbClr val="03293B"/>
                </a:solidFill>
                <a:latin typeface="Calibri"/>
              </a:rPr>
              <a:t>Amado, Sarlo, Jensen, Elena y González; </a:t>
            </a:r>
            <a:r>
              <a:rPr sz="1600" b="0" i="0" dirty="0" err="1">
                <a:solidFill>
                  <a:srgbClr val="03293B"/>
                </a:solidFill>
                <a:latin typeface="Calibri"/>
              </a:rPr>
              <a:t>pautas</a:t>
            </a:r>
            <a:r>
              <a:rPr sz="1600" b="0" i="0" dirty="0">
                <a:solidFill>
                  <a:srgbClr val="03293B"/>
                </a:solidFill>
                <a:latin typeface="Calibri"/>
              </a:rPr>
              <a:t> de </a:t>
            </a:r>
            <a:r>
              <a:rPr sz="1600" b="0" i="0" dirty="0" err="1">
                <a:solidFill>
                  <a:srgbClr val="03293B"/>
                </a:solidFill>
                <a:latin typeface="Calibri"/>
              </a:rPr>
              <a:t>Cánovas</a:t>
            </a:r>
            <a:r>
              <a:rPr sz="1600" b="0" i="0" dirty="0">
                <a:solidFill>
                  <a:srgbClr val="03293B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03293B"/>
                </a:solidFill>
                <a:latin typeface="Calibri"/>
              </a:rPr>
              <a:t>Belchí</a:t>
            </a:r>
            <a:r>
              <a:rPr sz="1600" b="0" i="0" dirty="0">
                <a:solidFill>
                  <a:srgbClr val="03293B"/>
                </a:solidFill>
                <a:latin typeface="Calibri"/>
              </a:rPr>
              <a:t> y Aliaga </a:t>
            </a:r>
            <a:r>
              <a:rPr sz="1600" b="0" i="0" dirty="0" err="1">
                <a:solidFill>
                  <a:srgbClr val="03293B"/>
                </a:solidFill>
                <a:latin typeface="Calibri"/>
              </a:rPr>
              <a:t>Cárceles</a:t>
            </a:r>
            <a:r>
              <a:rPr sz="1600" b="0" i="0" dirty="0">
                <a:solidFill>
                  <a:srgbClr val="03293B"/>
                </a:solidFill>
                <a:latin typeface="Calibri"/>
              </a:rPr>
              <a:t>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199632"/>
            <a:ext cx="12191695" cy="20320"/>
          </a:xfrm>
          <a:prstGeom prst="rect">
            <a:avLst/>
          </a:prstGeom>
          <a:solidFill>
            <a:srgbClr val="03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logo_um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355080"/>
            <a:ext cx="1181833" cy="38404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108960" y="6421596"/>
            <a:ext cx="8686800" cy="269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 dirty="0">
                <a:solidFill>
                  <a:srgbClr val="00B0F0"/>
                </a:solidFill>
                <a:latin typeface="Calibri"/>
              </a:rPr>
              <a:t>LA VISIBILIDAD DEL CINE ARGENTINO EN ESPAÑA (1980-2000)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EF2C9-C7FF-B09D-E918-06CA257E9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5E8B674-06B9-DEA5-E315-BCBF6E935457}"/>
              </a:ext>
            </a:extLst>
          </p:cNvPr>
          <p:cNvSpPr txBox="1"/>
          <p:nvPr/>
        </p:nvSpPr>
        <p:spPr>
          <a:xfrm>
            <a:off x="502920" y="320040"/>
            <a:ext cx="1115568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s-ES" sz="2600" b="1" i="0" dirty="0">
                <a:solidFill>
                  <a:srgbClr val="00B0F0"/>
                </a:solidFill>
                <a:latin typeface="Calibri"/>
              </a:rPr>
              <a:t>Contexto Histórico</a:t>
            </a:r>
            <a:endParaRPr sz="2600" b="1" i="0" dirty="0">
              <a:solidFill>
                <a:srgbClr val="00B0F0"/>
              </a:solidFill>
              <a:latin typeface="Calibri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0134281-9124-9BCA-6F06-ED8021554FFA}"/>
              </a:ext>
            </a:extLst>
          </p:cNvPr>
          <p:cNvSpPr/>
          <p:nvPr/>
        </p:nvSpPr>
        <p:spPr>
          <a:xfrm>
            <a:off x="0" y="6199632"/>
            <a:ext cx="12191695" cy="20320"/>
          </a:xfrm>
          <a:prstGeom prst="rect">
            <a:avLst/>
          </a:prstGeom>
          <a:solidFill>
            <a:srgbClr val="03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logo_umu.png">
            <a:extLst>
              <a:ext uri="{FF2B5EF4-FFF2-40B4-BE49-F238E27FC236}">
                <a16:creationId xmlns:a16="http://schemas.microsoft.com/office/drawing/2014/main" id="{2163F25E-F339-38EE-CFC7-991C2101C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355080"/>
            <a:ext cx="1181833" cy="38404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3E528BF-889A-6CF1-2FF5-F0400A382802}"/>
              </a:ext>
            </a:extLst>
          </p:cNvPr>
          <p:cNvSpPr txBox="1"/>
          <p:nvPr/>
        </p:nvSpPr>
        <p:spPr>
          <a:xfrm>
            <a:off x="3108960" y="6327648"/>
            <a:ext cx="8686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73C23"/>
                </a:solidFill>
                <a:latin typeface="Calibri"/>
              </a:rPr>
              <a:t>LA VISIBILIDAD DEL CINE ARGENTINO EN ESPAÑA (1980-2000)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D9CBC52-F2E5-72FE-D108-17AB2B5AA8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595" y="1163300"/>
            <a:ext cx="4789698" cy="3321656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9D1F72BB-2E9E-BE38-23BC-ECC70E98596F}"/>
              </a:ext>
            </a:extLst>
          </p:cNvPr>
          <p:cNvSpPr txBox="1"/>
          <p:nvPr/>
        </p:nvSpPr>
        <p:spPr>
          <a:xfrm>
            <a:off x="879595" y="4576562"/>
            <a:ext cx="49177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Juramento de Jorge Rafael Videla como Presidente de Argentina, 1976. Fuente: Wikipedia Commons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F7972E0-3C41-EF4D-DB74-AF8ED5F726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467773">
            <a:off x="5664148" y="2220972"/>
            <a:ext cx="1717120" cy="1717120"/>
          </a:xfrm>
          <a:prstGeom prst="rect">
            <a:avLst/>
          </a:prstGeom>
        </p:spPr>
      </p:pic>
      <p:graphicFrame>
        <p:nvGraphicFramePr>
          <p:cNvPr id="17" name="Diagrama 16">
            <a:extLst>
              <a:ext uri="{FF2B5EF4-FFF2-40B4-BE49-F238E27FC236}">
                <a16:creationId xmlns:a16="http://schemas.microsoft.com/office/drawing/2014/main" id="{E1523458-4384-1904-B878-C062167DACF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17532519"/>
              </p:ext>
            </p:extLst>
          </p:nvPr>
        </p:nvGraphicFramePr>
        <p:xfrm>
          <a:off x="5385688" y="370198"/>
          <a:ext cx="8570944" cy="61474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  <p:extLst>
      <p:ext uri="{BB962C8B-B14F-4D97-AF65-F5344CB8AC3E}">
        <p14:creationId xmlns:p14="http://schemas.microsoft.com/office/powerpoint/2010/main" val="4273382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ED6A9663-295E-4038-A688-9CCE9CE7CB9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ED6A9663-295E-4038-A688-9CCE9CE7CB9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ED6A9663-295E-4038-A688-9CCE9CE7CB9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ED6A9663-295E-4038-A688-9CCE9CE7CB9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ED6A9663-295E-4038-A688-9CCE9CE7CB9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ED6A9663-295E-4038-A688-9CCE9CE7CB9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ED6A9663-295E-4038-A688-9CCE9CE7CB9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ED6A9663-295E-4038-A688-9CCE9CE7CB93}"/>
                                            </p:graphic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ED6A9663-295E-4038-A688-9CCE9CE7CB93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ED6A9663-295E-4038-A688-9CCE9CE7CB93}"/>
                                            </p:graphic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ED6A9663-295E-4038-A688-9CCE9CE7CB93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ED6A9663-295E-4038-A688-9CCE9CE7CB93}"/>
                                            </p:graphic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ED6A9663-295E-4038-A688-9CCE9CE7CB93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ED6A9663-295E-4038-A688-9CCE9CE7CB93}"/>
                                            </p:graphic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ED6A9663-295E-4038-A688-9CCE9CE7CB93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F79A9D02-9F0C-43B4-B4AE-655ED77922D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F79A9D02-9F0C-43B4-B4AE-655ED77922D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F79A9D02-9F0C-43B4-B4AE-655ED77922D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F79A9D02-9F0C-43B4-B4AE-655ED77922D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F79A9D02-9F0C-43B4-B4AE-655ED77922D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F79A9D02-9F0C-43B4-B4AE-655ED77922D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F79A9D02-9F0C-43B4-B4AE-655ED77922D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F79A9D02-9F0C-43B4-B4AE-655ED77922D5}"/>
                                            </p:graphic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F79A9D02-9F0C-43B4-B4AE-655ED77922D5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F79A9D02-9F0C-43B4-B4AE-655ED77922D5}"/>
                                            </p:graphic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F79A9D02-9F0C-43B4-B4AE-655ED77922D5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F79A9D02-9F0C-43B4-B4AE-655ED77922D5}"/>
                                            </p:graphic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F79A9D02-9F0C-43B4-B4AE-655ED77922D5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F79A9D02-9F0C-43B4-B4AE-655ED77922D5}"/>
                                            </p:graphic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F79A9D02-9F0C-43B4-B4AE-655ED77922D5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30B74E32-CE19-47D8-A805-CCEA56DCBA0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30B74E32-CE19-47D8-A805-CCEA56DCBA0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30B74E32-CE19-47D8-A805-CCEA56DCBA0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30B74E32-CE19-47D8-A805-CCEA56DCBA0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30B74E32-CE19-47D8-A805-CCEA56DCBA0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30B74E32-CE19-47D8-A805-CCEA56DCBA0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30B74E32-CE19-47D8-A805-CCEA56DCBA0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30B74E32-CE19-47D8-A805-CCEA56DCBA00}"/>
                                            </p:graphic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30B74E32-CE19-47D8-A805-CCEA56DCBA00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30B74E32-CE19-47D8-A805-CCEA56DCBA00}"/>
                                            </p:graphic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30B74E32-CE19-47D8-A805-CCEA56DCBA00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30B74E32-CE19-47D8-A805-CCEA56DCBA00}"/>
                                            </p:graphic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30B74E32-CE19-47D8-A805-CCEA56DCBA00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30B74E32-CE19-47D8-A805-CCEA56DCBA00}"/>
                                            </p:graphic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30B74E32-CE19-47D8-A805-CCEA56DCBA00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86318317-CCC4-403D-A807-0D47500A3BF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86318317-CCC4-403D-A807-0D47500A3BF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86318317-CCC4-403D-A807-0D47500A3BF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86318317-CCC4-403D-A807-0D47500A3BF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86318317-CCC4-403D-A807-0D47500A3BF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86318317-CCC4-403D-A807-0D47500A3BF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86318317-CCC4-403D-A807-0D47500A3BF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86318317-CCC4-403D-A807-0D47500A3BFD}"/>
                                            </p:graphic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86318317-CCC4-403D-A807-0D47500A3BFD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86318317-CCC4-403D-A807-0D47500A3BFD}"/>
                                            </p:graphic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86318317-CCC4-403D-A807-0D47500A3BFD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86318317-CCC4-403D-A807-0D47500A3BFD}"/>
                                            </p:graphic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86318317-CCC4-403D-A807-0D47500A3BFD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86318317-CCC4-403D-A807-0D47500A3BFD}"/>
                                            </p:graphic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86318317-CCC4-403D-A807-0D47500A3BFD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D5F22D21-DECA-45D9-AEFF-B66C285F25F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D5F22D21-DECA-45D9-AEFF-B66C285F25F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D5F22D21-DECA-45D9-AEFF-B66C285F25F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D5F22D21-DECA-45D9-AEFF-B66C285F25F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D5F22D21-DECA-45D9-AEFF-B66C285F25F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D5F22D21-DECA-45D9-AEFF-B66C285F25F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D5F22D21-DECA-45D9-AEFF-B66C285F25F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D5F22D21-DECA-45D9-AEFF-B66C285F25FD}"/>
                                            </p:graphic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D5F22D21-DECA-45D9-AEFF-B66C285F25FD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D5F22D21-DECA-45D9-AEFF-B66C285F25FD}"/>
                                            </p:graphic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D5F22D21-DECA-45D9-AEFF-B66C285F25FD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D5F22D21-DECA-45D9-AEFF-B66C285F25FD}"/>
                                            </p:graphic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D5F22D21-DECA-45D9-AEFF-B66C285F25FD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D5F22D21-DECA-45D9-AEFF-B66C285F25FD}"/>
                                            </p:graphic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D5F22D21-DECA-45D9-AEFF-B66C285F25FD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C722118C-AC57-4D2C-913C-DDEAF9A3743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C722118C-AC57-4D2C-913C-DDEAF9A3743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C722118C-AC57-4D2C-913C-DDEAF9A3743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C722118C-AC57-4D2C-913C-DDEAF9A3743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C722118C-AC57-4D2C-913C-DDEAF9A3743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C722118C-AC57-4D2C-913C-DDEAF9A3743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C722118C-AC57-4D2C-913C-DDEAF9A3743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C722118C-AC57-4D2C-913C-DDEAF9A3743B}"/>
                                            </p:graphic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C722118C-AC57-4D2C-913C-DDEAF9A3743B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C722118C-AC57-4D2C-913C-DDEAF9A3743B}"/>
                                            </p:graphic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C722118C-AC57-4D2C-913C-DDEAF9A3743B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C722118C-AC57-4D2C-913C-DDEAF9A3743B}"/>
                                            </p:graphic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C722118C-AC57-4D2C-913C-DDEAF9A3743B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C722118C-AC57-4D2C-913C-DDEAF9A3743B}"/>
                                            </p:graphic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C722118C-AC57-4D2C-913C-DDEAF9A3743B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6F5BEE3D-C7E1-4DC5-A325-04231B6D01A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6F5BEE3D-C7E1-4DC5-A325-04231B6D01A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6F5BEE3D-C7E1-4DC5-A325-04231B6D01A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6F5BEE3D-C7E1-4DC5-A325-04231B6D01A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6F5BEE3D-C7E1-4DC5-A325-04231B6D01A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6F5BEE3D-C7E1-4DC5-A325-04231B6D01A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6F5BEE3D-C7E1-4DC5-A325-04231B6D01A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1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6F5BEE3D-C7E1-4DC5-A325-04231B6D01A9}"/>
                                            </p:graphic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6F5BEE3D-C7E1-4DC5-A325-04231B6D01A9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6F5BEE3D-C7E1-4DC5-A325-04231B6D01A9}"/>
                                            </p:graphic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2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6F5BEE3D-C7E1-4DC5-A325-04231B6D01A9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6F5BEE3D-C7E1-4DC5-A325-04231B6D01A9}"/>
                                            </p:graphic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2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6F5BEE3D-C7E1-4DC5-A325-04231B6D01A9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6F5BEE3D-C7E1-4DC5-A325-04231B6D01A9}"/>
                                            </p:graphic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2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6F5BEE3D-C7E1-4DC5-A325-04231B6D01A9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7" grpId="0" uiExpand="1">
        <p:bldSub>
          <a:bldDgm bld="one"/>
        </p:bldSub>
      </p:bldGraphic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462566"/>
            <a:ext cx="11155680" cy="4462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1" i="0" dirty="0">
                <a:solidFill>
                  <a:srgbClr val="03293B"/>
                </a:solidFill>
                <a:latin typeface="Calibri"/>
              </a:rPr>
              <a:t>DOS SOCIEDADES, UNA MEMORIA COMPARTIDA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14324" y="1560201"/>
            <a:ext cx="512064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i="0" dirty="0">
                <a:solidFill>
                  <a:srgbClr val="00B0F0"/>
                </a:solidFill>
                <a:latin typeface="Calibri"/>
              </a:rPr>
              <a:t>ARGENTINA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9632" y="1971690"/>
            <a:ext cx="3782727" cy="1823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1" i="0" dirty="0" err="1">
                <a:solidFill>
                  <a:srgbClr val="444444"/>
                </a:solidFill>
                <a:latin typeface="Calibri"/>
              </a:rPr>
              <a:t>Dictadura</a:t>
            </a:r>
            <a:r>
              <a:rPr sz="2000" b="1" i="0" dirty="0">
                <a:solidFill>
                  <a:srgbClr val="444444"/>
                </a:solidFill>
                <a:latin typeface="Calibri"/>
              </a:rPr>
              <a:t> (1976-1983): </a:t>
            </a:r>
            <a:r>
              <a:rPr sz="2000" b="0" i="0" dirty="0" err="1">
                <a:solidFill>
                  <a:srgbClr val="444444"/>
                </a:solidFill>
                <a:latin typeface="Calibri"/>
              </a:rPr>
              <a:t>secuestro</a:t>
            </a:r>
            <a:r>
              <a:rPr sz="2000" b="0" i="0" dirty="0">
                <a:solidFill>
                  <a:srgbClr val="444444"/>
                </a:solidFill>
                <a:latin typeface="Calibri"/>
              </a:rPr>
              <a:t>, </a:t>
            </a:r>
            <a:r>
              <a:rPr sz="2000" b="0" i="0" dirty="0" err="1">
                <a:solidFill>
                  <a:srgbClr val="444444"/>
                </a:solidFill>
                <a:latin typeface="Calibri"/>
              </a:rPr>
              <a:t>tortura</a:t>
            </a:r>
            <a:r>
              <a:rPr sz="2000" b="0" i="0" dirty="0">
                <a:solidFill>
                  <a:srgbClr val="444444"/>
                </a:solidFill>
                <a:latin typeface="Calibri"/>
              </a:rPr>
              <a:t> y </a:t>
            </a:r>
            <a:r>
              <a:rPr sz="2000" b="0" i="0" dirty="0" err="1">
                <a:solidFill>
                  <a:srgbClr val="444444"/>
                </a:solidFill>
                <a:latin typeface="Calibri"/>
              </a:rPr>
              <a:t>desaparición</a:t>
            </a:r>
            <a:r>
              <a:rPr sz="2000" b="0" i="0" dirty="0">
                <a:solidFill>
                  <a:srgbClr val="444444"/>
                </a:solidFill>
                <a:latin typeface="Calibri"/>
              </a:rPr>
              <a:t>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0" i="0" dirty="0">
                <a:solidFill>
                  <a:srgbClr val="444444"/>
                </a:solidFill>
                <a:latin typeface="Calibri"/>
              </a:rPr>
              <a:t>El </a:t>
            </a:r>
            <a:r>
              <a:rPr sz="2000" b="0" i="0" dirty="0" err="1">
                <a:solidFill>
                  <a:srgbClr val="444444"/>
                </a:solidFill>
                <a:latin typeface="Calibri"/>
              </a:rPr>
              <a:t>exilio</a:t>
            </a:r>
            <a:r>
              <a:rPr sz="2000" b="0" i="0" dirty="0">
                <a:solidFill>
                  <a:srgbClr val="444444"/>
                </a:solidFill>
                <a:latin typeface="Calibri"/>
              </a:rPr>
              <a:t> se </a:t>
            </a:r>
            <a:r>
              <a:rPr sz="2000" b="0" i="0" dirty="0" err="1">
                <a:solidFill>
                  <a:srgbClr val="444444"/>
                </a:solidFill>
                <a:latin typeface="Calibri"/>
              </a:rPr>
              <a:t>vuelve</a:t>
            </a:r>
            <a:r>
              <a:rPr sz="20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444444"/>
                </a:solidFill>
                <a:latin typeface="Calibri"/>
              </a:rPr>
              <a:t>necesidad</a:t>
            </a:r>
            <a:r>
              <a:rPr sz="2000" b="0" i="0" dirty="0">
                <a:solidFill>
                  <a:srgbClr val="444444"/>
                </a:solidFill>
                <a:latin typeface="Calibri"/>
              </a:rPr>
              <a:t> de </a:t>
            </a:r>
            <a:r>
              <a:rPr sz="2000" b="0" i="0" dirty="0" err="1">
                <a:solidFill>
                  <a:srgbClr val="444444"/>
                </a:solidFill>
                <a:latin typeface="Calibri"/>
              </a:rPr>
              <a:t>supervivencia</a:t>
            </a:r>
            <a:r>
              <a:rPr sz="20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2000" b="1" i="0" dirty="0">
                <a:solidFill>
                  <a:srgbClr val="444444"/>
                </a:solidFill>
                <a:latin typeface="Calibri"/>
              </a:rPr>
              <a:t>(Briski, Guevara, Alterio).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46220" y="1718109"/>
            <a:ext cx="50292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i="0" dirty="0">
                <a:solidFill>
                  <a:srgbClr val="00B0F0"/>
                </a:solidFill>
                <a:latin typeface="Calibri"/>
              </a:rPr>
              <a:t>ESPAÑA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79371" y="2119001"/>
            <a:ext cx="3997466" cy="15001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1" i="0" dirty="0">
                <a:solidFill>
                  <a:srgbClr val="444444"/>
                </a:solidFill>
                <a:latin typeface="Calibri"/>
              </a:rPr>
              <a:t>Muerte de Franco (1975) </a:t>
            </a:r>
            <a:r>
              <a:rPr sz="2000" b="0" i="0" dirty="0">
                <a:solidFill>
                  <a:srgbClr val="444444"/>
                </a:solidFill>
                <a:latin typeface="Calibri"/>
              </a:rPr>
              <a:t>y </a:t>
            </a:r>
            <a:r>
              <a:rPr sz="2000" b="0" i="0" dirty="0" err="1">
                <a:solidFill>
                  <a:srgbClr val="444444"/>
                </a:solidFill>
                <a:latin typeface="Calibri"/>
              </a:rPr>
              <a:t>transición</a:t>
            </a:r>
            <a:r>
              <a:rPr sz="20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444444"/>
                </a:solidFill>
                <a:latin typeface="Calibri"/>
              </a:rPr>
              <a:t>democrática</a:t>
            </a:r>
            <a:r>
              <a:rPr sz="2000" b="0" i="0" dirty="0">
                <a:solidFill>
                  <a:srgbClr val="444444"/>
                </a:solidFill>
                <a:latin typeface="Calibri"/>
              </a:rPr>
              <a:t>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0" i="0" dirty="0">
                <a:solidFill>
                  <a:srgbClr val="444444"/>
                </a:solidFill>
                <a:latin typeface="Calibri"/>
              </a:rPr>
              <a:t>Madrid y Barcelona, </a:t>
            </a:r>
            <a:r>
              <a:rPr sz="2000" b="1" i="0" dirty="0" err="1">
                <a:solidFill>
                  <a:srgbClr val="444444"/>
                </a:solidFill>
                <a:latin typeface="Calibri"/>
              </a:rPr>
              <a:t>espacios</a:t>
            </a:r>
            <a:r>
              <a:rPr sz="2000" b="1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2000" b="1" i="0" dirty="0" err="1">
                <a:solidFill>
                  <a:srgbClr val="444444"/>
                </a:solidFill>
                <a:latin typeface="Calibri"/>
              </a:rPr>
              <a:t>receptivos</a:t>
            </a:r>
            <a:r>
              <a:rPr sz="2000" b="1" i="0" dirty="0">
                <a:solidFill>
                  <a:srgbClr val="444444"/>
                </a:solidFill>
                <a:latin typeface="Calibri"/>
              </a:rPr>
              <a:t> para </a:t>
            </a:r>
            <a:r>
              <a:rPr sz="2000" b="1" i="0" dirty="0" err="1">
                <a:solidFill>
                  <a:srgbClr val="444444"/>
                </a:solidFill>
                <a:latin typeface="Calibri"/>
              </a:rPr>
              <a:t>el</a:t>
            </a:r>
            <a:r>
              <a:rPr sz="2000" b="1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2000" b="1" i="0" dirty="0" err="1">
                <a:solidFill>
                  <a:srgbClr val="444444"/>
                </a:solidFill>
                <a:latin typeface="Calibri"/>
              </a:rPr>
              <a:t>exilio</a:t>
            </a:r>
            <a:r>
              <a:rPr sz="2000" b="1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2000" b="1" i="0" dirty="0" err="1">
                <a:solidFill>
                  <a:srgbClr val="444444"/>
                </a:solidFill>
                <a:latin typeface="Calibri"/>
              </a:rPr>
              <a:t>argentino</a:t>
            </a:r>
            <a:r>
              <a:rPr sz="2000" b="1" i="0" dirty="0">
                <a:solidFill>
                  <a:srgbClr val="444444"/>
                </a:solidFill>
                <a:latin typeface="Calibri"/>
              </a:rPr>
              <a:t>.</a:t>
            </a:r>
            <a:endParaRPr lang="es-ES" sz="2000" b="1" i="0" dirty="0">
              <a:solidFill>
                <a:srgbClr val="444444"/>
              </a:solidFill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188720" y="4937760"/>
            <a:ext cx="9784080" cy="914400"/>
          </a:xfrm>
          <a:prstGeom prst="roundRect">
            <a:avLst/>
          </a:prstGeom>
          <a:solidFill>
            <a:srgbClr val="03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i="0" dirty="0">
                <a:solidFill>
                  <a:srgbClr val="FFFEF5"/>
                </a:solidFill>
                <a:latin typeface="Calibri"/>
              </a:rPr>
              <a:t>Dos </a:t>
            </a:r>
            <a:r>
              <a:rPr sz="1600" b="1" i="0" dirty="0" err="1">
                <a:solidFill>
                  <a:srgbClr val="FFFEF5"/>
                </a:solidFill>
                <a:latin typeface="Calibri"/>
              </a:rPr>
              <a:t>países</a:t>
            </a:r>
            <a:r>
              <a:rPr sz="1600" b="1" i="0" dirty="0">
                <a:solidFill>
                  <a:srgbClr val="FFFEF5"/>
                </a:solidFill>
                <a:latin typeface="Calibri"/>
              </a:rPr>
              <a:t> </a:t>
            </a:r>
            <a:r>
              <a:rPr sz="1600" b="1" i="0" dirty="0" err="1">
                <a:solidFill>
                  <a:srgbClr val="FFFEF5"/>
                </a:solidFill>
                <a:latin typeface="Calibri"/>
              </a:rPr>
              <a:t>que</a:t>
            </a:r>
            <a:r>
              <a:rPr sz="1600" b="1" i="0" dirty="0">
                <a:solidFill>
                  <a:srgbClr val="FFFEF5"/>
                </a:solidFill>
                <a:latin typeface="Calibri"/>
              </a:rPr>
              <a:t> </a:t>
            </a:r>
            <a:r>
              <a:rPr sz="1600" b="1" i="0" dirty="0" err="1">
                <a:solidFill>
                  <a:srgbClr val="FFFEF5"/>
                </a:solidFill>
                <a:latin typeface="Calibri"/>
              </a:rPr>
              <a:t>salían</a:t>
            </a:r>
            <a:r>
              <a:rPr sz="1600" b="1" i="0" dirty="0">
                <a:solidFill>
                  <a:srgbClr val="FFFEF5"/>
                </a:solidFill>
                <a:latin typeface="Calibri"/>
              </a:rPr>
              <a:t> de la </a:t>
            </a:r>
            <a:r>
              <a:rPr sz="1600" b="1" i="0" dirty="0" err="1">
                <a:solidFill>
                  <a:srgbClr val="FFFEF5"/>
                </a:solidFill>
                <a:latin typeface="Calibri"/>
              </a:rPr>
              <a:t>violencia</a:t>
            </a:r>
            <a:r>
              <a:rPr sz="1600" b="1" i="0" dirty="0">
                <a:solidFill>
                  <a:srgbClr val="FFFEF5"/>
                </a:solidFill>
                <a:latin typeface="Calibri"/>
              </a:rPr>
              <a:t> de Estado se </a:t>
            </a:r>
            <a:r>
              <a:rPr sz="1600" b="1" i="0" dirty="0" err="1">
                <a:solidFill>
                  <a:srgbClr val="FFFEF5"/>
                </a:solidFill>
                <a:latin typeface="Calibri"/>
              </a:rPr>
              <a:t>reconocen</a:t>
            </a:r>
            <a:r>
              <a:rPr sz="1600" b="1" i="0" dirty="0">
                <a:solidFill>
                  <a:srgbClr val="FFFEF5"/>
                </a:solidFill>
                <a:latin typeface="Calibri"/>
              </a:rPr>
              <a:t> </a:t>
            </a:r>
            <a:r>
              <a:rPr sz="1600" b="1" i="0" dirty="0" err="1">
                <a:solidFill>
                  <a:srgbClr val="FFFEF5"/>
                </a:solidFill>
                <a:latin typeface="Calibri"/>
              </a:rPr>
              <a:t>en</a:t>
            </a:r>
            <a:r>
              <a:rPr sz="1600" b="1" i="0" dirty="0">
                <a:solidFill>
                  <a:srgbClr val="FFFEF5"/>
                </a:solidFill>
                <a:latin typeface="Calibri"/>
              </a:rPr>
              <a:t> las </a:t>
            </a:r>
            <a:r>
              <a:rPr sz="1600" b="1" i="0" dirty="0" err="1">
                <a:solidFill>
                  <a:srgbClr val="FFFEF5"/>
                </a:solidFill>
                <a:latin typeface="Calibri"/>
              </a:rPr>
              <a:t>mismas</a:t>
            </a:r>
            <a:r>
              <a:rPr sz="1600" b="1" i="0" dirty="0">
                <a:solidFill>
                  <a:srgbClr val="FFFEF5"/>
                </a:solidFill>
                <a:latin typeface="Calibri"/>
              </a:rPr>
              <a:t> </a:t>
            </a:r>
            <a:r>
              <a:rPr sz="1600" b="1" i="0" dirty="0" err="1">
                <a:solidFill>
                  <a:srgbClr val="FFFEF5"/>
                </a:solidFill>
                <a:latin typeface="Calibri"/>
              </a:rPr>
              <a:t>imágenes</a:t>
            </a:r>
            <a:r>
              <a:rPr sz="1600" b="1" i="0" dirty="0">
                <a:solidFill>
                  <a:srgbClr val="FFFEF5"/>
                </a:solidFill>
                <a:latin typeface="Calibri"/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199632"/>
            <a:ext cx="12191695" cy="20320"/>
          </a:xfrm>
          <a:prstGeom prst="rect">
            <a:avLst/>
          </a:prstGeom>
          <a:solidFill>
            <a:srgbClr val="03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logo_um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355080"/>
            <a:ext cx="1181833" cy="3840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108960" y="6421596"/>
            <a:ext cx="8686800" cy="269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 dirty="0">
                <a:solidFill>
                  <a:srgbClr val="00B0F0"/>
                </a:solidFill>
                <a:latin typeface="Calibri"/>
              </a:rPr>
              <a:t>LA VISIBILIDAD DEL CINE ARGENTINO EN ESPAÑA (1980-2000)</a:t>
            </a:r>
          </a:p>
        </p:txBody>
      </p:sp>
      <p:pic>
        <p:nvPicPr>
          <p:cNvPr id="13" name="Gráfico 12" descr="Nudo de cuerda con relleno sólido">
            <a:extLst>
              <a:ext uri="{FF2B5EF4-FFF2-40B4-BE49-F238E27FC236}">
                <a16:creationId xmlns:a16="http://schemas.microsoft.com/office/drawing/2014/main" id="{7957E46F-A502-A4FB-FAA3-2DB2856BBC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019556">
            <a:off x="4553482" y="753908"/>
            <a:ext cx="2241758" cy="224175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" name="Diagrama 34">
            <a:extLst>
              <a:ext uri="{FF2B5EF4-FFF2-40B4-BE49-F238E27FC236}">
                <a16:creationId xmlns:a16="http://schemas.microsoft.com/office/drawing/2014/main" id="{0CC64443-9643-D2BA-124E-A694677BC1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74194278"/>
              </p:ext>
            </p:extLst>
          </p:nvPr>
        </p:nvGraphicFramePr>
        <p:xfrm>
          <a:off x="274320" y="-29811"/>
          <a:ext cx="11644778" cy="31141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502920" y="320040"/>
            <a:ext cx="11155680" cy="4462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1" i="0" dirty="0">
                <a:solidFill>
                  <a:srgbClr val="00B0F0"/>
                </a:solidFill>
                <a:latin typeface="Calibri"/>
              </a:rPr>
              <a:t>LA MEMORIA EN PANTALLA: DE LOS 80 A LOS 90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91640"/>
            <a:ext cx="512064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endParaRPr sz="1800" b="1" i="0" dirty="0">
              <a:solidFill>
                <a:srgbClr val="E73C23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6931" y="2463265"/>
            <a:ext cx="5632320" cy="166045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900"/>
              </a:spcAft>
            </a:pPr>
            <a:r>
              <a:rPr sz="2000" b="1" i="0" dirty="0" err="1">
                <a:solidFill>
                  <a:srgbClr val="444444"/>
                </a:solidFill>
                <a:latin typeface="Calibri"/>
              </a:rPr>
              <a:t>Realismo</a:t>
            </a:r>
            <a:r>
              <a:rPr sz="2000" b="1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2000" b="1" i="0" dirty="0" err="1">
                <a:solidFill>
                  <a:srgbClr val="444444"/>
                </a:solidFill>
                <a:latin typeface="Calibri"/>
              </a:rPr>
              <a:t>afectivo</a:t>
            </a:r>
            <a:r>
              <a:rPr sz="2000" b="0" i="0" dirty="0">
                <a:solidFill>
                  <a:srgbClr val="444444"/>
                </a:solidFill>
                <a:latin typeface="Calibri"/>
              </a:rPr>
              <a:t> y «</a:t>
            </a:r>
            <a:r>
              <a:rPr sz="2000" b="0" i="0" dirty="0" err="1">
                <a:solidFill>
                  <a:srgbClr val="444444"/>
                </a:solidFill>
                <a:latin typeface="Calibri"/>
              </a:rPr>
              <a:t>imaginación</a:t>
            </a:r>
            <a:r>
              <a:rPr sz="20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444444"/>
                </a:solidFill>
                <a:latin typeface="Calibri"/>
              </a:rPr>
              <a:t>melodramática</a:t>
            </a:r>
            <a:r>
              <a:rPr sz="2000" b="0" i="0" dirty="0">
                <a:solidFill>
                  <a:srgbClr val="444444"/>
                </a:solidFill>
                <a:latin typeface="Calibri"/>
              </a:rPr>
              <a:t>».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900"/>
              </a:spcAft>
            </a:pPr>
            <a:r>
              <a:rPr sz="2000" b="0" i="0" dirty="0" err="1">
                <a:solidFill>
                  <a:srgbClr val="444444"/>
                </a:solidFill>
                <a:latin typeface="Calibri"/>
              </a:rPr>
              <a:t>Vocación</a:t>
            </a:r>
            <a:r>
              <a:rPr sz="20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444444"/>
                </a:solidFill>
                <a:latin typeface="Calibri"/>
              </a:rPr>
              <a:t>didáctica</a:t>
            </a:r>
            <a:r>
              <a:rPr sz="2000" b="0" i="0" dirty="0">
                <a:solidFill>
                  <a:srgbClr val="444444"/>
                </a:solidFill>
                <a:latin typeface="Calibri"/>
              </a:rPr>
              <a:t>, </a:t>
            </a:r>
            <a:r>
              <a:rPr sz="2000" b="0" i="0" dirty="0" err="1">
                <a:solidFill>
                  <a:srgbClr val="444444"/>
                </a:solidFill>
                <a:latin typeface="Calibri"/>
              </a:rPr>
              <a:t>relatos</a:t>
            </a:r>
            <a:r>
              <a:rPr sz="2000" b="0" i="0" dirty="0">
                <a:solidFill>
                  <a:srgbClr val="444444"/>
                </a:solidFill>
                <a:latin typeface="Calibri"/>
              </a:rPr>
              <a:t> claros y </a:t>
            </a:r>
            <a:r>
              <a:rPr sz="2000" b="0" i="0" dirty="0" err="1">
                <a:solidFill>
                  <a:srgbClr val="444444"/>
                </a:solidFill>
                <a:latin typeface="Calibri"/>
              </a:rPr>
              <a:t>directos</a:t>
            </a:r>
            <a:r>
              <a:rPr sz="2000" b="0" i="0" dirty="0">
                <a:solidFill>
                  <a:srgbClr val="444444"/>
                </a:solidFill>
                <a:latin typeface="Calibri"/>
              </a:rPr>
              <a:t>.</a:t>
            </a:r>
            <a:r>
              <a:rPr lang="es-ES" sz="2000" b="0" i="0" dirty="0">
                <a:solidFill>
                  <a:srgbClr val="444444"/>
                </a:solidFill>
                <a:latin typeface="Calibri"/>
              </a:rPr>
              <a:t> </a:t>
            </a:r>
            <a:endParaRPr sz="2000" b="0" i="0" dirty="0">
              <a:solidFill>
                <a:srgbClr val="444444"/>
              </a:solidFill>
              <a:latin typeface="Calibri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900"/>
              </a:spcAft>
            </a:pPr>
            <a:r>
              <a:rPr sz="2000" b="1" i="0" dirty="0">
                <a:solidFill>
                  <a:srgbClr val="444444"/>
                </a:solidFill>
                <a:latin typeface="Calibri"/>
              </a:rPr>
              <a:t>El </a:t>
            </a:r>
            <a:r>
              <a:rPr sz="2000" b="1" i="0" dirty="0" err="1">
                <a:solidFill>
                  <a:srgbClr val="444444"/>
                </a:solidFill>
                <a:latin typeface="Calibri"/>
              </a:rPr>
              <a:t>espacio</a:t>
            </a:r>
            <a:r>
              <a:rPr sz="2000" b="1" i="0" dirty="0">
                <a:solidFill>
                  <a:srgbClr val="444444"/>
                </a:solidFill>
                <a:latin typeface="Calibri"/>
              </a:rPr>
              <a:t> familiar </a:t>
            </a:r>
            <a:r>
              <a:rPr sz="2000" b="0" i="0" dirty="0" err="1">
                <a:solidFill>
                  <a:srgbClr val="444444"/>
                </a:solidFill>
                <a:latin typeface="Calibri"/>
              </a:rPr>
              <a:t>como</a:t>
            </a:r>
            <a:r>
              <a:rPr sz="20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444444"/>
                </a:solidFill>
                <a:latin typeface="Calibri"/>
              </a:rPr>
              <a:t>espejo</a:t>
            </a:r>
            <a:r>
              <a:rPr sz="2000" b="0" i="0" dirty="0">
                <a:solidFill>
                  <a:srgbClr val="444444"/>
                </a:solidFill>
                <a:latin typeface="Calibri"/>
              </a:rPr>
              <a:t> de la </a:t>
            </a:r>
            <a:r>
              <a:rPr sz="2000" b="0" i="0" dirty="0" err="1">
                <a:solidFill>
                  <a:srgbClr val="444444"/>
                </a:solidFill>
                <a:latin typeface="Calibri"/>
              </a:rPr>
              <a:t>sociedad</a:t>
            </a:r>
            <a:r>
              <a:rPr sz="2000" b="0" i="0" dirty="0">
                <a:solidFill>
                  <a:srgbClr val="444444"/>
                </a:solidFill>
                <a:latin typeface="Calibri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82685" y="2520974"/>
            <a:ext cx="4909315" cy="21221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900"/>
              </a:spcAft>
            </a:pPr>
            <a:r>
              <a:rPr sz="2000" b="1" i="0" dirty="0" err="1">
                <a:solidFill>
                  <a:srgbClr val="444444"/>
                </a:solidFill>
                <a:latin typeface="Calibri"/>
              </a:rPr>
              <a:t>Ambigüedad</a:t>
            </a:r>
            <a:r>
              <a:rPr sz="2000" b="1" i="0" dirty="0">
                <a:solidFill>
                  <a:srgbClr val="444444"/>
                </a:solidFill>
                <a:latin typeface="Calibri"/>
              </a:rPr>
              <a:t>, </a:t>
            </a:r>
            <a:r>
              <a:rPr sz="2000" b="1" i="0" dirty="0" err="1">
                <a:solidFill>
                  <a:srgbClr val="444444"/>
                </a:solidFill>
                <a:latin typeface="Calibri"/>
              </a:rPr>
              <a:t>fragmento</a:t>
            </a:r>
            <a:r>
              <a:rPr sz="2000" b="1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2000" b="0" i="0" dirty="0">
                <a:solidFill>
                  <a:srgbClr val="444444"/>
                </a:solidFill>
                <a:latin typeface="Calibri"/>
              </a:rPr>
              <a:t>y </a:t>
            </a:r>
            <a:r>
              <a:rPr sz="2000" b="0" i="0" dirty="0" err="1">
                <a:solidFill>
                  <a:srgbClr val="444444"/>
                </a:solidFill>
                <a:latin typeface="Calibri"/>
              </a:rPr>
              <a:t>distancia</a:t>
            </a:r>
            <a:r>
              <a:rPr sz="20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444444"/>
                </a:solidFill>
                <a:latin typeface="Calibri"/>
              </a:rPr>
              <a:t>crítica</a:t>
            </a:r>
            <a:r>
              <a:rPr sz="2000" b="0" i="0" dirty="0">
                <a:solidFill>
                  <a:srgbClr val="444444"/>
                </a:solidFill>
                <a:latin typeface="Calibri"/>
              </a:rPr>
              <a:t>.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900"/>
              </a:spcAft>
            </a:pPr>
            <a:r>
              <a:rPr sz="2000" b="1" i="0" dirty="0">
                <a:solidFill>
                  <a:srgbClr val="444444"/>
                </a:solidFill>
                <a:latin typeface="Calibri"/>
              </a:rPr>
              <a:t>Richard: </a:t>
            </a:r>
            <a:r>
              <a:rPr sz="2000" b="0" i="0" dirty="0">
                <a:solidFill>
                  <a:srgbClr val="444444"/>
                </a:solidFill>
                <a:latin typeface="Calibri"/>
              </a:rPr>
              <a:t>la memoria es un </a:t>
            </a:r>
            <a:r>
              <a:rPr sz="2000" b="0" i="0" dirty="0" err="1">
                <a:solidFill>
                  <a:srgbClr val="444444"/>
                </a:solidFill>
                <a:latin typeface="Calibri"/>
              </a:rPr>
              <a:t>territorio</a:t>
            </a:r>
            <a:r>
              <a:rPr sz="20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444444"/>
                </a:solidFill>
                <a:latin typeface="Calibri"/>
              </a:rPr>
              <a:t>en</a:t>
            </a:r>
            <a:r>
              <a:rPr sz="20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444444"/>
                </a:solidFill>
                <a:latin typeface="Calibri"/>
              </a:rPr>
              <a:t>disputa</a:t>
            </a:r>
            <a:r>
              <a:rPr sz="2000" b="0" i="0" dirty="0">
                <a:solidFill>
                  <a:srgbClr val="444444"/>
                </a:solidFill>
                <a:latin typeface="Calibri"/>
              </a:rPr>
              <a:t>.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900"/>
              </a:spcAft>
            </a:pPr>
            <a:r>
              <a:rPr sz="2000" b="1" i="0" dirty="0">
                <a:solidFill>
                  <a:srgbClr val="444444"/>
                </a:solidFill>
                <a:latin typeface="Calibri"/>
              </a:rPr>
              <a:t>Sarlo: </a:t>
            </a:r>
            <a:r>
              <a:rPr sz="2000" b="0" i="0" dirty="0" err="1">
                <a:solidFill>
                  <a:srgbClr val="444444"/>
                </a:solidFill>
                <a:latin typeface="Calibri"/>
              </a:rPr>
              <a:t>el</a:t>
            </a:r>
            <a:r>
              <a:rPr sz="20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444444"/>
                </a:solidFill>
                <a:latin typeface="Calibri"/>
              </a:rPr>
              <a:t>riesgo</a:t>
            </a:r>
            <a:r>
              <a:rPr sz="2000" b="0" i="0" dirty="0">
                <a:solidFill>
                  <a:srgbClr val="444444"/>
                </a:solidFill>
                <a:latin typeface="Calibri"/>
              </a:rPr>
              <a:t> del «</a:t>
            </a:r>
            <a:r>
              <a:rPr sz="2000" b="0" i="0" dirty="0" err="1">
                <a:solidFill>
                  <a:srgbClr val="444444"/>
                </a:solidFill>
                <a:latin typeface="Calibri"/>
              </a:rPr>
              <a:t>giro</a:t>
            </a:r>
            <a:r>
              <a:rPr sz="20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444444"/>
                </a:solidFill>
                <a:latin typeface="Calibri"/>
              </a:rPr>
              <a:t>subjetivo</a:t>
            </a:r>
            <a:r>
              <a:rPr sz="2000" b="0" i="0" dirty="0">
                <a:solidFill>
                  <a:srgbClr val="444444"/>
                </a:solidFill>
                <a:latin typeface="Calibri"/>
              </a:rPr>
              <a:t>».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199632"/>
            <a:ext cx="12191695" cy="20320"/>
          </a:xfrm>
          <a:prstGeom prst="rect">
            <a:avLst/>
          </a:prstGeom>
          <a:solidFill>
            <a:srgbClr val="03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logo_umu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1480" y="6355080"/>
            <a:ext cx="1181833" cy="3840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108960" y="6421596"/>
            <a:ext cx="8686800" cy="269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 dirty="0">
                <a:solidFill>
                  <a:srgbClr val="00B0F0"/>
                </a:solidFill>
                <a:latin typeface="Calibri"/>
              </a:rPr>
              <a:t>LA VISIBILIDAD DEL CINE ARGENTINO EN ESPAÑA (1980-2000)</a:t>
            </a:r>
          </a:p>
        </p:txBody>
      </p:sp>
      <p:pic>
        <p:nvPicPr>
          <p:cNvPr id="18" name="Gráfico 17" descr="Corazón con pulso con relleno sólido">
            <a:extLst>
              <a:ext uri="{FF2B5EF4-FFF2-40B4-BE49-F238E27FC236}">
                <a16:creationId xmlns:a16="http://schemas.microsoft.com/office/drawing/2014/main" id="{4FDD0214-8B6F-00E1-E7F9-25BD97E02E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84752" y="2483112"/>
            <a:ext cx="579612" cy="579612"/>
          </a:xfrm>
          <a:prstGeom prst="rect">
            <a:avLst/>
          </a:prstGeom>
        </p:spPr>
      </p:pic>
      <p:pic>
        <p:nvPicPr>
          <p:cNvPr id="22" name="Gráfico 21" descr="Birrete con relleno sólido">
            <a:extLst>
              <a:ext uri="{FF2B5EF4-FFF2-40B4-BE49-F238E27FC236}">
                <a16:creationId xmlns:a16="http://schemas.microsoft.com/office/drawing/2014/main" id="{9B674427-1670-F9D7-25A4-39F38FAEE7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69980" y="3038251"/>
            <a:ext cx="594384" cy="594384"/>
          </a:xfrm>
          <a:prstGeom prst="rect">
            <a:avLst/>
          </a:prstGeom>
        </p:spPr>
      </p:pic>
      <p:pic>
        <p:nvPicPr>
          <p:cNvPr id="24" name="Gráfico 23" descr="Trabajar desde casa Wi-Fi con relleno sólido">
            <a:extLst>
              <a:ext uri="{FF2B5EF4-FFF2-40B4-BE49-F238E27FC236}">
                <a16:creationId xmlns:a16="http://schemas.microsoft.com/office/drawing/2014/main" id="{2C098092-F113-A3D9-53F3-517A8E1DB6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32547" y="3632635"/>
            <a:ext cx="469249" cy="469249"/>
          </a:xfrm>
          <a:prstGeom prst="rect">
            <a:avLst/>
          </a:prstGeom>
        </p:spPr>
      </p:pic>
      <p:pic>
        <p:nvPicPr>
          <p:cNvPr id="26" name="Gráfico 25" descr="Piezas de rompecabezas con relleno sólido">
            <a:extLst>
              <a:ext uri="{FF2B5EF4-FFF2-40B4-BE49-F238E27FC236}">
                <a16:creationId xmlns:a16="http://schemas.microsoft.com/office/drawing/2014/main" id="{2F7C4FF3-1F88-C4CB-0D69-DFE9E73B11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759211" y="2556192"/>
            <a:ext cx="501144" cy="501144"/>
          </a:xfrm>
          <a:prstGeom prst="rect">
            <a:avLst/>
          </a:prstGeom>
        </p:spPr>
      </p:pic>
      <p:pic>
        <p:nvPicPr>
          <p:cNvPr id="28" name="Gráfico 27" descr="Advertencia con relleno sólido">
            <a:extLst>
              <a:ext uri="{FF2B5EF4-FFF2-40B4-BE49-F238E27FC236}">
                <a16:creationId xmlns:a16="http://schemas.microsoft.com/office/drawing/2014/main" id="{8299A4D5-D4B6-8749-FD6F-338533826A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771444" y="4140838"/>
            <a:ext cx="501144" cy="501144"/>
          </a:xfrm>
          <a:prstGeom prst="rect">
            <a:avLst/>
          </a:prstGeom>
        </p:spPr>
      </p:pic>
      <p:pic>
        <p:nvPicPr>
          <p:cNvPr id="32" name="Gráfico 31" descr="Cerebro izquierdo y derecho con relleno sólido">
            <a:extLst>
              <a:ext uri="{FF2B5EF4-FFF2-40B4-BE49-F238E27FC236}">
                <a16:creationId xmlns:a16="http://schemas.microsoft.com/office/drawing/2014/main" id="{D6921189-BCD0-8B76-5F68-E567D66C1C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759211" y="3194280"/>
            <a:ext cx="500765" cy="500765"/>
          </a:xfrm>
          <a:prstGeom prst="rect">
            <a:avLst/>
          </a:prstGeom>
        </p:spPr>
      </p:pic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02C66C60-C608-BDD0-E319-3E7642729222}"/>
              </a:ext>
            </a:extLst>
          </p:cNvPr>
          <p:cNvCxnSpPr/>
          <p:nvPr/>
        </p:nvCxnSpPr>
        <p:spPr>
          <a:xfrm>
            <a:off x="6459251" y="1691640"/>
            <a:ext cx="0" cy="450799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320040"/>
            <a:ext cx="11155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1" i="0">
                <a:solidFill>
                  <a:srgbClr val="03293B"/>
                </a:solidFill>
                <a:latin typeface="Calibri"/>
              </a:rPr>
              <a:t>CASO 1 · LA HISTORIA OFICIAL</a:t>
            </a:r>
            <a:r>
              <a:rPr sz="2300" b="0" i="0">
                <a:solidFill>
                  <a:srgbClr val="03293B"/>
                </a:solidFill>
                <a:latin typeface="Calibri"/>
              </a:rPr>
              <a:t> (Puenzo, 1985)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 dirty="0">
                <a:solidFill>
                  <a:srgbClr val="E73C23"/>
                </a:solidFill>
                <a:latin typeface="Calibri"/>
              </a:rPr>
              <a:t>Idea clave: </a:t>
            </a:r>
            <a:r>
              <a:rPr sz="1500" b="0" i="0" dirty="0" err="1">
                <a:solidFill>
                  <a:srgbClr val="E73C23"/>
                </a:solidFill>
                <a:latin typeface="Calibri"/>
              </a:rPr>
              <a:t>el</a:t>
            </a:r>
            <a:r>
              <a:rPr sz="1500" b="0" i="0" dirty="0">
                <a:solidFill>
                  <a:srgbClr val="E73C2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E73C23"/>
                </a:solidFill>
                <a:latin typeface="Calibri"/>
              </a:rPr>
              <a:t>espacio</a:t>
            </a:r>
            <a:r>
              <a:rPr sz="1500" b="0" i="0" dirty="0">
                <a:solidFill>
                  <a:srgbClr val="E73C2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E73C23"/>
                </a:solidFill>
                <a:latin typeface="Calibri"/>
              </a:rPr>
              <a:t>como</a:t>
            </a:r>
            <a:r>
              <a:rPr sz="1500" b="0" i="0" dirty="0">
                <a:solidFill>
                  <a:srgbClr val="E73C23"/>
                </a:solidFill>
                <a:latin typeface="Calibri"/>
              </a:rPr>
              <a:t> </a:t>
            </a:r>
            <a:r>
              <a:rPr sz="1500" b="1" i="0" dirty="0">
                <a:solidFill>
                  <a:srgbClr val="E73C23"/>
                </a:solidFill>
                <a:latin typeface="Calibri"/>
              </a:rPr>
              <a:t>CEGUERA</a:t>
            </a:r>
            <a:r>
              <a:rPr sz="1500" b="0" i="0" dirty="0">
                <a:solidFill>
                  <a:srgbClr val="E73C23"/>
                </a:solidFill>
                <a:latin typeface="Calibri"/>
              </a:rPr>
              <a:t> — </a:t>
            </a:r>
            <a:r>
              <a:rPr sz="1500" b="0" i="0" dirty="0" err="1">
                <a:solidFill>
                  <a:srgbClr val="E73C23"/>
                </a:solidFill>
                <a:latin typeface="Calibri"/>
              </a:rPr>
              <a:t>el</a:t>
            </a:r>
            <a:r>
              <a:rPr sz="1500" b="0" i="0" dirty="0">
                <a:solidFill>
                  <a:srgbClr val="E73C2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E73C23"/>
                </a:solidFill>
                <a:latin typeface="Calibri"/>
              </a:rPr>
              <a:t>hogar</a:t>
            </a:r>
            <a:r>
              <a:rPr sz="1500" b="0" i="0" dirty="0">
                <a:solidFill>
                  <a:srgbClr val="E73C2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E73C23"/>
                </a:solidFill>
                <a:latin typeface="Calibri"/>
              </a:rPr>
              <a:t>burgués</a:t>
            </a:r>
            <a:r>
              <a:rPr sz="1500" b="0" i="0" dirty="0">
                <a:solidFill>
                  <a:srgbClr val="E73C23"/>
                </a:solidFill>
                <a:latin typeface="Calibri"/>
              </a:rPr>
              <a:t>, </a:t>
            </a:r>
            <a:r>
              <a:rPr sz="1500" b="0" i="0" dirty="0" err="1">
                <a:solidFill>
                  <a:srgbClr val="E73C23"/>
                </a:solidFill>
                <a:latin typeface="Calibri"/>
              </a:rPr>
              <a:t>cerrado</a:t>
            </a:r>
            <a:r>
              <a:rPr sz="1500" b="0" i="0" dirty="0">
                <a:solidFill>
                  <a:srgbClr val="E73C23"/>
                </a:solidFill>
                <a:latin typeface="Calibri"/>
              </a:rPr>
              <a:t> a la </a:t>
            </a:r>
            <a:r>
              <a:rPr sz="1500" b="0" i="0" dirty="0" err="1">
                <a:solidFill>
                  <a:srgbClr val="E73C23"/>
                </a:solidFill>
                <a:latin typeface="Calibri"/>
              </a:rPr>
              <a:t>verdad</a:t>
            </a:r>
            <a:r>
              <a:rPr sz="1500" b="0" i="0" dirty="0">
                <a:solidFill>
                  <a:srgbClr val="E73C23"/>
                </a:solidFill>
                <a:latin typeface="Calibri"/>
              </a:rPr>
              <a:t> de fuera.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199" y="1965960"/>
            <a:ext cx="798897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 dirty="0">
                <a:solidFill>
                  <a:srgbClr val="E73C23"/>
                </a:solidFill>
                <a:latin typeface="Calibri"/>
              </a:rPr>
              <a:t>INTERIOR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96596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E73C23"/>
                </a:solidFill>
                <a:latin typeface="Calibri"/>
              </a:rPr>
              <a:t>EXTERIOR</a:t>
            </a:r>
          </a:p>
        </p:txBody>
      </p:sp>
      <p:pic>
        <p:nvPicPr>
          <p:cNvPr id="7" name="Picture 6" descr="Tranquilidad y felicidad del hogar de Alicia frente a la verdad del exteri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355164"/>
            <a:ext cx="5120640" cy="2879192"/>
          </a:xfrm>
          <a:prstGeom prst="rect">
            <a:avLst/>
          </a:prstGeom>
          <a:ln w="38100">
            <a:solidFill>
              <a:srgbClr val="03293B"/>
            </a:solidFill>
          </a:ln>
        </p:spPr>
      </p:pic>
      <p:pic>
        <p:nvPicPr>
          <p:cNvPr id="8" name="Picture 7" descr="Alicia contemplando la marcha de las Madres de Mayo 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0" y="2331720"/>
            <a:ext cx="2926080" cy="2926080"/>
          </a:xfrm>
          <a:prstGeom prst="rect">
            <a:avLst/>
          </a:prstGeom>
          <a:ln w="38100">
            <a:solidFill>
              <a:srgbClr val="E73C23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822960" y="5440680"/>
            <a:ext cx="5120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3293B"/>
                </a:solidFill>
                <a:latin typeface="Calibri"/>
              </a:rPr>
              <a:t>El hogar acomodado de Alicia: aparente felicidad.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5440680"/>
            <a:ext cx="5120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3293B"/>
                </a:solidFill>
                <a:latin typeface="Calibri"/>
              </a:rPr>
              <a:t>Las Madres de Plaza de Mayo: la verdad del exterior.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199632"/>
            <a:ext cx="12191695" cy="20320"/>
          </a:xfrm>
          <a:prstGeom prst="rect">
            <a:avLst/>
          </a:prstGeom>
          <a:solidFill>
            <a:srgbClr val="03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logo_umu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6355080"/>
            <a:ext cx="1181833" cy="38404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108960" y="6327648"/>
            <a:ext cx="8686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73C23"/>
                </a:solidFill>
                <a:latin typeface="Calibri"/>
              </a:rPr>
              <a:t>LA VISIBILIDAD DEL CINE ARGENTINO EN ESPAÑA (1980-2000)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320040"/>
            <a:ext cx="11155680" cy="4770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500" b="1" i="0" dirty="0">
                <a:solidFill>
                  <a:srgbClr val="00B0F0"/>
                </a:solidFill>
                <a:latin typeface="Calibri"/>
              </a:rPr>
              <a:t>EL EXILIO: UN PUENTE ENTRE PAÍSES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6874" y="844525"/>
            <a:ext cx="1142999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400" b="1" i="0" dirty="0">
                <a:solidFill>
                  <a:srgbClr val="00B0F0"/>
                </a:solidFill>
                <a:latin typeface="Calibri"/>
              </a:rPr>
              <a:t>EXILIO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2283112"/>
            <a:ext cx="4088330" cy="1801956"/>
          </a:xfrm>
          <a:prstGeom prst="roundRect">
            <a:avLst>
              <a:gd name="adj" fmla="val 18000"/>
            </a:avLst>
          </a:prstGeom>
          <a:solidFill>
            <a:srgbClr val="FFFEF5"/>
          </a:solidFill>
          <a:ln w="22225">
            <a:solidFill>
              <a:srgbClr val="00B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bIns="54864" rtlCol="0" anchor="ctr"/>
          <a:lstStyle/>
          <a:p>
            <a:pPr algn="l"/>
            <a:r>
              <a:rPr sz="1600" b="1" i="0" dirty="0">
                <a:solidFill>
                  <a:srgbClr val="03293B"/>
                </a:solidFill>
                <a:latin typeface="Calibri"/>
              </a:rPr>
              <a:t>No es </a:t>
            </a:r>
            <a:r>
              <a:rPr sz="1600" b="1" i="0" dirty="0" err="1">
                <a:solidFill>
                  <a:srgbClr val="03293B"/>
                </a:solidFill>
                <a:latin typeface="Calibri"/>
              </a:rPr>
              <a:t>migración</a:t>
            </a:r>
            <a:r>
              <a:rPr sz="1600" b="1" i="0" dirty="0">
                <a:solidFill>
                  <a:srgbClr val="03293B"/>
                </a:solidFill>
                <a:latin typeface="Calibri"/>
              </a:rPr>
              <a:t> </a:t>
            </a:r>
            <a:r>
              <a:rPr sz="1600" b="1" i="0" dirty="0" err="1">
                <a:solidFill>
                  <a:srgbClr val="03293B"/>
                </a:solidFill>
                <a:latin typeface="Calibri"/>
              </a:rPr>
              <a:t>económica</a:t>
            </a:r>
            <a:r>
              <a:rPr sz="1600" b="1" i="0" dirty="0">
                <a:solidFill>
                  <a:srgbClr val="03293B"/>
                </a:solidFill>
                <a:latin typeface="Calibri"/>
              </a:rPr>
              <a:t>: </a:t>
            </a:r>
            <a:r>
              <a:rPr sz="1600" b="0" i="0" dirty="0">
                <a:solidFill>
                  <a:srgbClr val="03293B"/>
                </a:solidFill>
                <a:latin typeface="Calibri"/>
              </a:rPr>
              <a:t>es </a:t>
            </a:r>
            <a:r>
              <a:rPr sz="1600" b="0" i="0" dirty="0" err="1">
                <a:solidFill>
                  <a:srgbClr val="03293B"/>
                </a:solidFill>
                <a:latin typeface="Calibri"/>
              </a:rPr>
              <a:t>huida</a:t>
            </a:r>
            <a:r>
              <a:rPr sz="1600" b="0" i="0" dirty="0">
                <a:solidFill>
                  <a:srgbClr val="03293B"/>
                </a:solidFill>
                <a:latin typeface="Calibri"/>
              </a:rPr>
              <a:t> de </a:t>
            </a:r>
            <a:r>
              <a:rPr sz="1600" b="0" i="0" dirty="0" err="1">
                <a:solidFill>
                  <a:srgbClr val="03293B"/>
                </a:solidFill>
                <a:latin typeface="Calibri"/>
              </a:rPr>
              <a:t>una</a:t>
            </a:r>
            <a:r>
              <a:rPr sz="1600" b="0" i="0" dirty="0">
                <a:solidFill>
                  <a:srgbClr val="03293B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03293B"/>
                </a:solidFill>
                <a:latin typeface="Calibri"/>
              </a:rPr>
              <a:t>violencia</a:t>
            </a:r>
            <a:r>
              <a:rPr sz="1600" b="0" i="0" dirty="0">
                <a:solidFill>
                  <a:srgbClr val="03293B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03293B"/>
                </a:solidFill>
                <a:latin typeface="Calibri"/>
              </a:rPr>
              <a:t>que</a:t>
            </a:r>
            <a:r>
              <a:rPr sz="1600" b="0" i="0" dirty="0">
                <a:solidFill>
                  <a:srgbClr val="03293B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03293B"/>
                </a:solidFill>
                <a:latin typeface="Calibri"/>
              </a:rPr>
              <a:t>amenaza</a:t>
            </a:r>
            <a:r>
              <a:rPr sz="1600" b="0" i="0" dirty="0">
                <a:solidFill>
                  <a:srgbClr val="03293B"/>
                </a:solidFill>
                <a:latin typeface="Calibri"/>
              </a:rPr>
              <a:t> la </a:t>
            </a:r>
            <a:r>
              <a:rPr sz="1600" b="0" i="0" dirty="0" err="1">
                <a:solidFill>
                  <a:srgbClr val="03293B"/>
                </a:solidFill>
                <a:latin typeface="Calibri"/>
              </a:rPr>
              <a:t>vida</a:t>
            </a:r>
            <a:r>
              <a:rPr sz="1600" b="0" i="0" dirty="0">
                <a:solidFill>
                  <a:srgbClr val="03293B"/>
                </a:solidFill>
                <a:latin typeface="Calibri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9620" y="2301099"/>
            <a:ext cx="4088330" cy="1801956"/>
          </a:xfrm>
          <a:prstGeom prst="roundRect">
            <a:avLst>
              <a:gd name="adj" fmla="val 18000"/>
            </a:avLst>
          </a:prstGeom>
          <a:solidFill>
            <a:srgbClr val="FFFEF5"/>
          </a:solidFill>
          <a:ln w="22225">
            <a:solidFill>
              <a:srgbClr val="00B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bIns="54864" rtlCol="0" anchor="ctr"/>
          <a:lstStyle/>
          <a:p>
            <a:pPr algn="l"/>
            <a:r>
              <a:rPr sz="1600" b="1" i="0" dirty="0">
                <a:solidFill>
                  <a:srgbClr val="03293B"/>
                </a:solidFill>
                <a:latin typeface="Calibri"/>
              </a:rPr>
              <a:t>«</a:t>
            </a:r>
            <a:r>
              <a:rPr sz="1600" b="1" i="0" dirty="0" err="1">
                <a:solidFill>
                  <a:srgbClr val="03293B"/>
                </a:solidFill>
                <a:latin typeface="Calibri"/>
              </a:rPr>
              <a:t>Figuras</a:t>
            </a:r>
            <a:r>
              <a:rPr sz="1600" b="1" i="0" dirty="0">
                <a:solidFill>
                  <a:srgbClr val="03293B"/>
                </a:solidFill>
                <a:latin typeface="Calibri"/>
              </a:rPr>
              <a:t> del </a:t>
            </a:r>
            <a:r>
              <a:rPr sz="1600" b="1" i="0" dirty="0" err="1">
                <a:solidFill>
                  <a:srgbClr val="03293B"/>
                </a:solidFill>
                <a:latin typeface="Calibri"/>
              </a:rPr>
              <a:t>destierro</a:t>
            </a:r>
            <a:r>
              <a:rPr sz="1600" b="1" i="0" dirty="0">
                <a:solidFill>
                  <a:srgbClr val="03293B"/>
                </a:solidFill>
                <a:latin typeface="Calibri"/>
              </a:rPr>
              <a:t>» (Rodríguez Marino): </a:t>
            </a:r>
            <a:r>
              <a:rPr sz="1600" b="0" i="0" dirty="0">
                <a:solidFill>
                  <a:srgbClr val="03293B"/>
                </a:solidFill>
                <a:latin typeface="Calibri"/>
              </a:rPr>
              <a:t>la </a:t>
            </a:r>
            <a:r>
              <a:rPr sz="1600" b="0" i="0" dirty="0" err="1">
                <a:solidFill>
                  <a:srgbClr val="03293B"/>
                </a:solidFill>
                <a:latin typeface="Calibri"/>
              </a:rPr>
              <a:t>pérdida</a:t>
            </a:r>
            <a:r>
              <a:rPr sz="1600" b="0" i="0" dirty="0">
                <a:solidFill>
                  <a:srgbClr val="03293B"/>
                </a:solidFill>
                <a:latin typeface="Calibri"/>
              </a:rPr>
              <a:t> y </a:t>
            </a:r>
            <a:r>
              <a:rPr sz="1600" b="0" i="0" dirty="0" err="1">
                <a:solidFill>
                  <a:srgbClr val="03293B"/>
                </a:solidFill>
                <a:latin typeface="Calibri"/>
              </a:rPr>
              <a:t>el</a:t>
            </a:r>
            <a:r>
              <a:rPr sz="1600" b="0" i="0" dirty="0">
                <a:solidFill>
                  <a:srgbClr val="03293B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03293B"/>
                </a:solidFill>
                <a:latin typeface="Calibri"/>
              </a:rPr>
              <a:t>retorno</a:t>
            </a:r>
            <a:r>
              <a:rPr sz="1600" b="0" i="0" dirty="0">
                <a:solidFill>
                  <a:srgbClr val="03293B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03293B"/>
                </a:solidFill>
                <a:latin typeface="Calibri"/>
              </a:rPr>
              <a:t>imposible</a:t>
            </a:r>
            <a:r>
              <a:rPr sz="1600" b="0" i="0" dirty="0">
                <a:solidFill>
                  <a:srgbClr val="03293B"/>
                </a:solidFill>
                <a:latin typeface="Calibri"/>
              </a:rPr>
              <a:t> se </a:t>
            </a:r>
            <a:r>
              <a:rPr sz="1600" b="0" i="0" dirty="0" err="1">
                <a:solidFill>
                  <a:srgbClr val="03293B"/>
                </a:solidFill>
                <a:latin typeface="Calibri"/>
              </a:rPr>
              <a:t>hacen</a:t>
            </a:r>
            <a:r>
              <a:rPr sz="1600" b="0" i="0" dirty="0">
                <a:solidFill>
                  <a:srgbClr val="03293B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03293B"/>
                </a:solidFill>
                <a:latin typeface="Calibri"/>
              </a:rPr>
              <a:t>lenguaje</a:t>
            </a:r>
            <a:r>
              <a:rPr sz="1600" b="0" i="0" dirty="0">
                <a:solidFill>
                  <a:srgbClr val="03293B"/>
                </a:solidFill>
                <a:latin typeface="Calibri"/>
              </a:rPr>
              <a:t> visual.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27894" y="4130096"/>
            <a:ext cx="4535905" cy="2006520"/>
          </a:xfrm>
          <a:prstGeom prst="roundRect">
            <a:avLst>
              <a:gd name="adj" fmla="val 18000"/>
            </a:avLst>
          </a:prstGeom>
          <a:solidFill>
            <a:srgbClr val="FFFEF5"/>
          </a:solidFill>
          <a:ln w="22225">
            <a:solidFill>
              <a:srgbClr val="00B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bIns="54864" rtlCol="0" anchor="ctr"/>
          <a:lstStyle/>
          <a:p>
            <a:pPr algn="l"/>
            <a:r>
              <a:rPr sz="1600" b="1" i="0" dirty="0">
                <a:solidFill>
                  <a:srgbClr val="03293B"/>
                </a:solidFill>
                <a:latin typeface="Calibri"/>
              </a:rPr>
              <a:t>El </a:t>
            </a:r>
            <a:r>
              <a:rPr sz="1600" b="1" i="0" dirty="0" err="1">
                <a:solidFill>
                  <a:srgbClr val="03293B"/>
                </a:solidFill>
                <a:latin typeface="Calibri"/>
              </a:rPr>
              <a:t>exiliado</a:t>
            </a:r>
            <a:r>
              <a:rPr sz="1600" b="1" i="0" dirty="0">
                <a:solidFill>
                  <a:srgbClr val="03293B"/>
                </a:solidFill>
                <a:latin typeface="Calibri"/>
              </a:rPr>
              <a:t> </a:t>
            </a:r>
            <a:r>
              <a:rPr lang="es-ES" sz="1600" b="1" i="0" dirty="0">
                <a:solidFill>
                  <a:srgbClr val="03293B"/>
                </a:solidFill>
                <a:latin typeface="Calibri"/>
              </a:rPr>
              <a:t>construye</a:t>
            </a:r>
            <a:r>
              <a:rPr sz="1600" b="1" i="0" dirty="0">
                <a:solidFill>
                  <a:srgbClr val="03293B"/>
                </a:solidFill>
                <a:latin typeface="Calibri"/>
              </a:rPr>
              <a:t> </a:t>
            </a:r>
            <a:r>
              <a:rPr sz="1600" b="1" i="0" dirty="0" err="1">
                <a:solidFill>
                  <a:srgbClr val="03293B"/>
                </a:solidFill>
                <a:latin typeface="Calibri"/>
              </a:rPr>
              <a:t>puentes</a:t>
            </a:r>
            <a:r>
              <a:rPr sz="1600" b="1" i="0" dirty="0">
                <a:solidFill>
                  <a:srgbClr val="03293B"/>
                </a:solidFill>
                <a:latin typeface="Calibri"/>
              </a:rPr>
              <a:t>: </a:t>
            </a:r>
            <a:r>
              <a:rPr sz="1600" b="0" i="0" dirty="0" err="1">
                <a:solidFill>
                  <a:srgbClr val="03293B"/>
                </a:solidFill>
                <a:latin typeface="Calibri"/>
              </a:rPr>
              <a:t>Reflexiones</a:t>
            </a:r>
            <a:r>
              <a:rPr sz="1600" b="0" i="0" dirty="0">
                <a:solidFill>
                  <a:srgbClr val="03293B"/>
                </a:solidFill>
                <a:latin typeface="Calibri"/>
              </a:rPr>
              <a:t> de un </a:t>
            </a:r>
            <a:r>
              <a:rPr sz="1600" b="0" i="0" dirty="0" err="1">
                <a:solidFill>
                  <a:srgbClr val="03293B"/>
                </a:solidFill>
                <a:latin typeface="Calibri"/>
              </a:rPr>
              <a:t>salvaje</a:t>
            </a:r>
            <a:r>
              <a:rPr sz="1600" b="0" i="0" dirty="0">
                <a:solidFill>
                  <a:srgbClr val="03293B"/>
                </a:solidFill>
                <a:latin typeface="Calibri"/>
              </a:rPr>
              <a:t> (Vallejo, 1978) </a:t>
            </a:r>
            <a:r>
              <a:rPr sz="1600" b="0" i="0" dirty="0" err="1">
                <a:solidFill>
                  <a:srgbClr val="03293B"/>
                </a:solidFill>
                <a:latin typeface="Calibri"/>
              </a:rPr>
              <a:t>une</a:t>
            </a:r>
            <a:r>
              <a:rPr sz="1600" b="0" i="0" dirty="0">
                <a:solidFill>
                  <a:srgbClr val="03293B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03293B"/>
                </a:solidFill>
                <a:latin typeface="Calibri"/>
              </a:rPr>
              <a:t>franquismo</a:t>
            </a:r>
            <a:r>
              <a:rPr sz="1600" b="0" i="0" dirty="0">
                <a:solidFill>
                  <a:srgbClr val="03293B"/>
                </a:solidFill>
                <a:latin typeface="Calibri"/>
              </a:rPr>
              <a:t> y </a:t>
            </a:r>
            <a:r>
              <a:rPr sz="1600" b="0" i="0" dirty="0" err="1">
                <a:solidFill>
                  <a:srgbClr val="03293B"/>
                </a:solidFill>
                <a:latin typeface="Calibri"/>
              </a:rPr>
              <a:t>represión</a:t>
            </a:r>
            <a:r>
              <a:rPr sz="1600" b="0" i="0" dirty="0">
                <a:solidFill>
                  <a:srgbClr val="03293B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03293B"/>
                </a:solidFill>
                <a:latin typeface="Calibri"/>
              </a:rPr>
              <a:t>argentina</a:t>
            </a:r>
            <a:r>
              <a:rPr sz="1600" b="0" i="0" dirty="0">
                <a:solidFill>
                  <a:srgbClr val="03293B"/>
                </a:solidFill>
                <a:latin typeface="Calibri"/>
              </a:rPr>
              <a:t>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199632"/>
            <a:ext cx="12191695" cy="20320"/>
          </a:xfrm>
          <a:prstGeom prst="rect">
            <a:avLst/>
          </a:prstGeom>
          <a:solidFill>
            <a:srgbClr val="03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logo_um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355080"/>
            <a:ext cx="1181833" cy="38404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108960" y="6327648"/>
            <a:ext cx="8686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73C23"/>
                </a:solidFill>
                <a:latin typeface="Calibri"/>
              </a:rPr>
              <a:t>LA VISIBILIDAD DEL CINE ARGENTINO EN ESPAÑA (1980-2000)</a:t>
            </a:r>
          </a:p>
        </p:txBody>
      </p:sp>
      <p:pic>
        <p:nvPicPr>
          <p:cNvPr id="16" name="Gráfico 15" descr="Flecha: curva ligera con relleno sólido">
            <a:extLst>
              <a:ext uri="{FF2B5EF4-FFF2-40B4-BE49-F238E27FC236}">
                <a16:creationId xmlns:a16="http://schemas.microsoft.com/office/drawing/2014/main" id="{5D417564-5E85-68FB-CD35-1CCBFFA78D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322117">
            <a:off x="6679744" y="1491667"/>
            <a:ext cx="914400" cy="914400"/>
          </a:xfrm>
          <a:prstGeom prst="rect">
            <a:avLst/>
          </a:prstGeom>
        </p:spPr>
      </p:pic>
      <p:pic>
        <p:nvPicPr>
          <p:cNvPr id="20" name="Gráfico 19" descr="Flecha: curva ligera con relleno sólido">
            <a:extLst>
              <a:ext uri="{FF2B5EF4-FFF2-40B4-BE49-F238E27FC236}">
                <a16:creationId xmlns:a16="http://schemas.microsoft.com/office/drawing/2014/main" id="{EA1E3CAB-0487-65B2-C974-6AD502A64A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9881417" flipH="1">
            <a:off x="4768871" y="1493788"/>
            <a:ext cx="899543" cy="899543"/>
          </a:xfrm>
          <a:prstGeom prst="rect">
            <a:avLst/>
          </a:prstGeom>
        </p:spPr>
      </p:pic>
      <p:sp>
        <p:nvSpPr>
          <p:cNvPr id="26" name="Gráfico 24" descr="Flecha: curva ligera con relleno sólido">
            <a:extLst>
              <a:ext uri="{FF2B5EF4-FFF2-40B4-BE49-F238E27FC236}">
                <a16:creationId xmlns:a16="http://schemas.microsoft.com/office/drawing/2014/main" id="{E97BE8D3-C696-EE1E-87F6-8E16F3996032}"/>
              </a:ext>
            </a:extLst>
          </p:cNvPr>
          <p:cNvSpPr/>
          <p:nvPr/>
        </p:nvSpPr>
        <p:spPr>
          <a:xfrm rot="5400000">
            <a:off x="5055438" y="2496480"/>
            <a:ext cx="2239127" cy="457200"/>
          </a:xfrm>
          <a:custGeom>
            <a:avLst/>
            <a:gdLst>
              <a:gd name="csX0" fmla="*/ 838200 w 838226"/>
              <a:gd name="csY0" fmla="*/ 228600 h 457200"/>
              <a:gd name="csX1" fmla="*/ 609600 w 838226"/>
              <a:gd name="csY1" fmla="*/ 0 h 457200"/>
              <a:gd name="csX2" fmla="*/ 609600 w 838226"/>
              <a:gd name="csY2" fmla="*/ 142875 h 457200"/>
              <a:gd name="csX3" fmla="*/ 0 w 838226"/>
              <a:gd name="csY3" fmla="*/ 142875 h 457200"/>
              <a:gd name="csX4" fmla="*/ 609600 w 838226"/>
              <a:gd name="csY4" fmla="*/ 361950 h 457200"/>
              <a:gd name="csX5" fmla="*/ 609600 w 838226"/>
              <a:gd name="csY5" fmla="*/ 457200 h 457200"/>
              <a:gd name="csX6" fmla="*/ 838200 w 838226"/>
              <a:gd name="csY6" fmla="*/ 228600 h 457200"/>
              <a:gd name="csX0" fmla="*/ 867076 w 867102"/>
              <a:gd name="csY0" fmla="*/ 228600 h 457200"/>
              <a:gd name="csX1" fmla="*/ 638476 w 867102"/>
              <a:gd name="csY1" fmla="*/ 0 h 457200"/>
              <a:gd name="csX2" fmla="*/ 638476 w 867102"/>
              <a:gd name="csY2" fmla="*/ 142875 h 457200"/>
              <a:gd name="csX3" fmla="*/ 0 w 867102"/>
              <a:gd name="csY3" fmla="*/ 210252 h 457200"/>
              <a:gd name="csX4" fmla="*/ 638476 w 867102"/>
              <a:gd name="csY4" fmla="*/ 361950 h 457200"/>
              <a:gd name="csX5" fmla="*/ 638476 w 867102"/>
              <a:gd name="csY5" fmla="*/ 457200 h 457200"/>
              <a:gd name="csX6" fmla="*/ 867076 w 867102"/>
              <a:gd name="csY6" fmla="*/ 228600 h 457200"/>
              <a:gd name="csX0" fmla="*/ 867076 w 867102"/>
              <a:gd name="csY0" fmla="*/ 228600 h 457200"/>
              <a:gd name="csX1" fmla="*/ 638476 w 867102"/>
              <a:gd name="csY1" fmla="*/ 0 h 457200"/>
              <a:gd name="csX2" fmla="*/ 638476 w 867102"/>
              <a:gd name="csY2" fmla="*/ 142875 h 457200"/>
              <a:gd name="csX3" fmla="*/ 0 w 867102"/>
              <a:gd name="csY3" fmla="*/ 210252 h 457200"/>
              <a:gd name="csX4" fmla="*/ 638476 w 867102"/>
              <a:gd name="csY4" fmla="*/ 361950 h 457200"/>
              <a:gd name="csX5" fmla="*/ 638476 w 867102"/>
              <a:gd name="csY5" fmla="*/ 457200 h 457200"/>
              <a:gd name="csX6" fmla="*/ 867076 w 867102"/>
              <a:gd name="csY6" fmla="*/ 228600 h 457200"/>
              <a:gd name="csX0" fmla="*/ 867076 w 867102"/>
              <a:gd name="csY0" fmla="*/ 228600 h 457200"/>
              <a:gd name="csX1" fmla="*/ 638476 w 867102"/>
              <a:gd name="csY1" fmla="*/ 0 h 457200"/>
              <a:gd name="csX2" fmla="*/ 638476 w 867102"/>
              <a:gd name="csY2" fmla="*/ 142875 h 457200"/>
              <a:gd name="csX3" fmla="*/ 0 w 867102"/>
              <a:gd name="csY3" fmla="*/ 210252 h 457200"/>
              <a:gd name="csX4" fmla="*/ 638476 w 867102"/>
              <a:gd name="csY4" fmla="*/ 361950 h 457200"/>
              <a:gd name="csX5" fmla="*/ 638476 w 867102"/>
              <a:gd name="csY5" fmla="*/ 457200 h 457200"/>
              <a:gd name="csX6" fmla="*/ 867076 w 867102"/>
              <a:gd name="csY6" fmla="*/ 228600 h 457200"/>
              <a:gd name="csX0" fmla="*/ 867076 w 867102"/>
              <a:gd name="csY0" fmla="*/ 228600 h 457200"/>
              <a:gd name="csX1" fmla="*/ 638476 w 867102"/>
              <a:gd name="csY1" fmla="*/ 0 h 457200"/>
              <a:gd name="csX2" fmla="*/ 641255 w 867102"/>
              <a:gd name="csY2" fmla="*/ 95627 h 457200"/>
              <a:gd name="csX3" fmla="*/ 0 w 867102"/>
              <a:gd name="csY3" fmla="*/ 210252 h 457200"/>
              <a:gd name="csX4" fmla="*/ 638476 w 867102"/>
              <a:gd name="csY4" fmla="*/ 361950 h 457200"/>
              <a:gd name="csX5" fmla="*/ 638476 w 867102"/>
              <a:gd name="csY5" fmla="*/ 457200 h 457200"/>
              <a:gd name="csX6" fmla="*/ 867076 w 867102"/>
              <a:gd name="csY6" fmla="*/ 228600 h 457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867102" h="457200">
                <a:moveTo>
                  <a:pt x="867076" y="228600"/>
                </a:moveTo>
                <a:cubicBezTo>
                  <a:pt x="869934" y="228600"/>
                  <a:pt x="638476" y="0"/>
                  <a:pt x="638476" y="0"/>
                </a:cubicBezTo>
                <a:cubicBezTo>
                  <a:pt x="639402" y="31876"/>
                  <a:pt x="640329" y="63751"/>
                  <a:pt x="641255" y="95627"/>
                </a:cubicBezTo>
                <a:cubicBezTo>
                  <a:pt x="489808" y="30799"/>
                  <a:pt x="463" y="165865"/>
                  <a:pt x="0" y="210252"/>
                </a:cubicBezTo>
                <a:cubicBezTo>
                  <a:pt x="-463" y="254639"/>
                  <a:pt x="353679" y="391478"/>
                  <a:pt x="638476" y="361950"/>
                </a:cubicBezTo>
                <a:lnTo>
                  <a:pt x="638476" y="457200"/>
                </a:lnTo>
                <a:lnTo>
                  <a:pt x="867076" y="228600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s-E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320040"/>
            <a:ext cx="1115568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 dirty="0">
                <a:solidFill>
                  <a:srgbClr val="00B0F0"/>
                </a:solidFill>
                <a:latin typeface="Calibri"/>
              </a:rPr>
              <a:t>LAS COPRODUCCIONES: LA VÍA INDUSTRIAL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5177" y="2992874"/>
            <a:ext cx="1771384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dirty="0">
                <a:solidFill>
                  <a:srgbClr val="00B0F0"/>
                </a:solidFill>
                <a:latin typeface="Calibri"/>
              </a:rPr>
              <a:t>COPRODUCCIÓN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31920" y="1371600"/>
            <a:ext cx="7406640" cy="960120"/>
          </a:xfrm>
          <a:prstGeom prst="roundRect">
            <a:avLst>
              <a:gd name="adj" fmla="val 18000"/>
            </a:avLst>
          </a:prstGeom>
          <a:solidFill>
            <a:srgbClr val="FFFEF5"/>
          </a:solidFill>
          <a:ln w="22225">
            <a:solidFill>
              <a:srgbClr val="00B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bIns="54864" rtlCol="0" anchor="ctr"/>
          <a:lstStyle/>
          <a:p>
            <a:pPr algn="l"/>
            <a:r>
              <a:rPr sz="1600" b="1" i="0" dirty="0">
                <a:solidFill>
                  <a:srgbClr val="03293B"/>
                </a:solidFill>
                <a:latin typeface="Calibri"/>
              </a:rPr>
              <a:t>Más </a:t>
            </a:r>
            <a:r>
              <a:rPr sz="1600" b="1" i="0" dirty="0" err="1">
                <a:solidFill>
                  <a:srgbClr val="03293B"/>
                </a:solidFill>
                <a:latin typeface="Calibri"/>
              </a:rPr>
              <a:t>que</a:t>
            </a:r>
            <a:r>
              <a:rPr sz="1600" b="1" i="0" dirty="0">
                <a:solidFill>
                  <a:srgbClr val="03293B"/>
                </a:solidFill>
                <a:latin typeface="Calibri"/>
              </a:rPr>
              <a:t> </a:t>
            </a:r>
            <a:r>
              <a:rPr sz="1600" b="1" i="0" dirty="0" err="1">
                <a:solidFill>
                  <a:srgbClr val="03293B"/>
                </a:solidFill>
                <a:latin typeface="Calibri"/>
              </a:rPr>
              <a:t>una</a:t>
            </a:r>
            <a:r>
              <a:rPr sz="1600" b="1" i="0" dirty="0">
                <a:solidFill>
                  <a:srgbClr val="03293B"/>
                </a:solidFill>
                <a:latin typeface="Calibri"/>
              </a:rPr>
              <a:t> </a:t>
            </a:r>
            <a:r>
              <a:rPr sz="1600" b="1" i="0" dirty="0" err="1">
                <a:solidFill>
                  <a:srgbClr val="03293B"/>
                </a:solidFill>
                <a:latin typeface="Calibri"/>
              </a:rPr>
              <a:t>fórmula</a:t>
            </a:r>
            <a:r>
              <a:rPr sz="1600" b="1" i="0" dirty="0">
                <a:solidFill>
                  <a:srgbClr val="03293B"/>
                </a:solidFill>
                <a:latin typeface="Calibri"/>
              </a:rPr>
              <a:t> legal: </a:t>
            </a:r>
            <a:r>
              <a:rPr sz="1600" b="0" i="0" dirty="0" err="1">
                <a:solidFill>
                  <a:srgbClr val="03293B"/>
                </a:solidFill>
                <a:latin typeface="Calibri"/>
              </a:rPr>
              <a:t>estrategia</a:t>
            </a:r>
            <a:r>
              <a:rPr sz="1600" b="0" i="0" dirty="0">
                <a:solidFill>
                  <a:srgbClr val="03293B"/>
                </a:solidFill>
                <a:latin typeface="Calibri"/>
              </a:rPr>
              <a:t> de </a:t>
            </a:r>
            <a:r>
              <a:rPr sz="1600" b="0" i="0" dirty="0" err="1">
                <a:solidFill>
                  <a:srgbClr val="03293B"/>
                </a:solidFill>
                <a:latin typeface="Calibri"/>
              </a:rPr>
              <a:t>supervivencia</a:t>
            </a:r>
            <a:r>
              <a:rPr sz="1600" b="0" i="0" dirty="0">
                <a:solidFill>
                  <a:srgbClr val="03293B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03293B"/>
                </a:solidFill>
                <a:latin typeface="Calibri"/>
              </a:rPr>
              <a:t>frente</a:t>
            </a:r>
            <a:r>
              <a:rPr sz="1600" b="0" i="0" dirty="0">
                <a:solidFill>
                  <a:srgbClr val="03293B"/>
                </a:solidFill>
                <a:latin typeface="Calibri"/>
              </a:rPr>
              <a:t> al </a:t>
            </a:r>
            <a:r>
              <a:rPr sz="1600" b="0" i="0" dirty="0" err="1">
                <a:solidFill>
                  <a:srgbClr val="03293B"/>
                </a:solidFill>
                <a:latin typeface="Calibri"/>
              </a:rPr>
              <a:t>dominio</a:t>
            </a:r>
            <a:r>
              <a:rPr sz="1600" b="0" i="0" dirty="0">
                <a:solidFill>
                  <a:srgbClr val="03293B"/>
                </a:solidFill>
                <a:latin typeface="Calibri"/>
              </a:rPr>
              <a:t> de Hollywood.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31920" y="2697480"/>
            <a:ext cx="7406640" cy="960120"/>
          </a:xfrm>
          <a:prstGeom prst="roundRect">
            <a:avLst>
              <a:gd name="adj" fmla="val 18000"/>
            </a:avLst>
          </a:prstGeom>
          <a:solidFill>
            <a:srgbClr val="FFFEF5"/>
          </a:solidFill>
          <a:ln w="22225">
            <a:solidFill>
              <a:srgbClr val="00B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bIns="54864" rtlCol="0" anchor="ctr"/>
          <a:lstStyle/>
          <a:p>
            <a:pPr algn="l"/>
            <a:r>
              <a:rPr sz="1600" b="1" i="0">
                <a:solidFill>
                  <a:srgbClr val="03293B"/>
                </a:solidFill>
                <a:latin typeface="Calibri"/>
              </a:rPr>
              <a:t>Convenio Hispano-Argentino de 1969: </a:t>
            </a:r>
            <a:r>
              <a:rPr sz="1600" b="0" i="0">
                <a:solidFill>
                  <a:srgbClr val="03293B"/>
                </a:solidFill>
                <a:latin typeface="Calibri"/>
              </a:rPr>
              <a:t>las películas son «nacionales» en ambos países (participación 30 %-70 %).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31920" y="4023360"/>
            <a:ext cx="7406640" cy="960120"/>
          </a:xfrm>
          <a:prstGeom prst="roundRect">
            <a:avLst>
              <a:gd name="adj" fmla="val 18000"/>
            </a:avLst>
          </a:prstGeom>
          <a:solidFill>
            <a:srgbClr val="FFFEF5"/>
          </a:solidFill>
          <a:ln w="22225">
            <a:solidFill>
              <a:srgbClr val="00B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bIns="54864" rtlCol="0" anchor="ctr"/>
          <a:lstStyle/>
          <a:p>
            <a:pPr algn="l"/>
            <a:r>
              <a:rPr sz="1600" b="1" i="0">
                <a:solidFill>
                  <a:srgbClr val="03293B"/>
                </a:solidFill>
                <a:latin typeface="Calibri"/>
              </a:rPr>
              <a:t>Distintos modelos: </a:t>
            </a:r>
            <a:r>
              <a:rPr sz="1600" b="0" i="0">
                <a:solidFill>
                  <a:srgbClr val="03293B"/>
                </a:solidFill>
                <a:latin typeface="Calibri"/>
              </a:rPr>
              <a:t>Aristarain (autoral) frente a Piñeyro (industrial: Plata quemada, Kamchatka).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440680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0" i="1">
                <a:solidFill>
                  <a:srgbClr val="03293B"/>
                </a:solidFill>
                <a:latin typeface="Calibri"/>
              </a:rPr>
              <a:t>Tensión clave: la asimetría económica condiciona </a:t>
            </a:r>
            <a:r>
              <a:rPr sz="1500" b="1" i="1">
                <a:solidFill>
                  <a:srgbClr val="03293B"/>
                </a:solidFill>
                <a:latin typeface="Calibri"/>
              </a:rPr>
              <a:t>qué imagen de Argentina circula</a:t>
            </a:r>
            <a:r>
              <a:rPr sz="1500" b="0" i="1">
                <a:solidFill>
                  <a:srgbClr val="03293B"/>
                </a:solidFill>
                <a:latin typeface="Calibri"/>
              </a:rPr>
              <a:t> en España.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199632"/>
            <a:ext cx="12191695" cy="20320"/>
          </a:xfrm>
          <a:prstGeom prst="rect">
            <a:avLst/>
          </a:prstGeom>
          <a:solidFill>
            <a:srgbClr val="03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logo_um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355080"/>
            <a:ext cx="1181833" cy="38404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108960" y="6421596"/>
            <a:ext cx="8686800" cy="269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 dirty="0">
                <a:solidFill>
                  <a:srgbClr val="00B0F0"/>
                </a:solidFill>
                <a:latin typeface="Calibri"/>
              </a:rPr>
              <a:t>LA VISIBILIDAD DEL CINE ARGENTINO EN ESPAÑA (1980-2000)</a:t>
            </a:r>
          </a:p>
        </p:txBody>
      </p:sp>
      <p:cxnSp>
        <p:nvCxnSpPr>
          <p:cNvPr id="29" name="Conector: curvado 28">
            <a:extLst>
              <a:ext uri="{FF2B5EF4-FFF2-40B4-BE49-F238E27FC236}">
                <a16:creationId xmlns:a16="http://schemas.microsoft.com/office/drawing/2014/main" id="{C6B7BA5E-C9F2-541C-DC30-E0214F25B312}"/>
              </a:ext>
            </a:extLst>
          </p:cNvPr>
          <p:cNvCxnSpPr>
            <a:cxnSpLocks/>
            <a:stCxn id="4" idx="3"/>
          </p:cNvCxnSpPr>
          <p:nvPr/>
        </p:nvCxnSpPr>
        <p:spPr>
          <a:xfrm flipV="1">
            <a:off x="2276561" y="1851660"/>
            <a:ext cx="1554775" cy="1325880"/>
          </a:xfrm>
          <a:prstGeom prst="curved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Conector: curvado 30">
            <a:extLst>
              <a:ext uri="{FF2B5EF4-FFF2-40B4-BE49-F238E27FC236}">
                <a16:creationId xmlns:a16="http://schemas.microsoft.com/office/drawing/2014/main" id="{4DEB0309-879C-C844-D858-143C32724263}"/>
              </a:ext>
            </a:extLst>
          </p:cNvPr>
          <p:cNvCxnSpPr>
            <a:stCxn id="4" idx="3"/>
          </p:cNvCxnSpPr>
          <p:nvPr/>
        </p:nvCxnSpPr>
        <p:spPr>
          <a:xfrm>
            <a:off x="2276561" y="3177540"/>
            <a:ext cx="1554775" cy="1325880"/>
          </a:xfrm>
          <a:prstGeom prst="curved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Conector: curvado 32">
            <a:extLst>
              <a:ext uri="{FF2B5EF4-FFF2-40B4-BE49-F238E27FC236}">
                <a16:creationId xmlns:a16="http://schemas.microsoft.com/office/drawing/2014/main" id="{3C93EE72-85D8-17BD-DC94-F6F2563F768E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2276561" y="3177540"/>
            <a:ext cx="1554775" cy="12700"/>
          </a:xfrm>
          <a:prstGeom prst="curved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320040"/>
            <a:ext cx="11155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3293B"/>
                </a:solidFill>
                <a:latin typeface="Calibri"/>
              </a:rPr>
              <a:t>CASO 2 · UN LUGAR EN EL MUNDO</a:t>
            </a:r>
            <a:r>
              <a:rPr sz="2200" b="0" i="0">
                <a:solidFill>
                  <a:srgbClr val="03293B"/>
                </a:solidFill>
                <a:latin typeface="Calibri"/>
              </a:rPr>
              <a:t> (Aristarain, 1992)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0704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 dirty="0">
                <a:solidFill>
                  <a:srgbClr val="00B0F0"/>
                </a:solidFill>
                <a:latin typeface="Calibri"/>
              </a:rPr>
              <a:t>Idea clave: </a:t>
            </a:r>
            <a:r>
              <a:rPr sz="1500" b="0" i="0" dirty="0" err="1">
                <a:solidFill>
                  <a:srgbClr val="00B0F0"/>
                </a:solidFill>
                <a:latin typeface="Calibri"/>
              </a:rPr>
              <a:t>el</a:t>
            </a:r>
            <a:r>
              <a:rPr sz="1500" b="0" i="0" dirty="0">
                <a:solidFill>
                  <a:srgbClr val="00B0F0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00B0F0"/>
                </a:solidFill>
                <a:latin typeface="Calibri"/>
              </a:rPr>
              <a:t>espacio</a:t>
            </a:r>
            <a:r>
              <a:rPr sz="1500" b="0" i="0" dirty="0">
                <a:solidFill>
                  <a:srgbClr val="00B0F0"/>
                </a:solidFill>
                <a:latin typeface="Calibri"/>
              </a:rPr>
              <a:t> </a:t>
            </a:r>
            <a:r>
              <a:rPr sz="1500" b="1" i="0" dirty="0">
                <a:solidFill>
                  <a:srgbClr val="00B0F0"/>
                </a:solidFill>
                <a:latin typeface="Calibri"/>
              </a:rPr>
              <a:t>UNITARIO</a:t>
            </a:r>
            <a:r>
              <a:rPr sz="1500" b="0" i="0" dirty="0">
                <a:solidFill>
                  <a:srgbClr val="00B0F0"/>
                </a:solidFill>
                <a:latin typeface="Calibri"/>
              </a:rPr>
              <a:t> — </a:t>
            </a:r>
            <a:r>
              <a:rPr sz="1500" b="0" i="0" dirty="0" err="1">
                <a:solidFill>
                  <a:srgbClr val="00B0F0"/>
                </a:solidFill>
                <a:latin typeface="Calibri"/>
              </a:rPr>
              <a:t>todavía</a:t>
            </a:r>
            <a:r>
              <a:rPr sz="1500" b="0" i="0" dirty="0">
                <a:solidFill>
                  <a:srgbClr val="00B0F0"/>
                </a:solidFill>
                <a:latin typeface="Calibri"/>
              </a:rPr>
              <a:t> hay un </a:t>
            </a:r>
            <a:r>
              <a:rPr sz="1500" b="0" i="0" dirty="0" err="1">
                <a:solidFill>
                  <a:srgbClr val="00B0F0"/>
                </a:solidFill>
                <a:latin typeface="Calibri"/>
              </a:rPr>
              <a:t>lugar</a:t>
            </a:r>
            <a:r>
              <a:rPr sz="1500" b="0" i="0" dirty="0">
                <a:solidFill>
                  <a:srgbClr val="00B0F0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00B0F0"/>
                </a:solidFill>
                <a:latin typeface="Calibri"/>
              </a:rPr>
              <a:t>que</a:t>
            </a:r>
            <a:r>
              <a:rPr sz="1500" b="0" i="0" dirty="0">
                <a:solidFill>
                  <a:srgbClr val="00B0F0"/>
                </a:solidFill>
                <a:latin typeface="Calibri"/>
              </a:rPr>
              <a:t> defender.</a:t>
            </a:r>
          </a:p>
        </p:txBody>
      </p:sp>
      <p:pic>
        <p:nvPicPr>
          <p:cNvPr id="5" name="Picture 4" descr="Plano del paisaje en San Lu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218004"/>
            <a:ext cx="5120640" cy="2879192"/>
          </a:xfrm>
          <a:prstGeom prst="rect">
            <a:avLst/>
          </a:prstGeom>
          <a:ln w="38100">
            <a:solidFill>
              <a:srgbClr val="03293B"/>
            </a:solidFill>
          </a:ln>
        </p:spPr>
      </p:pic>
      <p:pic>
        <p:nvPicPr>
          <p:cNvPr id="6" name="Picture 5" descr="Contraste entre el mundo del avance (tren) y mundo rur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2218004"/>
            <a:ext cx="5120640" cy="2879192"/>
          </a:xfrm>
          <a:prstGeom prst="rect">
            <a:avLst/>
          </a:prstGeom>
          <a:ln w="38100">
            <a:solidFill>
              <a:srgbClr val="E73C23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822960" y="5257800"/>
            <a:ext cx="5120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3293B"/>
                </a:solidFill>
                <a:latin typeface="Calibri"/>
              </a:rPr>
              <a:t>El paisaje árido de San Luis, casi un personaje (diálogo con el western).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5257800"/>
            <a:ext cx="5120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3293B"/>
                </a:solidFill>
                <a:latin typeface="Calibri"/>
              </a:rPr>
              <a:t>El tren: el progreso que avanza pero arrasa lo que no se adapta.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199632"/>
            <a:ext cx="12191695" cy="20320"/>
          </a:xfrm>
          <a:prstGeom prst="rect">
            <a:avLst/>
          </a:prstGeom>
          <a:solidFill>
            <a:srgbClr val="03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logo_umu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6355080"/>
            <a:ext cx="1181833" cy="3840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108960" y="6421596"/>
            <a:ext cx="8686800" cy="269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 dirty="0">
                <a:solidFill>
                  <a:srgbClr val="00B0F0"/>
                </a:solidFill>
                <a:latin typeface="Calibri"/>
              </a:rPr>
              <a:t>LA VISIBILIDAD DEL CINE ARGENTINO EN ESPAÑA (1980-2000)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320040"/>
            <a:ext cx="11155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3293B"/>
                </a:solidFill>
                <a:latin typeface="Calibri"/>
              </a:rPr>
              <a:t>CASO 3 · MARTÍN (HACHE)</a:t>
            </a:r>
            <a:r>
              <a:rPr sz="2200" b="0" i="0">
                <a:solidFill>
                  <a:srgbClr val="03293B"/>
                </a:solidFill>
                <a:latin typeface="Calibri"/>
              </a:rPr>
              <a:t> (Aristarain, 1997)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0704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 dirty="0">
                <a:solidFill>
                  <a:srgbClr val="00B0F0"/>
                </a:solidFill>
                <a:latin typeface="Calibri"/>
              </a:rPr>
              <a:t>Idea clave: </a:t>
            </a:r>
            <a:r>
              <a:rPr sz="1500" b="0" i="0" dirty="0" err="1">
                <a:solidFill>
                  <a:srgbClr val="00B0F0"/>
                </a:solidFill>
                <a:latin typeface="Calibri"/>
              </a:rPr>
              <a:t>el</a:t>
            </a:r>
            <a:r>
              <a:rPr sz="1500" b="0" i="0" dirty="0">
                <a:solidFill>
                  <a:srgbClr val="00B0F0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00B0F0"/>
                </a:solidFill>
                <a:latin typeface="Calibri"/>
              </a:rPr>
              <a:t>espacio</a:t>
            </a:r>
            <a:r>
              <a:rPr sz="1500" b="0" i="0" dirty="0">
                <a:solidFill>
                  <a:srgbClr val="00B0F0"/>
                </a:solidFill>
                <a:latin typeface="Calibri"/>
              </a:rPr>
              <a:t> </a:t>
            </a:r>
            <a:r>
              <a:rPr sz="1500" b="1" i="0" dirty="0">
                <a:solidFill>
                  <a:srgbClr val="00B0F0"/>
                </a:solidFill>
                <a:latin typeface="Calibri"/>
              </a:rPr>
              <a:t>FRAGMENTADO</a:t>
            </a:r>
            <a:r>
              <a:rPr sz="1500" b="0" i="0" dirty="0">
                <a:solidFill>
                  <a:srgbClr val="00B0F0"/>
                </a:solidFill>
                <a:latin typeface="Calibri"/>
              </a:rPr>
              <a:t> = </a:t>
            </a:r>
            <a:r>
              <a:rPr sz="1500" b="0" i="0" dirty="0" err="1">
                <a:solidFill>
                  <a:srgbClr val="00B0F0"/>
                </a:solidFill>
                <a:latin typeface="Calibri"/>
              </a:rPr>
              <a:t>identidad</a:t>
            </a:r>
            <a:r>
              <a:rPr sz="1500" b="0" i="0" dirty="0">
                <a:solidFill>
                  <a:srgbClr val="00B0F0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00B0F0"/>
                </a:solidFill>
                <a:latin typeface="Calibri"/>
              </a:rPr>
              <a:t>fragmentada</a:t>
            </a:r>
            <a:r>
              <a:rPr sz="1500" b="0" i="0" dirty="0">
                <a:solidFill>
                  <a:srgbClr val="00B0F0"/>
                </a:solidFill>
                <a:latin typeface="Calibri"/>
              </a:rPr>
              <a:t>. La memoria, </a:t>
            </a:r>
            <a:r>
              <a:rPr sz="1500" b="0" i="0" dirty="0" err="1">
                <a:solidFill>
                  <a:srgbClr val="00B0F0"/>
                </a:solidFill>
                <a:latin typeface="Calibri"/>
              </a:rPr>
              <a:t>por</a:t>
            </a:r>
            <a:r>
              <a:rPr sz="1500" b="0" i="0" dirty="0">
                <a:solidFill>
                  <a:srgbClr val="00B0F0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00B0F0"/>
                </a:solidFill>
                <a:latin typeface="Calibri"/>
              </a:rPr>
              <a:t>omisión</a:t>
            </a:r>
            <a:r>
              <a:rPr sz="1500" b="0" i="0" dirty="0">
                <a:solidFill>
                  <a:srgbClr val="E73C23"/>
                </a:solidFill>
                <a:latin typeface="Calibri"/>
              </a:rPr>
              <a:t>.</a:t>
            </a:r>
          </a:p>
        </p:txBody>
      </p:sp>
      <p:pic>
        <p:nvPicPr>
          <p:cNvPr id="5" name="Picture 4" descr="Dante recibe a Martin y a Hache en el aeropuer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218004"/>
            <a:ext cx="5120640" cy="2879192"/>
          </a:xfrm>
          <a:prstGeom prst="rect">
            <a:avLst/>
          </a:prstGeom>
          <a:ln w="38100">
            <a:solidFill>
              <a:srgbClr val="03293B"/>
            </a:solidFill>
          </a:ln>
        </p:spPr>
      </p:pic>
      <p:pic>
        <p:nvPicPr>
          <p:cNvPr id="6" name="Picture 5" descr="Cartel de Nueva York y Pacifico en el video de Hach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2218004"/>
            <a:ext cx="5120640" cy="2879192"/>
          </a:xfrm>
          <a:prstGeom prst="rect">
            <a:avLst/>
          </a:prstGeom>
          <a:ln w="38100">
            <a:solidFill>
              <a:srgbClr val="E73C23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822960" y="5257800"/>
            <a:ext cx="5120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3293B"/>
                </a:solidFill>
                <a:latin typeface="Calibri"/>
              </a:rPr>
              <a:t>Madrid y Buenos Aires casi indiferenciados: pocos exteriores.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5257800"/>
            <a:ext cx="5120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3293B"/>
                </a:solidFill>
                <a:latin typeface="Calibri"/>
              </a:rPr>
              <a:t>«Pacífico» sobre Nueva York: la nostalgia inventa horizontes imposibles.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199632"/>
            <a:ext cx="12191695" cy="20320"/>
          </a:xfrm>
          <a:prstGeom prst="rect">
            <a:avLst/>
          </a:prstGeom>
          <a:solidFill>
            <a:srgbClr val="03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logo_umu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6355080"/>
            <a:ext cx="1181833" cy="3840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108960" y="6421596"/>
            <a:ext cx="8686800" cy="269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 dirty="0">
                <a:solidFill>
                  <a:srgbClr val="00B0F0"/>
                </a:solidFill>
                <a:latin typeface="Calibri"/>
              </a:rPr>
              <a:t>LA VISIBILIDAD DEL CINE ARGENTINO EN ESPAÑA (1980-2000)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320040"/>
            <a:ext cx="1115568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 dirty="0">
                <a:solidFill>
                  <a:srgbClr val="00B0F0"/>
                </a:solidFill>
                <a:latin typeface="Calibri"/>
              </a:rPr>
              <a:t>RECEPCIÓN EN ESPAÑA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45920"/>
            <a:ext cx="1060704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600" b="1" i="0" dirty="0" err="1">
                <a:solidFill>
                  <a:srgbClr val="444444"/>
                </a:solidFill>
                <a:latin typeface="Calibri"/>
              </a:rPr>
              <a:t>Festivales</a:t>
            </a:r>
            <a:r>
              <a:rPr sz="1600" b="1" i="0" dirty="0">
                <a:solidFill>
                  <a:srgbClr val="444444"/>
                </a:solidFill>
                <a:latin typeface="Calibri"/>
              </a:rPr>
              <a:t> y </a:t>
            </a:r>
            <a:r>
              <a:rPr sz="1600" b="1" i="0" dirty="0" err="1">
                <a:solidFill>
                  <a:srgbClr val="444444"/>
                </a:solidFill>
                <a:latin typeface="Calibri"/>
              </a:rPr>
              <a:t>crítica</a:t>
            </a:r>
            <a:r>
              <a:rPr sz="1600" b="1" i="0" dirty="0">
                <a:solidFill>
                  <a:srgbClr val="444444"/>
                </a:solidFill>
                <a:latin typeface="Calibri"/>
              </a:rPr>
              <a:t>: </a:t>
            </a:r>
            <a:r>
              <a:rPr sz="1600" b="0" i="0" dirty="0">
                <a:solidFill>
                  <a:srgbClr val="444444"/>
                </a:solidFill>
                <a:latin typeface="Calibri"/>
              </a:rPr>
              <a:t>se lee </a:t>
            </a:r>
            <a:r>
              <a:rPr sz="1600" b="0" i="0" dirty="0" err="1">
                <a:solidFill>
                  <a:srgbClr val="444444"/>
                </a:solidFill>
                <a:latin typeface="Calibri"/>
              </a:rPr>
              <a:t>el</a:t>
            </a:r>
            <a:r>
              <a:rPr sz="1600" b="0" i="0" dirty="0">
                <a:solidFill>
                  <a:srgbClr val="444444"/>
                </a:solidFill>
                <a:latin typeface="Calibri"/>
              </a:rPr>
              <a:t> cine </a:t>
            </a:r>
            <a:r>
              <a:rPr sz="1600" b="0" i="0" dirty="0" err="1">
                <a:solidFill>
                  <a:srgbClr val="444444"/>
                </a:solidFill>
                <a:latin typeface="Calibri"/>
              </a:rPr>
              <a:t>argentino</a:t>
            </a:r>
            <a:r>
              <a:rPr sz="16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444444"/>
                </a:solidFill>
                <a:latin typeface="Calibri"/>
              </a:rPr>
              <a:t>como</a:t>
            </a:r>
            <a:r>
              <a:rPr sz="16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444444"/>
                </a:solidFill>
                <a:latin typeface="Calibri"/>
              </a:rPr>
              <a:t>una</a:t>
            </a:r>
            <a:r>
              <a:rPr sz="16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444444"/>
                </a:solidFill>
                <a:latin typeface="Calibri"/>
              </a:rPr>
              <a:t>cinematografía</a:t>
            </a:r>
            <a:r>
              <a:rPr sz="1600" b="0" i="0" dirty="0">
                <a:solidFill>
                  <a:srgbClr val="444444"/>
                </a:solidFill>
                <a:latin typeface="Calibri"/>
              </a:rPr>
              <a:t> con </a:t>
            </a:r>
            <a:r>
              <a:rPr sz="1600" b="0" i="0" dirty="0" err="1">
                <a:solidFill>
                  <a:srgbClr val="444444"/>
                </a:solidFill>
                <a:latin typeface="Calibri"/>
              </a:rPr>
              <a:t>identidad</a:t>
            </a:r>
            <a:r>
              <a:rPr sz="16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444444"/>
                </a:solidFill>
                <a:latin typeface="Calibri"/>
              </a:rPr>
              <a:t>propia</a:t>
            </a:r>
            <a:r>
              <a:rPr sz="1600" b="0" i="0" dirty="0">
                <a:solidFill>
                  <a:srgbClr val="444444"/>
                </a:solidFill>
                <a:latin typeface="Calibri"/>
              </a:rPr>
              <a:t>. Elena llama a </a:t>
            </a:r>
            <a:r>
              <a:rPr sz="1600" b="0" i="0" dirty="0" err="1">
                <a:solidFill>
                  <a:srgbClr val="444444"/>
                </a:solidFill>
                <a:latin typeface="Calibri"/>
              </a:rPr>
              <a:t>Aristarain</a:t>
            </a:r>
            <a:r>
              <a:rPr sz="16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444444"/>
                </a:solidFill>
                <a:latin typeface="Calibri"/>
              </a:rPr>
              <a:t>el</a:t>
            </a:r>
            <a:r>
              <a:rPr sz="1600" b="0" i="0" dirty="0">
                <a:solidFill>
                  <a:srgbClr val="444444"/>
                </a:solidFill>
                <a:latin typeface="Calibri"/>
              </a:rPr>
              <a:t> «</a:t>
            </a:r>
            <a:r>
              <a:rPr sz="1600" b="0" i="0" dirty="0" err="1">
                <a:solidFill>
                  <a:srgbClr val="444444"/>
                </a:solidFill>
                <a:latin typeface="Calibri"/>
              </a:rPr>
              <a:t>buque</a:t>
            </a:r>
            <a:r>
              <a:rPr sz="1600" b="0" i="0" dirty="0">
                <a:solidFill>
                  <a:srgbClr val="444444"/>
                </a:solidFill>
                <a:latin typeface="Calibri"/>
              </a:rPr>
              <a:t> insignia».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600" b="1" i="0" dirty="0" err="1">
                <a:solidFill>
                  <a:srgbClr val="444444"/>
                </a:solidFill>
                <a:latin typeface="Calibri"/>
              </a:rPr>
              <a:t>Premios</a:t>
            </a:r>
            <a:r>
              <a:rPr sz="1600" b="1" i="0" dirty="0">
                <a:solidFill>
                  <a:srgbClr val="444444"/>
                </a:solidFill>
                <a:latin typeface="Calibri"/>
              </a:rPr>
              <a:t> Goya: </a:t>
            </a:r>
            <a:r>
              <a:rPr sz="1600" b="0" i="0" dirty="0">
                <a:solidFill>
                  <a:srgbClr val="444444"/>
                </a:solidFill>
                <a:latin typeface="Calibri"/>
              </a:rPr>
              <a:t>Un </a:t>
            </a:r>
            <a:r>
              <a:rPr sz="1600" b="0" i="0" dirty="0" err="1">
                <a:solidFill>
                  <a:srgbClr val="444444"/>
                </a:solidFill>
                <a:latin typeface="Calibri"/>
              </a:rPr>
              <a:t>lugar</a:t>
            </a:r>
            <a:r>
              <a:rPr sz="16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444444"/>
                </a:solidFill>
                <a:latin typeface="Calibri"/>
              </a:rPr>
              <a:t>en</a:t>
            </a:r>
            <a:r>
              <a:rPr sz="16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444444"/>
                </a:solidFill>
                <a:latin typeface="Calibri"/>
              </a:rPr>
              <a:t>el</a:t>
            </a:r>
            <a:r>
              <a:rPr sz="16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444444"/>
                </a:solidFill>
                <a:latin typeface="Calibri"/>
              </a:rPr>
              <a:t>mundo</a:t>
            </a:r>
            <a:r>
              <a:rPr sz="1600" b="0" i="0" dirty="0">
                <a:solidFill>
                  <a:srgbClr val="444444"/>
                </a:solidFill>
                <a:latin typeface="Calibri"/>
              </a:rPr>
              <a:t>, </a:t>
            </a:r>
            <a:r>
              <a:rPr sz="1600" b="0" i="0" dirty="0" err="1">
                <a:solidFill>
                  <a:srgbClr val="444444"/>
                </a:solidFill>
                <a:latin typeface="Calibri"/>
              </a:rPr>
              <a:t>Cenizas</a:t>
            </a:r>
            <a:r>
              <a:rPr sz="1600" b="0" i="0" dirty="0">
                <a:solidFill>
                  <a:srgbClr val="444444"/>
                </a:solidFill>
                <a:latin typeface="Calibri"/>
              </a:rPr>
              <a:t> del </a:t>
            </a:r>
            <a:r>
              <a:rPr sz="1600" b="0" i="0" dirty="0" err="1">
                <a:solidFill>
                  <a:srgbClr val="444444"/>
                </a:solidFill>
                <a:latin typeface="Calibri"/>
              </a:rPr>
              <a:t>paraíso</a:t>
            </a:r>
            <a:r>
              <a:rPr sz="1600" b="0" i="0" dirty="0">
                <a:solidFill>
                  <a:srgbClr val="444444"/>
                </a:solidFill>
                <a:latin typeface="Calibri"/>
              </a:rPr>
              <a:t> y </a:t>
            </a:r>
            <a:r>
              <a:rPr sz="1600" b="0" i="0" dirty="0" err="1">
                <a:solidFill>
                  <a:srgbClr val="444444"/>
                </a:solidFill>
                <a:latin typeface="Calibri"/>
              </a:rPr>
              <a:t>el</a:t>
            </a:r>
            <a:r>
              <a:rPr sz="1600" b="0" i="0" dirty="0">
                <a:solidFill>
                  <a:srgbClr val="444444"/>
                </a:solidFill>
                <a:latin typeface="Calibri"/>
              </a:rPr>
              <a:t> Goya de Cecilia Roth </a:t>
            </a:r>
            <a:r>
              <a:rPr sz="1600" b="0" i="0" dirty="0" err="1">
                <a:solidFill>
                  <a:srgbClr val="444444"/>
                </a:solidFill>
                <a:latin typeface="Calibri"/>
              </a:rPr>
              <a:t>por</a:t>
            </a:r>
            <a:r>
              <a:rPr sz="1600" b="0" i="0" dirty="0">
                <a:solidFill>
                  <a:srgbClr val="444444"/>
                </a:solidFill>
                <a:latin typeface="Calibri"/>
              </a:rPr>
              <a:t> Martín (Hache).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600" b="1" i="0" dirty="0">
                <a:solidFill>
                  <a:srgbClr val="444444"/>
                </a:solidFill>
                <a:latin typeface="Calibri"/>
              </a:rPr>
              <a:t>El </a:t>
            </a:r>
            <a:r>
              <a:rPr sz="1600" b="1" i="0" dirty="0" err="1">
                <a:solidFill>
                  <a:srgbClr val="444444"/>
                </a:solidFill>
                <a:latin typeface="Calibri"/>
              </a:rPr>
              <a:t>matiz</a:t>
            </a:r>
            <a:r>
              <a:rPr sz="1600" b="1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600" b="1" i="0" dirty="0" err="1">
                <a:solidFill>
                  <a:srgbClr val="444444"/>
                </a:solidFill>
                <a:latin typeface="Calibri"/>
              </a:rPr>
              <a:t>importante</a:t>
            </a:r>
            <a:r>
              <a:rPr sz="1600" b="1" i="0" dirty="0">
                <a:solidFill>
                  <a:srgbClr val="444444"/>
                </a:solidFill>
                <a:latin typeface="Calibri"/>
              </a:rPr>
              <a:t>: </a:t>
            </a:r>
            <a:r>
              <a:rPr sz="1600" b="0" i="0" dirty="0" err="1">
                <a:solidFill>
                  <a:srgbClr val="444444"/>
                </a:solidFill>
                <a:latin typeface="Calibri"/>
              </a:rPr>
              <a:t>éxito</a:t>
            </a:r>
            <a:r>
              <a:rPr sz="16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444444"/>
                </a:solidFill>
                <a:latin typeface="Calibri"/>
              </a:rPr>
              <a:t>sobre</a:t>
            </a:r>
            <a:r>
              <a:rPr sz="16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444444"/>
                </a:solidFill>
                <a:latin typeface="Calibri"/>
              </a:rPr>
              <a:t>todo</a:t>
            </a:r>
            <a:r>
              <a:rPr sz="1600" b="0" i="0" dirty="0">
                <a:solidFill>
                  <a:srgbClr val="444444"/>
                </a:solidFill>
                <a:latin typeface="Calibri"/>
              </a:rPr>
              <a:t> CRÍTICO e INSTITUCIONAL. Salvo Un </a:t>
            </a:r>
            <a:r>
              <a:rPr sz="1600" b="0" i="0" dirty="0" err="1">
                <a:solidFill>
                  <a:srgbClr val="444444"/>
                </a:solidFill>
                <a:latin typeface="Calibri"/>
              </a:rPr>
              <a:t>lugar</a:t>
            </a:r>
            <a:r>
              <a:rPr sz="16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444444"/>
                </a:solidFill>
                <a:latin typeface="Calibri"/>
              </a:rPr>
              <a:t>en</a:t>
            </a:r>
            <a:r>
              <a:rPr sz="16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444444"/>
                </a:solidFill>
                <a:latin typeface="Calibri"/>
              </a:rPr>
              <a:t>el</a:t>
            </a:r>
            <a:r>
              <a:rPr sz="16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444444"/>
                </a:solidFill>
                <a:latin typeface="Calibri"/>
              </a:rPr>
              <a:t>mundo</a:t>
            </a:r>
            <a:r>
              <a:rPr sz="1600" b="0" i="0" dirty="0">
                <a:solidFill>
                  <a:srgbClr val="444444"/>
                </a:solidFill>
                <a:latin typeface="Calibri"/>
              </a:rPr>
              <a:t>, la </a:t>
            </a:r>
            <a:r>
              <a:rPr sz="1600" b="0" i="0" dirty="0" err="1">
                <a:solidFill>
                  <a:srgbClr val="444444"/>
                </a:solidFill>
                <a:latin typeface="Calibri"/>
              </a:rPr>
              <a:t>mayoría</a:t>
            </a:r>
            <a:r>
              <a:rPr sz="16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444444"/>
                </a:solidFill>
                <a:latin typeface="Calibri"/>
              </a:rPr>
              <a:t>circuló</a:t>
            </a:r>
            <a:r>
              <a:rPr sz="16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444444"/>
                </a:solidFill>
                <a:latin typeface="Calibri"/>
              </a:rPr>
              <a:t>en</a:t>
            </a:r>
            <a:r>
              <a:rPr sz="1600" b="0" i="0" dirty="0">
                <a:solidFill>
                  <a:srgbClr val="444444"/>
                </a:solidFill>
                <a:latin typeface="Calibri"/>
              </a:rPr>
              <a:t> salas </a:t>
            </a:r>
            <a:r>
              <a:rPr sz="1600" b="0" i="0" dirty="0" err="1">
                <a:solidFill>
                  <a:srgbClr val="444444"/>
                </a:solidFill>
                <a:latin typeface="Calibri"/>
              </a:rPr>
              <a:t>especializadas</a:t>
            </a:r>
            <a:r>
              <a:rPr sz="1600" b="0" i="0" dirty="0">
                <a:solidFill>
                  <a:srgbClr val="444444"/>
                </a:solidFill>
                <a:latin typeface="Calibri"/>
              </a:rPr>
              <a:t> y </a:t>
            </a:r>
            <a:r>
              <a:rPr sz="1600" b="0" i="0" dirty="0" err="1">
                <a:solidFill>
                  <a:srgbClr val="444444"/>
                </a:solidFill>
                <a:latin typeface="Calibri"/>
              </a:rPr>
              <a:t>versión</a:t>
            </a:r>
            <a:r>
              <a:rPr sz="1600" b="0" i="0" dirty="0">
                <a:solidFill>
                  <a:srgbClr val="444444"/>
                </a:solidFill>
                <a:latin typeface="Calibri"/>
              </a:rPr>
              <a:t> original.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199632"/>
            <a:ext cx="12191695" cy="20320"/>
          </a:xfrm>
          <a:prstGeom prst="rect">
            <a:avLst/>
          </a:prstGeom>
          <a:solidFill>
            <a:srgbClr val="03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logo_um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355080"/>
            <a:ext cx="1181833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108960" y="6327648"/>
            <a:ext cx="8686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73C23"/>
                </a:solidFill>
                <a:latin typeface="Calibri"/>
              </a:rPr>
              <a:t>LA VISIBILIDAD DEL CINE ARGENTINO EN ESPAÑA (1980-2000)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320040"/>
            <a:ext cx="1115568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 dirty="0">
                <a:solidFill>
                  <a:srgbClr val="00B0F0"/>
                </a:solidFill>
                <a:latin typeface="Calibri"/>
              </a:rPr>
              <a:t>CONCLUSIONES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64008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1" i="0" dirty="0">
                <a:solidFill>
                  <a:srgbClr val="00B0F0"/>
                </a:solidFill>
                <a:latin typeface="Calibri"/>
              </a:rPr>
              <a:t>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572768"/>
            <a:ext cx="10058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444444"/>
                </a:solidFill>
                <a:latin typeface="Calibri"/>
              </a:rPr>
              <a:t>El ESPACIO como herramienta de sentido: </a:t>
            </a:r>
            <a:r>
              <a:rPr sz="1600" b="0" i="0">
                <a:solidFill>
                  <a:srgbClr val="444444"/>
                </a:solidFill>
                <a:latin typeface="Calibri"/>
              </a:rPr>
              <a:t>ceguera (La historia oficial), unidad (Un lugar en el mundo), fragmentación (Martín (Hache)).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33472"/>
            <a:ext cx="64008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1" i="0" dirty="0">
                <a:solidFill>
                  <a:srgbClr val="00B0F0"/>
                </a:solidFill>
                <a:latin typeface="Calibri"/>
              </a:rPr>
              <a:t>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2651760"/>
            <a:ext cx="10058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444444"/>
                </a:solidFill>
                <a:latin typeface="Calibri"/>
              </a:rPr>
              <a:t>Dos modos de MEMORIA: </a:t>
            </a:r>
            <a:r>
              <a:rPr sz="1600" b="0" i="0">
                <a:solidFill>
                  <a:srgbClr val="444444"/>
                </a:solidFill>
                <a:latin typeface="Calibri"/>
              </a:rPr>
              <a:t>realismo afectivo y didáctico en los 80 frente a ambigüedad y distanciamiento en los 90.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12464"/>
            <a:ext cx="64008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1" i="0" dirty="0">
                <a:solidFill>
                  <a:srgbClr val="00B0F0"/>
                </a:solidFill>
                <a:latin typeface="Calibri"/>
              </a:rPr>
              <a:t>3.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3730752"/>
            <a:ext cx="10058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444444"/>
                </a:solidFill>
                <a:latin typeface="Calibri"/>
              </a:rPr>
              <a:t>El EXILIO como tejido conectivo </a:t>
            </a:r>
            <a:r>
              <a:rPr sz="1600" b="0" i="0">
                <a:solidFill>
                  <a:srgbClr val="444444"/>
                </a:solidFill>
                <a:latin typeface="Calibri"/>
              </a:rPr>
              <a:t>que preparó el terreno de las futuras coproducciones.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91456"/>
            <a:ext cx="64008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1" i="0" dirty="0">
                <a:solidFill>
                  <a:srgbClr val="00B0F0"/>
                </a:solidFill>
                <a:latin typeface="Calibri"/>
              </a:rPr>
              <a:t>4.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4809744"/>
            <a:ext cx="10058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444444"/>
                </a:solidFill>
                <a:latin typeface="Calibri"/>
              </a:rPr>
              <a:t>Hipótesis confirmadas: </a:t>
            </a:r>
            <a:r>
              <a:rPr sz="1600" b="0" i="0">
                <a:solidFill>
                  <a:srgbClr val="444444"/>
                </a:solidFill>
                <a:latin typeface="Calibri"/>
              </a:rPr>
              <a:t>España ofreció una recepción singular por resonancia con su propio pasado.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199632"/>
            <a:ext cx="12191695" cy="20320"/>
          </a:xfrm>
          <a:prstGeom prst="rect">
            <a:avLst/>
          </a:prstGeom>
          <a:solidFill>
            <a:srgbClr val="03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logo_um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355080"/>
            <a:ext cx="1181833" cy="38404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108960" y="6421596"/>
            <a:ext cx="8686800" cy="269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 dirty="0">
                <a:solidFill>
                  <a:srgbClr val="00B0F0"/>
                </a:solidFill>
                <a:latin typeface="Calibri"/>
              </a:rPr>
              <a:t>LA VISIBILIDAD DEL CINE ARGENTINO EN ESPAÑA (1980-2000)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320040"/>
            <a:ext cx="1115568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 dirty="0">
                <a:solidFill>
                  <a:srgbClr val="00B0F0"/>
                </a:solidFill>
                <a:latin typeface="Calibri"/>
              </a:rPr>
              <a:t>REFERENCIAS BIBLIOGRÁFICAS Y DOCUMENTALES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250" b="0" i="0" dirty="0">
                <a:solidFill>
                  <a:srgbClr val="444444"/>
                </a:solidFill>
                <a:latin typeface="Calibri"/>
              </a:rPr>
              <a:t>–  Amado, Ana María. La imagen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justa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: cine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argentino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 y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política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 (1980-2007). Buenos Aires: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Colihue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, 2009.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250" b="0" i="0" dirty="0">
                <a:solidFill>
                  <a:srgbClr val="444444"/>
                </a:solidFill>
                <a:latin typeface="Calibri"/>
              </a:rPr>
              <a:t>–  Campero, Agustín. Nuevo cine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argentino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: de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Rapado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 a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Historias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extraordinarias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. Buenos Aires: UNGS/BN, 2009.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250" b="0" i="0" dirty="0">
                <a:solidFill>
                  <a:srgbClr val="444444"/>
                </a:solidFill>
                <a:latin typeface="Calibri"/>
              </a:rPr>
              <a:t>–  Elena, Alberto. «La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difusión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 del cine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latinoamericano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en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 España: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una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aproximación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cuantitativa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». Madrid: AEHC, 1998.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250" b="0" i="0" dirty="0">
                <a:solidFill>
                  <a:srgbClr val="444444"/>
                </a:solidFill>
                <a:latin typeface="Calibri"/>
              </a:rPr>
              <a:t>–  González, Leandro Ramiro. «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Cruzando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el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 Atlántico: cine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argentino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en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 España».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Imagofagia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 17 (2018): 41-70.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250" b="0" i="0" dirty="0">
                <a:solidFill>
                  <a:srgbClr val="444444"/>
                </a:solidFill>
                <a:latin typeface="Calibri"/>
              </a:rPr>
              <a:t>–  Jensen, Silvina. Los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exiliados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. La lucha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por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los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 derechos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humanos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durante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 la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dictadura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. Buenos Aires: Sudamericana, 2010.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250" b="0" i="0" dirty="0">
                <a:solidFill>
                  <a:srgbClr val="444444"/>
                </a:solidFill>
                <a:latin typeface="Calibri"/>
              </a:rPr>
              <a:t>–  Richard, Nelly.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Fracturas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 de la memoria: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arte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 y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pensamiento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crítico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. Buenos Aires: Siglo XXI, 2007.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250" b="0" i="0" dirty="0">
                <a:solidFill>
                  <a:srgbClr val="444444"/>
                </a:solidFill>
                <a:latin typeface="Calibri"/>
              </a:rPr>
              <a:t>–  Rodríguez Marino, Paula.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Figuras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 del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destierro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.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Narraciones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 del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exilio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en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el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 cine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argentino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 (1978-1988).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Viedma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: UNRN, 2013.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250" b="0" i="0" dirty="0">
                <a:solidFill>
                  <a:srgbClr val="444444"/>
                </a:solidFill>
                <a:latin typeface="Calibri"/>
              </a:rPr>
              <a:t>–  Sarlo, Beatriz. Tiempo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pasado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. Cultura de la memoria y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giro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subjetivo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. Buenos Aires: Siglo XXI, 2005.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250" b="0" i="0" dirty="0">
                <a:solidFill>
                  <a:srgbClr val="444444"/>
                </a:solidFill>
                <a:latin typeface="Calibri"/>
              </a:rPr>
              <a:t>–  Thibaudeau, Pascale. «Martín (Hache): del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exilio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 al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regreso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,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el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itinerario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 de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una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transmisión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». ALHIM 6 (2003).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250" b="0" i="0" dirty="0">
                <a:solidFill>
                  <a:srgbClr val="444444"/>
                </a:solidFill>
                <a:latin typeface="Calibri"/>
              </a:rPr>
              <a:t>– 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Convenio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 Hispano-Argentino de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Relaciones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Cinematográficas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. BOE n.º 238, 4 de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octubre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 de 1969, 15550-15552.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199632"/>
            <a:ext cx="12191695" cy="20320"/>
          </a:xfrm>
          <a:prstGeom prst="rect">
            <a:avLst/>
          </a:prstGeom>
          <a:solidFill>
            <a:srgbClr val="03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logo_um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355080"/>
            <a:ext cx="1181833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108960" y="6421596"/>
            <a:ext cx="8686800" cy="269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 dirty="0">
                <a:solidFill>
                  <a:srgbClr val="00B0F0"/>
                </a:solidFill>
                <a:latin typeface="Calibri"/>
              </a:rPr>
              <a:t>LA VISIBILIDAD DEL CINE ARGENTINO EN ESPAÑA (1980-2000)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coraz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4297680"/>
            <a:ext cx="3291840" cy="139905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2468880"/>
            <a:ext cx="9144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400" b="1" i="0">
                <a:solidFill>
                  <a:srgbClr val="FFFEF5"/>
                </a:solidFill>
                <a:latin typeface="Calibri"/>
              </a:rPr>
              <a:t>¡GRACIAS!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657600"/>
            <a:ext cx="8686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1">
                <a:solidFill>
                  <a:srgbClr val="E9DDCF"/>
                </a:solidFill>
                <a:latin typeface="Calibri"/>
              </a:rPr>
              <a:t>Quedo a disposición del tribunal para sus preguntas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1156</TotalTime>
  <Words>2353</Words>
  <Application>Microsoft Office PowerPoint</Application>
  <PresentationFormat>Panorámica</PresentationFormat>
  <Paragraphs>158</Paragraphs>
  <Slides>19</Slides>
  <Notes>19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Juan Ariel Vallejos</dc:creator>
  <cp:keywords/>
  <dc:description>generated using python-pptx</dc:description>
  <cp:lastModifiedBy>Juan Ariel Vallejos</cp:lastModifiedBy>
  <cp:revision>3</cp:revision>
  <dcterms:created xsi:type="dcterms:W3CDTF">2013-01-27T09:14:16Z</dcterms:created>
  <dcterms:modified xsi:type="dcterms:W3CDTF">2026-06-28T16:13:24Z</dcterms:modified>
  <cp:category/>
</cp:coreProperties>
</file>