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76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D296F-AA4E-4AF5-86D1-5D10949A36C0}" type="doc">
      <dgm:prSet loTypeId="urn:microsoft.com/office/officeart/2005/8/layout/funnel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7F4A3AA-DEFB-4C5C-B98C-800328B420E0}">
      <dgm:prSet phldrT="[Texto]" phldr="0" custT="1"/>
      <dgm:spPr/>
      <dgm:t>
        <a:bodyPr/>
        <a:lstStyle/>
        <a:p>
          <a:r>
            <a:rPr lang="es-ES" sz="2000" dirty="0"/>
            <a:t>Secuestro</a:t>
          </a:r>
        </a:p>
      </dgm:t>
    </dgm:pt>
    <dgm:pt modelId="{71E1AADC-9A19-44D5-B4A7-14B277E1600E}" type="parTrans" cxnId="{D15A2141-2122-4024-8014-D91AD57BED3F}">
      <dgm:prSet/>
      <dgm:spPr/>
      <dgm:t>
        <a:bodyPr/>
        <a:lstStyle/>
        <a:p>
          <a:endParaRPr lang="es-ES"/>
        </a:p>
      </dgm:t>
    </dgm:pt>
    <dgm:pt modelId="{D98F7B16-0862-4EBB-8B58-1CBBB740EF42}" type="sibTrans" cxnId="{D15A2141-2122-4024-8014-D91AD57BED3F}">
      <dgm:prSet/>
      <dgm:spPr/>
      <dgm:t>
        <a:bodyPr/>
        <a:lstStyle/>
        <a:p>
          <a:endParaRPr lang="es-ES"/>
        </a:p>
      </dgm:t>
    </dgm:pt>
    <dgm:pt modelId="{8F551290-AC7C-4266-AB7A-9FDADDAA9B9C}">
      <dgm:prSet phldrT="[Texto]" phldr="0" custT="1"/>
      <dgm:spPr/>
      <dgm:t>
        <a:bodyPr/>
        <a:lstStyle/>
        <a:p>
          <a:r>
            <a:rPr lang="es-ES" sz="2000" dirty="0"/>
            <a:t>Tortura</a:t>
          </a:r>
        </a:p>
      </dgm:t>
    </dgm:pt>
    <dgm:pt modelId="{FA61205E-9288-4E73-A61A-9294B86FA1E9}" type="parTrans" cxnId="{43DD6A14-E502-4303-9D83-6B34FEFE01D5}">
      <dgm:prSet/>
      <dgm:spPr/>
      <dgm:t>
        <a:bodyPr/>
        <a:lstStyle/>
        <a:p>
          <a:endParaRPr lang="es-ES"/>
        </a:p>
      </dgm:t>
    </dgm:pt>
    <dgm:pt modelId="{B66B5638-B0AC-4A59-A537-4B6FC4F89621}" type="sibTrans" cxnId="{43DD6A14-E502-4303-9D83-6B34FEFE01D5}">
      <dgm:prSet/>
      <dgm:spPr/>
      <dgm:t>
        <a:bodyPr/>
        <a:lstStyle/>
        <a:p>
          <a:endParaRPr lang="es-ES"/>
        </a:p>
      </dgm:t>
    </dgm:pt>
    <dgm:pt modelId="{A62E18EF-7107-4A7B-84B2-CB11F57C0DE5}">
      <dgm:prSet phldrT="[Texto]" phldr="0" custT="1"/>
      <dgm:spPr/>
      <dgm:t>
        <a:bodyPr/>
        <a:lstStyle/>
        <a:p>
          <a:pPr algn="l"/>
          <a:r>
            <a:rPr lang="es-ES" sz="2000" dirty="0" err="1"/>
            <a:t>Desaparaciones</a:t>
          </a:r>
          <a:endParaRPr lang="es-ES" sz="2000" dirty="0"/>
        </a:p>
      </dgm:t>
    </dgm:pt>
    <dgm:pt modelId="{3485985F-E771-4237-A5BE-47EB76110D12}" type="parTrans" cxnId="{2C1B65A1-992A-4FC3-B5D3-6B8ED60021AB}">
      <dgm:prSet/>
      <dgm:spPr/>
      <dgm:t>
        <a:bodyPr/>
        <a:lstStyle/>
        <a:p>
          <a:endParaRPr lang="es-ES"/>
        </a:p>
      </dgm:t>
    </dgm:pt>
    <dgm:pt modelId="{466E6DA9-7129-4CDB-89F2-63FB00441234}" type="sibTrans" cxnId="{2C1B65A1-992A-4FC3-B5D3-6B8ED60021AB}">
      <dgm:prSet/>
      <dgm:spPr/>
      <dgm:t>
        <a:bodyPr/>
        <a:lstStyle/>
        <a:p>
          <a:endParaRPr lang="es-ES"/>
        </a:p>
      </dgm:t>
    </dgm:pt>
    <dgm:pt modelId="{E70BACAE-9CEC-4A99-AAEA-8C77A92359C7}">
      <dgm:prSet phldrT="[Texto]" phldr="0"/>
      <dgm:spPr/>
      <dgm:t>
        <a:bodyPr/>
        <a:lstStyle/>
        <a:p>
          <a:r>
            <a:rPr lang="es-ES" dirty="0"/>
            <a:t>Maquinaria Represiva</a:t>
          </a:r>
        </a:p>
      </dgm:t>
    </dgm:pt>
    <dgm:pt modelId="{24D6F9B6-87EE-4DDF-B3A6-27913F2B63D6}" type="parTrans" cxnId="{B04B577A-D59C-4756-81B9-9938FF66EF01}">
      <dgm:prSet/>
      <dgm:spPr/>
      <dgm:t>
        <a:bodyPr/>
        <a:lstStyle/>
        <a:p>
          <a:endParaRPr lang="es-ES"/>
        </a:p>
      </dgm:t>
    </dgm:pt>
    <dgm:pt modelId="{2BC04CC3-C931-465D-AEF9-09D3393D1F55}" type="sibTrans" cxnId="{B04B577A-D59C-4756-81B9-9938FF66EF01}">
      <dgm:prSet/>
      <dgm:spPr/>
      <dgm:t>
        <a:bodyPr/>
        <a:lstStyle/>
        <a:p>
          <a:endParaRPr lang="es-ES"/>
        </a:p>
      </dgm:t>
    </dgm:pt>
    <dgm:pt modelId="{C076CB9C-1819-40A1-8C55-869D30FD607E}" type="pres">
      <dgm:prSet presAssocID="{D67D296F-AA4E-4AF5-86D1-5D10949A36C0}" presName="Name0" presStyleCnt="0">
        <dgm:presLayoutVars>
          <dgm:chMax val="4"/>
          <dgm:resizeHandles val="exact"/>
        </dgm:presLayoutVars>
      </dgm:prSet>
      <dgm:spPr/>
    </dgm:pt>
    <dgm:pt modelId="{ED6A9663-295E-4038-A688-9CCE9CE7CB93}" type="pres">
      <dgm:prSet presAssocID="{D67D296F-AA4E-4AF5-86D1-5D10949A36C0}" presName="ellipse" presStyleLbl="trBgShp" presStyleIdx="0" presStyleCnt="1" custLinFactNeighborX="-6788" custLinFactNeighborY="5921"/>
      <dgm:spPr/>
    </dgm:pt>
    <dgm:pt modelId="{30B74E32-CE19-47D8-A805-CCEA56DCBA00}" type="pres">
      <dgm:prSet presAssocID="{D67D296F-AA4E-4AF5-86D1-5D10949A36C0}" presName="arrow1" presStyleLbl="fgShp" presStyleIdx="0" presStyleCnt="1" custLinFactNeighborX="-22046" custLinFactNeighborY="10565"/>
      <dgm:spPr/>
    </dgm:pt>
    <dgm:pt modelId="{6F5BEE3D-C7E1-4DC5-A325-04231B6D01A9}" type="pres">
      <dgm:prSet presAssocID="{D67D296F-AA4E-4AF5-86D1-5D10949A36C0}" presName="rectangle" presStyleLbl="revTx" presStyleIdx="0" presStyleCnt="1" custLinFactNeighborX="-6894" custLinFactNeighborY="6683">
        <dgm:presLayoutVars>
          <dgm:bulletEnabled val="1"/>
        </dgm:presLayoutVars>
      </dgm:prSet>
      <dgm:spPr/>
    </dgm:pt>
    <dgm:pt modelId="{C722118C-AC57-4D2C-913C-DDEAF9A3743B}" type="pres">
      <dgm:prSet presAssocID="{A62E18EF-7107-4A7B-84B2-CB11F57C0DE5}" presName="item1" presStyleLbl="node1" presStyleIdx="0" presStyleCnt="3" custLinFactNeighborX="-31281" custLinFactNeighborY="5226">
        <dgm:presLayoutVars>
          <dgm:bulletEnabled val="1"/>
        </dgm:presLayoutVars>
      </dgm:prSet>
      <dgm:spPr/>
    </dgm:pt>
    <dgm:pt modelId="{D5F22D21-DECA-45D9-AEFF-B66C285F25FD}" type="pres">
      <dgm:prSet presAssocID="{8F551290-AC7C-4266-AB7A-9FDADDAA9B9C}" presName="item2" presStyleLbl="node1" presStyleIdx="1" presStyleCnt="3" custScaleX="142377" custLinFactNeighborX="-15515" custLinFactNeighborY="-14340">
        <dgm:presLayoutVars>
          <dgm:bulletEnabled val="1"/>
        </dgm:presLayoutVars>
      </dgm:prSet>
      <dgm:spPr/>
    </dgm:pt>
    <dgm:pt modelId="{86318317-CCC4-403D-A807-0D47500A3BFD}" type="pres">
      <dgm:prSet presAssocID="{E70BACAE-9CEC-4A99-AAEA-8C77A92359C7}" presName="item3" presStyleLbl="node1" presStyleIdx="2" presStyleCnt="3" custLinFactNeighborX="11591" custLinFactNeighborY="9838">
        <dgm:presLayoutVars>
          <dgm:bulletEnabled val="1"/>
        </dgm:presLayoutVars>
      </dgm:prSet>
      <dgm:spPr/>
    </dgm:pt>
    <dgm:pt modelId="{F79A9D02-9F0C-43B4-B4AE-655ED77922D5}" type="pres">
      <dgm:prSet presAssocID="{D67D296F-AA4E-4AF5-86D1-5D10949A36C0}" presName="funnel" presStyleLbl="trAlignAcc1" presStyleIdx="0" presStyleCnt="1" custLinFactNeighborX="-6049" custLinFactNeighborY="1821"/>
      <dgm:spPr/>
    </dgm:pt>
  </dgm:ptLst>
  <dgm:cxnLst>
    <dgm:cxn modelId="{43DD6A14-E502-4303-9D83-6B34FEFE01D5}" srcId="{D67D296F-AA4E-4AF5-86D1-5D10949A36C0}" destId="{8F551290-AC7C-4266-AB7A-9FDADDAA9B9C}" srcOrd="2" destOrd="0" parTransId="{FA61205E-9288-4E73-A61A-9294B86FA1E9}" sibTransId="{B66B5638-B0AC-4A59-A537-4B6FC4F89621}"/>
    <dgm:cxn modelId="{9A6CD41F-F187-438C-A64B-1A0ED83664BA}" type="presOf" srcId="{8F551290-AC7C-4266-AB7A-9FDADDAA9B9C}" destId="{C722118C-AC57-4D2C-913C-DDEAF9A3743B}" srcOrd="0" destOrd="0" presId="urn:microsoft.com/office/officeart/2005/8/layout/funnel1"/>
    <dgm:cxn modelId="{D15A2141-2122-4024-8014-D91AD57BED3F}" srcId="{D67D296F-AA4E-4AF5-86D1-5D10949A36C0}" destId="{E7F4A3AA-DEFB-4C5C-B98C-800328B420E0}" srcOrd="0" destOrd="0" parTransId="{71E1AADC-9A19-44D5-B4A7-14B277E1600E}" sibTransId="{D98F7B16-0862-4EBB-8B58-1CBBB740EF42}"/>
    <dgm:cxn modelId="{D3C91B46-C6CF-4E9F-A662-BDDEB699E321}" type="presOf" srcId="{E7F4A3AA-DEFB-4C5C-B98C-800328B420E0}" destId="{86318317-CCC4-403D-A807-0D47500A3BFD}" srcOrd="0" destOrd="0" presId="urn:microsoft.com/office/officeart/2005/8/layout/funnel1"/>
    <dgm:cxn modelId="{B04B577A-D59C-4756-81B9-9938FF66EF01}" srcId="{D67D296F-AA4E-4AF5-86D1-5D10949A36C0}" destId="{E70BACAE-9CEC-4A99-AAEA-8C77A92359C7}" srcOrd="3" destOrd="0" parTransId="{24D6F9B6-87EE-4DDF-B3A6-27913F2B63D6}" sibTransId="{2BC04CC3-C931-465D-AEF9-09D3393D1F55}"/>
    <dgm:cxn modelId="{A6D1CD95-811A-4A54-AC57-721CFA72C124}" type="presOf" srcId="{D67D296F-AA4E-4AF5-86D1-5D10949A36C0}" destId="{C076CB9C-1819-40A1-8C55-869D30FD607E}" srcOrd="0" destOrd="0" presId="urn:microsoft.com/office/officeart/2005/8/layout/funnel1"/>
    <dgm:cxn modelId="{17C01A9B-307B-409D-8C24-0D5BB4D05C93}" type="presOf" srcId="{E70BACAE-9CEC-4A99-AAEA-8C77A92359C7}" destId="{6F5BEE3D-C7E1-4DC5-A325-04231B6D01A9}" srcOrd="0" destOrd="0" presId="urn:microsoft.com/office/officeart/2005/8/layout/funnel1"/>
    <dgm:cxn modelId="{2C1B65A1-992A-4FC3-B5D3-6B8ED60021AB}" srcId="{D67D296F-AA4E-4AF5-86D1-5D10949A36C0}" destId="{A62E18EF-7107-4A7B-84B2-CB11F57C0DE5}" srcOrd="1" destOrd="0" parTransId="{3485985F-E771-4237-A5BE-47EB76110D12}" sibTransId="{466E6DA9-7129-4CDB-89F2-63FB00441234}"/>
    <dgm:cxn modelId="{F5BD67EC-DC05-4A42-9249-4A7E9CDA1575}" type="presOf" srcId="{A62E18EF-7107-4A7B-84B2-CB11F57C0DE5}" destId="{D5F22D21-DECA-45D9-AEFF-B66C285F25FD}" srcOrd="0" destOrd="0" presId="urn:microsoft.com/office/officeart/2005/8/layout/funnel1"/>
    <dgm:cxn modelId="{81BCECA9-95BC-48E0-8B30-6821AE54D425}" type="presParOf" srcId="{C076CB9C-1819-40A1-8C55-869D30FD607E}" destId="{ED6A9663-295E-4038-A688-9CCE9CE7CB93}" srcOrd="0" destOrd="0" presId="urn:microsoft.com/office/officeart/2005/8/layout/funnel1"/>
    <dgm:cxn modelId="{A95918EA-EB14-414C-955D-86E040AE522E}" type="presParOf" srcId="{C076CB9C-1819-40A1-8C55-869D30FD607E}" destId="{30B74E32-CE19-47D8-A805-CCEA56DCBA00}" srcOrd="1" destOrd="0" presId="urn:microsoft.com/office/officeart/2005/8/layout/funnel1"/>
    <dgm:cxn modelId="{6A2D95A6-9ED9-484B-B0DB-2B788508BA8E}" type="presParOf" srcId="{C076CB9C-1819-40A1-8C55-869D30FD607E}" destId="{6F5BEE3D-C7E1-4DC5-A325-04231B6D01A9}" srcOrd="2" destOrd="0" presId="urn:microsoft.com/office/officeart/2005/8/layout/funnel1"/>
    <dgm:cxn modelId="{5E441A8B-8098-4A50-9F07-C10F64287622}" type="presParOf" srcId="{C076CB9C-1819-40A1-8C55-869D30FD607E}" destId="{C722118C-AC57-4D2C-913C-DDEAF9A3743B}" srcOrd="3" destOrd="0" presId="urn:microsoft.com/office/officeart/2005/8/layout/funnel1"/>
    <dgm:cxn modelId="{C4B2A9B5-2EFB-41D1-87F3-9E6375FAFC52}" type="presParOf" srcId="{C076CB9C-1819-40A1-8C55-869D30FD607E}" destId="{D5F22D21-DECA-45D9-AEFF-B66C285F25FD}" srcOrd="4" destOrd="0" presId="urn:microsoft.com/office/officeart/2005/8/layout/funnel1"/>
    <dgm:cxn modelId="{ADC200F3-E472-4CBC-BE30-900002B9743B}" type="presParOf" srcId="{C076CB9C-1819-40A1-8C55-869D30FD607E}" destId="{86318317-CCC4-403D-A807-0D47500A3BFD}" srcOrd="5" destOrd="0" presId="urn:microsoft.com/office/officeart/2005/8/layout/funnel1"/>
    <dgm:cxn modelId="{3B63BCD9-D381-4681-918D-05E7E741CEE7}" type="presParOf" srcId="{C076CB9C-1819-40A1-8C55-869D30FD607E}" destId="{F79A9D02-9F0C-43B4-B4AE-655ED77922D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7BF835-8DA7-497F-B275-90B5E1E29DC1}" type="doc">
      <dgm:prSet loTypeId="urn:microsoft.com/office/officeart/2005/8/layout/hProcess11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4C22977-BCD7-4F20-8BCD-B10E04339F7E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80</a:t>
          </a:r>
        </a:p>
      </dgm:t>
    </dgm:pt>
    <dgm:pt modelId="{C5111ECD-E987-4510-8646-DFA2EFAE98EB}" type="parTrans" cxnId="{E842B2FC-7A27-4D4E-8D90-31A478DC8695}">
      <dgm:prSet/>
      <dgm:spPr/>
      <dgm:t>
        <a:bodyPr/>
        <a:lstStyle/>
        <a:p>
          <a:endParaRPr lang="es-ES"/>
        </a:p>
      </dgm:t>
    </dgm:pt>
    <dgm:pt modelId="{626A25F1-B890-4E4F-BEEA-C516BE7D2F5C}" type="sibTrans" cxnId="{E842B2FC-7A27-4D4E-8D90-31A478DC8695}">
      <dgm:prSet/>
      <dgm:spPr/>
      <dgm:t>
        <a:bodyPr/>
        <a:lstStyle/>
        <a:p>
          <a:endParaRPr lang="es-ES"/>
        </a:p>
      </dgm:t>
    </dgm:pt>
    <dgm:pt modelId="{A4C7F5FD-ECA3-41D4-8D9E-61B0E1DEB744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90</a:t>
          </a:r>
        </a:p>
      </dgm:t>
    </dgm:pt>
    <dgm:pt modelId="{57A99AC9-C24E-4268-9D57-01DA4909E637}" type="parTrans" cxnId="{749F5735-58F4-4FE1-BC47-ED455EDB81A6}">
      <dgm:prSet/>
      <dgm:spPr/>
      <dgm:t>
        <a:bodyPr/>
        <a:lstStyle/>
        <a:p>
          <a:endParaRPr lang="es-ES"/>
        </a:p>
      </dgm:t>
    </dgm:pt>
    <dgm:pt modelId="{8CE7B7AF-4D8D-432B-B5A6-EAC3CE986D8C}" type="sibTrans" cxnId="{749F5735-58F4-4FE1-BC47-ED455EDB81A6}">
      <dgm:prSet/>
      <dgm:spPr/>
      <dgm:t>
        <a:bodyPr/>
        <a:lstStyle/>
        <a:p>
          <a:endParaRPr lang="es-ES"/>
        </a:p>
      </dgm:t>
    </dgm:pt>
    <dgm:pt modelId="{DFBB8ED2-4457-447F-950A-99A7BF1F88B7}" type="pres">
      <dgm:prSet presAssocID="{7E7BF835-8DA7-497F-B275-90B5E1E29DC1}" presName="Name0" presStyleCnt="0">
        <dgm:presLayoutVars>
          <dgm:dir/>
          <dgm:resizeHandles val="exact"/>
        </dgm:presLayoutVars>
      </dgm:prSet>
      <dgm:spPr/>
    </dgm:pt>
    <dgm:pt modelId="{E88EA05A-5CD0-4A29-B674-BCF5F684344E}" type="pres">
      <dgm:prSet presAssocID="{7E7BF835-8DA7-497F-B275-90B5E1E29DC1}" presName="arrow" presStyleLbl="bgShp" presStyleIdx="0" presStyleCnt="1" custScaleY="52633" custLinFactNeighborX="1765" custLinFactNeighborY="-1775"/>
      <dgm:spPr/>
    </dgm:pt>
    <dgm:pt modelId="{11B64564-F0C9-45C3-BAEB-3B4E925277BA}" type="pres">
      <dgm:prSet presAssocID="{7E7BF835-8DA7-497F-B275-90B5E1E29DC1}" presName="points" presStyleCnt="0"/>
      <dgm:spPr/>
    </dgm:pt>
    <dgm:pt modelId="{D873D507-CAF5-452A-8862-06D31CD8F0C5}" type="pres">
      <dgm:prSet presAssocID="{94C22977-BCD7-4F20-8BCD-B10E04339F7E}" presName="compositeA" presStyleCnt="0"/>
      <dgm:spPr/>
    </dgm:pt>
    <dgm:pt modelId="{01A15A24-1840-4208-87CC-6A2F7397D323}" type="pres">
      <dgm:prSet presAssocID="{94C22977-BCD7-4F20-8BCD-B10E04339F7E}" presName="textA" presStyleLbl="revTx" presStyleIdx="0" presStyleCnt="2" custScaleX="90838" custScaleY="79831" custLinFactY="19979" custLinFactNeighborX="5568" custLinFactNeighborY="100000">
        <dgm:presLayoutVars>
          <dgm:bulletEnabled val="1"/>
        </dgm:presLayoutVars>
      </dgm:prSet>
      <dgm:spPr/>
    </dgm:pt>
    <dgm:pt modelId="{E8FCC846-1791-415E-BFB3-28CB29720EBE}" type="pres">
      <dgm:prSet presAssocID="{94C22977-BCD7-4F20-8BCD-B10E04339F7E}" presName="circleA" presStyleLbl="node1" presStyleIdx="0" presStyleCnt="2" custLinFactNeighborX="96189" custLinFactNeighborY="12412"/>
      <dgm:spPr/>
    </dgm:pt>
    <dgm:pt modelId="{0FCC2F5C-0315-4642-BF86-B7CD64252561}" type="pres">
      <dgm:prSet presAssocID="{94C22977-BCD7-4F20-8BCD-B10E04339F7E}" presName="spaceA" presStyleCnt="0"/>
      <dgm:spPr/>
    </dgm:pt>
    <dgm:pt modelId="{830C4CA7-52C3-4D3B-A861-3D6E5C9C02F2}" type="pres">
      <dgm:prSet presAssocID="{626A25F1-B890-4E4F-BEEA-C516BE7D2F5C}" presName="space" presStyleCnt="0"/>
      <dgm:spPr/>
    </dgm:pt>
    <dgm:pt modelId="{D14E7519-F162-4ECA-A6AD-67D71E3577EC}" type="pres">
      <dgm:prSet presAssocID="{A4C7F5FD-ECA3-41D4-8D9E-61B0E1DEB744}" presName="compositeB" presStyleCnt="0"/>
      <dgm:spPr/>
    </dgm:pt>
    <dgm:pt modelId="{6756CE44-1693-41AC-B099-C0BBD34F824E}" type="pres">
      <dgm:prSet presAssocID="{A4C7F5FD-ECA3-41D4-8D9E-61B0E1DEB744}" presName="textB" presStyleLbl="revTx" presStyleIdx="1" presStyleCnt="2" custScaleX="89798" custScaleY="100392" custLinFactNeighborX="22175" custLinFactNeighborY="-24685">
        <dgm:presLayoutVars>
          <dgm:bulletEnabled val="1"/>
        </dgm:presLayoutVars>
      </dgm:prSet>
      <dgm:spPr/>
    </dgm:pt>
    <dgm:pt modelId="{B504AF9A-8F3D-4367-A08F-A9D6104DEF30}" type="pres">
      <dgm:prSet presAssocID="{A4C7F5FD-ECA3-41D4-8D9E-61B0E1DEB744}" presName="circleB" presStyleLbl="node1" presStyleIdx="1" presStyleCnt="2" custLinFactX="162528" custLinFactNeighborX="200000" custLinFactNeighborY="-5549"/>
      <dgm:spPr/>
    </dgm:pt>
    <dgm:pt modelId="{65C5762C-BB44-420A-9F3C-45BC3E0447B3}" type="pres">
      <dgm:prSet presAssocID="{A4C7F5FD-ECA3-41D4-8D9E-61B0E1DEB744}" presName="spaceB" presStyleCnt="0"/>
      <dgm:spPr/>
    </dgm:pt>
  </dgm:ptLst>
  <dgm:cxnLst>
    <dgm:cxn modelId="{4D90751F-1BA8-4D8B-B9D5-D03FB0C4346D}" type="presOf" srcId="{7E7BF835-8DA7-497F-B275-90B5E1E29DC1}" destId="{DFBB8ED2-4457-447F-950A-99A7BF1F88B7}" srcOrd="0" destOrd="0" presId="urn:microsoft.com/office/officeart/2005/8/layout/hProcess11"/>
    <dgm:cxn modelId="{F6877B2C-58DE-4E45-BE72-43A22A7B1C7B}" type="presOf" srcId="{94C22977-BCD7-4F20-8BCD-B10E04339F7E}" destId="{01A15A24-1840-4208-87CC-6A2F7397D323}" srcOrd="0" destOrd="0" presId="urn:microsoft.com/office/officeart/2005/8/layout/hProcess11"/>
    <dgm:cxn modelId="{749F5735-58F4-4FE1-BC47-ED455EDB81A6}" srcId="{7E7BF835-8DA7-497F-B275-90B5E1E29DC1}" destId="{A4C7F5FD-ECA3-41D4-8D9E-61B0E1DEB744}" srcOrd="1" destOrd="0" parTransId="{57A99AC9-C24E-4268-9D57-01DA4909E637}" sibTransId="{8CE7B7AF-4D8D-432B-B5A6-EAC3CE986D8C}"/>
    <dgm:cxn modelId="{E31FDCAF-5FE3-473E-86DB-00A9127F5310}" type="presOf" srcId="{A4C7F5FD-ECA3-41D4-8D9E-61B0E1DEB744}" destId="{6756CE44-1693-41AC-B099-C0BBD34F824E}" srcOrd="0" destOrd="0" presId="urn:microsoft.com/office/officeart/2005/8/layout/hProcess11"/>
    <dgm:cxn modelId="{E842B2FC-7A27-4D4E-8D90-31A478DC8695}" srcId="{7E7BF835-8DA7-497F-B275-90B5E1E29DC1}" destId="{94C22977-BCD7-4F20-8BCD-B10E04339F7E}" srcOrd="0" destOrd="0" parTransId="{C5111ECD-E987-4510-8646-DFA2EFAE98EB}" sibTransId="{626A25F1-B890-4E4F-BEEA-C516BE7D2F5C}"/>
    <dgm:cxn modelId="{E6DAB87C-E6BA-4B38-AA20-EE367489F728}" type="presParOf" srcId="{DFBB8ED2-4457-447F-950A-99A7BF1F88B7}" destId="{E88EA05A-5CD0-4A29-B674-BCF5F684344E}" srcOrd="0" destOrd="0" presId="urn:microsoft.com/office/officeart/2005/8/layout/hProcess11"/>
    <dgm:cxn modelId="{9AD09489-2A96-4BB4-BEF3-7C86245CDF3C}" type="presParOf" srcId="{DFBB8ED2-4457-447F-950A-99A7BF1F88B7}" destId="{11B64564-F0C9-45C3-BAEB-3B4E925277BA}" srcOrd="1" destOrd="0" presId="urn:microsoft.com/office/officeart/2005/8/layout/hProcess11"/>
    <dgm:cxn modelId="{3D031A1A-827D-4526-B8C7-33CFB1EE70EF}" type="presParOf" srcId="{11B64564-F0C9-45C3-BAEB-3B4E925277BA}" destId="{D873D507-CAF5-452A-8862-06D31CD8F0C5}" srcOrd="0" destOrd="0" presId="urn:microsoft.com/office/officeart/2005/8/layout/hProcess11"/>
    <dgm:cxn modelId="{0FEDB570-7608-4141-BB20-0C19301CC69D}" type="presParOf" srcId="{D873D507-CAF5-452A-8862-06D31CD8F0C5}" destId="{01A15A24-1840-4208-87CC-6A2F7397D323}" srcOrd="0" destOrd="0" presId="urn:microsoft.com/office/officeart/2005/8/layout/hProcess11"/>
    <dgm:cxn modelId="{20EECB06-7FEA-4081-A44A-64389B169D7F}" type="presParOf" srcId="{D873D507-CAF5-452A-8862-06D31CD8F0C5}" destId="{E8FCC846-1791-415E-BFB3-28CB29720EBE}" srcOrd="1" destOrd="0" presId="urn:microsoft.com/office/officeart/2005/8/layout/hProcess11"/>
    <dgm:cxn modelId="{02BD3B49-55BD-4C28-A8A8-59979E20200D}" type="presParOf" srcId="{D873D507-CAF5-452A-8862-06D31CD8F0C5}" destId="{0FCC2F5C-0315-4642-BF86-B7CD64252561}" srcOrd="2" destOrd="0" presId="urn:microsoft.com/office/officeart/2005/8/layout/hProcess11"/>
    <dgm:cxn modelId="{B8059390-8DA3-4351-8547-55A9597428C5}" type="presParOf" srcId="{11B64564-F0C9-45C3-BAEB-3B4E925277BA}" destId="{830C4CA7-52C3-4D3B-A861-3D6E5C9C02F2}" srcOrd="1" destOrd="0" presId="urn:microsoft.com/office/officeart/2005/8/layout/hProcess11"/>
    <dgm:cxn modelId="{D5DE5BB7-9E86-44B1-AA0A-4540F62AE063}" type="presParOf" srcId="{11B64564-F0C9-45C3-BAEB-3B4E925277BA}" destId="{D14E7519-F162-4ECA-A6AD-67D71E3577EC}" srcOrd="2" destOrd="0" presId="urn:microsoft.com/office/officeart/2005/8/layout/hProcess11"/>
    <dgm:cxn modelId="{38F23FBA-2533-4FAF-AEB6-3EBAF5BB9E3C}" type="presParOf" srcId="{D14E7519-F162-4ECA-A6AD-67D71E3577EC}" destId="{6756CE44-1693-41AC-B099-C0BBD34F824E}" srcOrd="0" destOrd="0" presId="urn:microsoft.com/office/officeart/2005/8/layout/hProcess11"/>
    <dgm:cxn modelId="{065C4A5B-B8C6-43AE-8F5A-F53D8F39F025}" type="presParOf" srcId="{D14E7519-F162-4ECA-A6AD-67D71E3577EC}" destId="{B504AF9A-8F3D-4367-A08F-A9D6104DEF30}" srcOrd="1" destOrd="0" presId="urn:microsoft.com/office/officeart/2005/8/layout/hProcess11"/>
    <dgm:cxn modelId="{0DC93F87-BE11-4AE1-8688-F36A938E23ED}" type="presParOf" srcId="{D14E7519-F162-4ECA-A6AD-67D71E3577EC}" destId="{65C5762C-BB44-420A-9F3C-45BC3E0447B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A9663-295E-4038-A688-9CCE9CE7CB93}">
      <dsp:nvSpPr>
        <dsp:cNvPr id="0" name=""/>
        <dsp:cNvSpPr/>
      </dsp:nvSpPr>
      <dsp:spPr>
        <a:xfrm>
          <a:off x="1463161" y="351657"/>
          <a:ext cx="4956375" cy="172128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74E32-CE19-47D8-A805-CCEA56DCBA00}">
      <dsp:nvSpPr>
        <dsp:cNvPr id="0" name=""/>
        <dsp:cNvSpPr/>
      </dsp:nvSpPr>
      <dsp:spPr>
        <a:xfrm>
          <a:off x="3593442" y="4529527"/>
          <a:ext cx="960537" cy="614744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BEE3D-C7E1-4DC5-A325-04231B6D01A9}">
      <dsp:nvSpPr>
        <dsp:cNvPr id="0" name=""/>
        <dsp:cNvSpPr/>
      </dsp:nvSpPr>
      <dsp:spPr>
        <a:xfrm>
          <a:off x="1662327" y="4994796"/>
          <a:ext cx="4610581" cy="1152645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Maquinaria Represiva</a:t>
          </a:r>
        </a:p>
      </dsp:txBody>
      <dsp:txXfrm>
        <a:off x="1662327" y="4994796"/>
        <a:ext cx="4610581" cy="1152645"/>
      </dsp:txXfrm>
    </dsp:sp>
    <dsp:sp modelId="{C722118C-AC57-4D2C-913C-DDEAF9A3743B}">
      <dsp:nvSpPr>
        <dsp:cNvPr id="0" name=""/>
        <dsp:cNvSpPr/>
      </dsp:nvSpPr>
      <dsp:spPr>
        <a:xfrm>
          <a:off x="3060730" y="2194317"/>
          <a:ext cx="1728968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Tortura</a:t>
          </a:r>
        </a:p>
      </dsp:txBody>
      <dsp:txXfrm>
        <a:off x="3313932" y="2447519"/>
        <a:ext cx="1222564" cy="1222564"/>
      </dsp:txXfrm>
    </dsp:sp>
    <dsp:sp modelId="{D5F22D21-DECA-45D9-AEFF-B66C285F25FD}">
      <dsp:nvSpPr>
        <dsp:cNvPr id="0" name=""/>
        <dsp:cNvSpPr/>
      </dsp:nvSpPr>
      <dsp:spPr>
        <a:xfrm>
          <a:off x="1729804" y="558917"/>
          <a:ext cx="2461652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Desaparaciones</a:t>
          </a:r>
          <a:endParaRPr lang="es-ES" sz="2000" kern="1200" dirty="0"/>
        </a:p>
      </dsp:txBody>
      <dsp:txXfrm>
        <a:off x="2090305" y="812119"/>
        <a:ext cx="1740650" cy="1222564"/>
      </dsp:txXfrm>
    </dsp:sp>
    <dsp:sp modelId="{86318317-CCC4-403D-A807-0D47500A3BFD}">
      <dsp:nvSpPr>
        <dsp:cNvPr id="0" name=""/>
        <dsp:cNvSpPr/>
      </dsp:nvSpPr>
      <dsp:spPr>
        <a:xfrm>
          <a:off x="4332190" y="558921"/>
          <a:ext cx="1728968" cy="1728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Secuestro</a:t>
          </a:r>
        </a:p>
      </dsp:txBody>
      <dsp:txXfrm>
        <a:off x="4585392" y="812123"/>
        <a:ext cx="1222564" cy="1222564"/>
      </dsp:txXfrm>
    </dsp:sp>
    <dsp:sp modelId="{F79A9D02-9F0C-43B4-B4AE-655ED77922D5}">
      <dsp:nvSpPr>
        <dsp:cNvPr id="0" name=""/>
        <dsp:cNvSpPr/>
      </dsp:nvSpPr>
      <dsp:spPr>
        <a:xfrm>
          <a:off x="1270589" y="116782"/>
          <a:ext cx="5379011" cy="430320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A05A-5CD0-4A29-B674-BCF5F684344E}">
      <dsp:nvSpPr>
        <dsp:cNvPr id="0" name=""/>
        <dsp:cNvSpPr/>
      </dsp:nvSpPr>
      <dsp:spPr>
        <a:xfrm>
          <a:off x="0" y="1207148"/>
          <a:ext cx="11644778" cy="65562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15A24-1840-4208-87CC-6A2F7397D323}">
      <dsp:nvSpPr>
        <dsp:cNvPr id="0" name=""/>
        <dsp:cNvSpPr/>
      </dsp:nvSpPr>
      <dsp:spPr>
        <a:xfrm>
          <a:off x="523577" y="1557336"/>
          <a:ext cx="4639300" cy="99442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b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80</a:t>
          </a:r>
        </a:p>
      </dsp:txBody>
      <dsp:txXfrm>
        <a:off x="523577" y="1557336"/>
        <a:ext cx="4639300" cy="994420"/>
      </dsp:txXfrm>
    </dsp:sp>
    <dsp:sp modelId="{E8FCC846-1791-415E-BFB3-28CB29720EBE}">
      <dsp:nvSpPr>
        <dsp:cNvPr id="0" name=""/>
        <dsp:cNvSpPr/>
      </dsp:nvSpPr>
      <dsp:spPr>
        <a:xfrm>
          <a:off x="2702696" y="1377208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56CE44-1693-41AC-B099-C0BBD34F824E}">
      <dsp:nvSpPr>
        <dsp:cNvPr id="0" name=""/>
        <dsp:cNvSpPr/>
      </dsp:nvSpPr>
      <dsp:spPr>
        <a:xfrm>
          <a:off x="6760877" y="1557333"/>
          <a:ext cx="4586185" cy="125054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90</a:t>
          </a:r>
        </a:p>
      </dsp:txBody>
      <dsp:txXfrm>
        <a:off x="6760877" y="1557333"/>
        <a:ext cx="4586185" cy="1250540"/>
      </dsp:txXfrm>
    </dsp:sp>
    <dsp:sp modelId="{B504AF9A-8F3D-4367-A08F-A9D6104DEF30}">
      <dsp:nvSpPr>
        <dsp:cNvPr id="0" name=""/>
        <dsp:cNvSpPr/>
      </dsp:nvSpPr>
      <dsp:spPr>
        <a:xfrm>
          <a:off x="8894700" y="1382863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Saludo breve y tranquilo. 'Buenos dias. Muchas gracias, miembros del tribunal. Voy a defender mi TFG sobre la presencia del cine argentino en España entre 1980 y 2000.' No leas el titulo: ya esta en pantalla. Mira al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Hoja de ruta en 15 segundos. 'La presentacion sigue la estructura clasica: introduccion, contenido con tres casos de cine, y conclusiones.'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A8AD-1C3B-128B-B505-F7230BCE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3D19E-693F-A846-A572-DCF3ED6B7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45D29-CF78-9EE5-A0C6-412F200F7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F334-469F-29B5-53D7-3E907A35F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794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DEBD-C55C-B9C7-1339-64BD6544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405CA-5422-3F11-C47A-E9CFA43EC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7075-96F3-3E87-4F20-1757246E1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EXPERTO: </a:t>
            </a:r>
            <a:r>
              <a:rPr dirty="0" err="1"/>
              <a:t>situa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debate (Amado y la 'imagen </a:t>
            </a:r>
            <a:r>
              <a:rPr dirty="0" err="1"/>
              <a:t>justa</a:t>
            </a:r>
            <a:r>
              <a:rPr dirty="0"/>
              <a:t>', Jensen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exilio</a:t>
            </a:r>
            <a:r>
              <a:rPr dirty="0"/>
              <a:t>, Elena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circulacion</a:t>
            </a:r>
            <a:r>
              <a:rPr dirty="0"/>
              <a:t>). LEGO: 'Mucho se ha </a:t>
            </a:r>
            <a:r>
              <a:rPr dirty="0" err="1"/>
              <a:t>escrito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politica</a:t>
            </a:r>
            <a:r>
              <a:rPr dirty="0"/>
              <a:t> y la </a:t>
            </a:r>
            <a:r>
              <a:rPr dirty="0" err="1"/>
              <a:t>historia</a:t>
            </a:r>
            <a:r>
              <a:rPr dirty="0"/>
              <a:t> de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peliculas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las ha </a:t>
            </a:r>
            <a:r>
              <a:rPr dirty="0" err="1"/>
              <a:t>mirado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son: </a:t>
            </a:r>
            <a:r>
              <a:rPr dirty="0" err="1"/>
              <a:t>imagenes</a:t>
            </a:r>
            <a:r>
              <a:rPr dirty="0"/>
              <a:t>. Eso es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aporto</a:t>
            </a:r>
            <a:r>
              <a:rPr dirty="0"/>
              <a:t>, </a:t>
            </a:r>
            <a:r>
              <a:rPr dirty="0" err="1"/>
              <a:t>mirarlas</a:t>
            </a:r>
            <a:r>
              <a:rPr dirty="0"/>
              <a:t> con ojos de </a:t>
            </a:r>
            <a:r>
              <a:rPr dirty="0" err="1"/>
              <a:t>historiador</a:t>
            </a:r>
            <a:r>
              <a:rPr dirty="0"/>
              <a:t> del </a:t>
            </a:r>
            <a:r>
              <a:rPr dirty="0" err="1"/>
              <a:t>arte</a:t>
            </a:r>
            <a:r>
              <a:rPr dirty="0"/>
              <a:t>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178C-BEA0-4729-C38C-6B5A02945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56188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tres hipotesis son la columna vertebral; en conclusiones se 'resuelven'. Apréndelas de memoria. LEGO: traduce cada una a una frase ('¿por que gusto aqui? por la memoria; ¿quien tendio el puente? los exiliados; ¿como llego? por las coproducciones').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subraya que combinas analisis formal e historico-cultural y que lees el film como texto visual. LEGO: 'Veo las peliculas con lupa -como se coloca la camara, que se ilumina, que espacio se muestra- y ademas las situo en su momento historico.'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428B-2954-7A11-D355-2E80F99B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5F670-8AC3-F26D-9E11-30E45B949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8840C-F3AD-C9AB-D4FC-57BE8D02D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subraya que combinas analisis formal e historico-cultural y que lees el film como texto visual. LEGO: 'Veo las peliculas con lupa -como se coloca la camara, que se ilumina, que espacio se muestra- y ademas las situo en su momento historico.'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2C90E-7A44-DF65-A8E0-95FA9E74B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27657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Idea clave y muy accesible: el cine argentino no llego a un pais cualquiera, sino a otro que tambien venia de una dictadura. Por eso 'resonaba'. No narres toda la historia politica: una frase por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'imagen justa' (Amado), giro subjetivo (Sarlo), memoria como disputa (Richard). LEGO: 'En los 80 el cine explicaba el horror de forma clara y emotiva, casi pedagogica. En los 90 se vuelve mas sugerente, deja preguntas abiertas.' Esto prepara el contraste entre los tres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 (argumento en 2 frases): una profesora de clase acomodada empieza a sospechar que su hija adoptiva puede ser hija de desaparecidos. EXPERTO: Puenzo viene de la publicidad; puesta en escena muy controlada; interiores calidos vs exteriores frios = ceguera social; la transformacion de Alicia como alegoria nacional. Dato: Oscar 1986. Matiz critico: el melodrama puede rozar la 'teoria de los dos demonios'.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distingue exiliado (huye para salvar la vida) de emigrante economico. EXPERTO: 'figuras del destierro' de Rodriguez Marino; Vallejo rueda en España y equipara la represion franquista con la argentina (Don Quijote/Martin Fierro, los republicanos asesinados, montaje a lo Eisenstein). Si vas justo de tiempo, esta diapositiva es la mas recortable.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LEGO: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coproduccion</a:t>
            </a:r>
            <a:r>
              <a:rPr dirty="0"/>
              <a:t> es '</a:t>
            </a:r>
            <a:r>
              <a:rPr dirty="0" err="1"/>
              <a:t>poner</a:t>
            </a:r>
            <a:r>
              <a:rPr dirty="0"/>
              <a:t> dinero entre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paises</a:t>
            </a:r>
            <a:r>
              <a:rPr dirty="0"/>
              <a:t> para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pelicula</a:t>
            </a:r>
            <a:r>
              <a:rPr dirty="0"/>
              <a:t>'; </a:t>
            </a:r>
            <a:r>
              <a:rPr dirty="0" err="1"/>
              <a:t>eso</a:t>
            </a:r>
            <a:r>
              <a:rPr dirty="0"/>
              <a:t> le </a:t>
            </a:r>
            <a:r>
              <a:rPr dirty="0" err="1"/>
              <a:t>abre</a:t>
            </a:r>
            <a:r>
              <a:rPr dirty="0"/>
              <a:t> cines y </a:t>
            </a:r>
            <a:r>
              <a:rPr dirty="0" err="1"/>
              <a:t>ayudas</a:t>
            </a:r>
            <a:r>
              <a:rPr dirty="0"/>
              <a:t> a las </a:t>
            </a:r>
            <a:r>
              <a:rPr dirty="0" err="1"/>
              <a:t>que</a:t>
            </a:r>
            <a:r>
              <a:rPr dirty="0"/>
              <a:t> sola no </a:t>
            </a:r>
            <a:r>
              <a:rPr dirty="0" err="1"/>
              <a:t>llegaria</a:t>
            </a:r>
            <a:r>
              <a:rPr dirty="0"/>
              <a:t>. EXPERTO: </a:t>
            </a:r>
            <a:r>
              <a:rPr dirty="0" err="1"/>
              <a:t>Convenio</a:t>
            </a:r>
            <a:r>
              <a:rPr dirty="0"/>
              <a:t> de 1969 (</a:t>
            </a:r>
            <a:r>
              <a:rPr dirty="0" err="1"/>
              <a:t>segundo</a:t>
            </a:r>
            <a:r>
              <a:rPr dirty="0"/>
              <a:t> mas </a:t>
            </a:r>
            <a:r>
              <a:rPr dirty="0" err="1"/>
              <a:t>antiguo</a:t>
            </a:r>
            <a:r>
              <a:rPr dirty="0"/>
              <a:t> de España), doble </a:t>
            </a:r>
            <a:r>
              <a:rPr dirty="0" err="1"/>
              <a:t>nacionalidad</a:t>
            </a:r>
            <a:r>
              <a:rPr dirty="0"/>
              <a:t>;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autoral</a:t>
            </a:r>
            <a:r>
              <a:rPr dirty="0"/>
              <a:t> vs industrial; tension: </a:t>
            </a:r>
            <a:r>
              <a:rPr dirty="0" err="1"/>
              <a:t>el</a:t>
            </a:r>
            <a:r>
              <a:rPr dirty="0"/>
              <a:t> socio </a:t>
            </a:r>
            <a:r>
              <a:rPr dirty="0" err="1"/>
              <a:t>fuerte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condicionar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relato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maestro rural resiste eticamente en un pueblo perdido; su hijo recuerda esa infancia. EXPERTO: estetica de western (paisaje = aislamiento y resistencia); el tren como progreso destructor; un tercio de la pelicula son trayectos que 'cosen' un mundo unitario = 'tener un lugar en el mundo'. Dato: Concha de Oro (San Sebastian), Goya y +500.000 espectadores en España.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cineasta argentino exiliado en Madrid recibe a su hijo adolescente tras una sobredosis; ninguno termina de pertenecer a ningun sitio. EXPERTO: predominio del dialogo (cine de autor europeo); espacio fragmentado = identidad rota; se OMITE la dictadura (memoria latente en el silencio); el titulo: la 'hache' muda, el tiempo en suspenso; el brindis final 'por Martin' restituye 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 academica (gusta al tribunal): no idealizar. Prestigio critico ≠ exito de taquilla. LEGO: 'triunfo en festivales y premios, pero no fue cine masivo, salvo una excepcion.'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Cierra con fuerza y mirando al tribunal. La frase de oro: 'Entre 1980 y 2000 las imagenes cruzaron el Atlantico cargadas de memoria, pero tambien de nuevas posibilidades esteticas e industriales.' El hilo conductor de toda la charla ha sido EL ESPACIO.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leas las referencias. Estan para mostrar solidez bibliografica. Si preguntan por una fuente concreta, aqui la tienes localizada. Estilo Chicago-Deusto, como exige el 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Sonrie, respira, no recojas papeles todavia. Espera las preguntas con calma. Si no sabes algo, reconduce con honestidad hacia lo que si dominas.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11.png"/><Relationship Id="rId10" Type="http://schemas.microsoft.com/office/2007/relationships/diagramDrawing" Target="../diagrams/drawing1.xml"/><Relationship Id="rId4" Type="http://schemas.openxmlformats.org/officeDocument/2006/relationships/image" Target="../media/image10.png"/><Relationship Id="rId9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7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4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20560"/>
            <a:ext cx="4206240" cy="17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34440"/>
            <a:ext cx="7955279" cy="1162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LA VISIBILIDAD DEL CINE ARGENTINO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EN ESPAÑA (1980-2000)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07389"/>
            <a:ext cx="7863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00B0F0"/>
                </a:solidFill>
                <a:latin typeface="Calibri"/>
              </a:rPr>
              <a:t>Memoria,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exilio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y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coproducciones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transatlánticas</a:t>
            </a:r>
            <a:endParaRPr sz="2000" b="0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3293B"/>
                </a:solidFill>
                <a:latin typeface="Calibri"/>
              </a:rPr>
              <a:t>Facundo Nicolás Vallejos Ribles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TFG · Grado en Historia del Arte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Prof. D. Joaquín Cánovas Belchí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Curso 2025/2026 · Convocatoria junio-julio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u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pic>
        <p:nvPicPr>
          <p:cNvPr id="9" name="Picture 8" descr="logo_facult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6272784"/>
            <a:ext cx="882924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632764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293B"/>
                </a:solidFill>
                <a:latin typeface="Calibri"/>
              </a:rPr>
              <a:t>Departamento de Historia del 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365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3293B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INTRODUCCIÓN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Justificación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estado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la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cuestión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Hipótesis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objetivos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Metodología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CONTENIDO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Contexto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memoria,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coproducciones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Tres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casos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estudio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historia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oficial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Un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lugar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mundo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Martín (Hache)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Recepción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España</a:t>
            </a: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JUSTIFICACIÓN Y ESTADO DE LA CUESTIÓN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del trauma de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dictadura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 err="1">
                <a:solidFill>
                  <a:srgbClr val="444444"/>
                </a:solidFill>
                <a:latin typeface="Calibri"/>
              </a:rPr>
              <a:t>hispano-argentinas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como mediación cultural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RECEPCIÓN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crítica e institucional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57800"/>
            <a:ext cx="10332720" cy="777240"/>
          </a:xfrm>
          <a:prstGeom prst="roundRect">
            <a:avLst/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03293B"/>
                </a:solidFill>
                <a:latin typeface="Calibri"/>
              </a:rPr>
              <a:t>La bibliografía aborda el tema desde lo político y social. El hueco que llena este TFG: el </a:t>
            </a:r>
            <a:r>
              <a:rPr sz="1500" b="1" i="0">
                <a:solidFill>
                  <a:srgbClr val="03293B"/>
                </a:solidFill>
                <a:latin typeface="Calibri"/>
              </a:rPr>
              <a:t>análisis FORMAL</a:t>
            </a:r>
            <a:r>
              <a:rPr sz="1500" b="0" i="0">
                <a:solidFill>
                  <a:srgbClr val="03293B"/>
                </a:solidFill>
                <a:latin typeface="Calibri"/>
              </a:rPr>
              <a:t> del cine como objeto visual.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81A1-8721-2A16-6D0C-BE95A96A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1F426-701F-265F-535E-14ED76999B89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D2D53-E885-1C58-3C75-39125BBE2C7D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A3CDC92-8534-2C62-2E0B-94A7B9B4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41496-264D-6DF9-C0E1-8081AFDBEBAE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5963207-5032-BC40-07C0-32D5A29BB3CB}"/>
              </a:ext>
            </a:extLst>
          </p:cNvPr>
          <p:cNvGrpSpPr/>
          <p:nvPr/>
        </p:nvGrpSpPr>
        <p:grpSpPr>
          <a:xfrm>
            <a:off x="1185682" y="975387"/>
            <a:ext cx="2970954" cy="4658631"/>
            <a:chOff x="1185682" y="975387"/>
            <a:chExt cx="2970954" cy="4658631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FA8EEADD-1976-0F5E-3153-7DA748492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85682" y="975387"/>
              <a:ext cx="2970954" cy="4254500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6DE4A378-9353-5D65-3942-16FB5D0B2614}"/>
                </a:ext>
              </a:extLst>
            </p:cNvPr>
            <p:cNvSpPr txBox="1"/>
            <p:nvPr/>
          </p:nvSpPr>
          <p:spPr>
            <a:xfrm>
              <a:off x="1894824" y="5264686"/>
              <a:ext cx="1552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ffffffffffffffffffff</a:t>
              </a:r>
              <a:endParaRPr lang="es-ES" dirty="0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C54CCC9-364F-BB11-9590-12315292E2CF}"/>
              </a:ext>
            </a:extLst>
          </p:cNvPr>
          <p:cNvGrpSpPr/>
          <p:nvPr/>
        </p:nvGrpSpPr>
        <p:grpSpPr>
          <a:xfrm>
            <a:off x="8647085" y="1045718"/>
            <a:ext cx="2486396" cy="4546862"/>
            <a:chOff x="8647085" y="1045718"/>
            <a:chExt cx="2486396" cy="4546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6F80F29-C4D1-4DAC-2663-57F1AC0492EA}"/>
                </a:ext>
              </a:extLst>
            </p:cNvPr>
            <p:cNvSpPr txBox="1"/>
            <p:nvPr/>
          </p:nvSpPr>
          <p:spPr>
            <a:xfrm>
              <a:off x="9455708" y="5223248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ccccccc</a:t>
              </a:r>
              <a:endParaRPr lang="es-ES" dirty="0"/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A49C2969-84ED-036F-6CC3-B45E5FA0A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7085" y="1045718"/>
              <a:ext cx="2486396" cy="4254500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4C0B7C9-9F43-8213-137E-40F1A43F77E0}"/>
              </a:ext>
            </a:extLst>
          </p:cNvPr>
          <p:cNvGrpSpPr/>
          <p:nvPr/>
        </p:nvGrpSpPr>
        <p:grpSpPr>
          <a:xfrm>
            <a:off x="5049585" y="975387"/>
            <a:ext cx="2704551" cy="4665517"/>
            <a:chOff x="5049585" y="975387"/>
            <a:chExt cx="2704551" cy="4665517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CFC1A30D-F621-F418-1F3D-E572CE2E9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49585" y="975387"/>
              <a:ext cx="2704551" cy="4257321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8DFF8C5-4E4D-DC43-E255-BC412FD35EFD}"/>
                </a:ext>
              </a:extLst>
            </p:cNvPr>
            <p:cNvSpPr txBox="1"/>
            <p:nvPr/>
          </p:nvSpPr>
          <p:spPr>
            <a:xfrm>
              <a:off x="5858329" y="5271572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dccccccccc</a:t>
              </a:r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91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3A0C-79F2-EDBC-2D96-BBC5FB1A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C7635-038F-ADE1-0B0E-D732E26554AE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40EFC7-C7D8-3522-D270-67CE56BD7F63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272C9D5-D8AB-FF95-87F2-6A13874E4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4EF344-F8C0-8638-EB5A-FC3BFCE08ED7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7B3F6FA-66FA-80D7-6C3B-657A3DECE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02" y="981962"/>
            <a:ext cx="2996302" cy="423570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4F7784A-C293-B1EB-049C-F5A86A53B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31" y="987551"/>
            <a:ext cx="2993164" cy="423570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2E4D9AD-AC51-D8F9-3E11-688D8D638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10" y="981964"/>
            <a:ext cx="2993164" cy="423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4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HIPÓTESIS Y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444444"/>
                </a:solidFill>
                <a:latin typeface="Calibri"/>
              </a:rPr>
              <a:t>El cine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tuvo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recepción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singular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España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tratar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represión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reconocible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españolas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926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El exiliado argentino no fue un sujeto pasivo, sino un mediador cultural que tejió redes de intercambio artístico entre los dos países.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Fueron una de las vías más eficaces de visibilidad del cine argentino, con sus posibilidades pero también con sus tensiones.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54179"/>
            <a:ext cx="2011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MÉTODO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73736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49039" y="141732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Análisis FORMAL: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como textos visuales (puesta en escena, espacio, luz, encuadre, montaje).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06324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49039" y="274320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 err="1">
                <a:solidFill>
                  <a:srgbClr val="03293B"/>
                </a:solidFill>
                <a:latin typeface="Calibri"/>
              </a:rPr>
              <a:t>Aproximación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HISTÓRICO-CULTURAL: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contexto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dictadura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relaciones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España-Argentina.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389120"/>
            <a:ext cx="685800" cy="256032"/>
          </a:xfrm>
          <a:prstGeom prst="rightArrow">
            <a:avLst/>
          </a:prstGeom>
          <a:solidFill>
            <a:srgbClr val="E73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4069080"/>
            <a:ext cx="758952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Fuentes: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Amado, Sarlo, Jensen, Elena y González;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pautas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Cánovas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Belchí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Aliaga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Cárceles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F2C9-C7FF-B09D-E918-06CA257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E8B674-06B9-DEA5-E315-BCBF6E935457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2600" b="1" i="0" dirty="0">
                <a:solidFill>
                  <a:srgbClr val="00B0F0"/>
                </a:solidFill>
                <a:latin typeface="Calibri"/>
              </a:rPr>
              <a:t>Contexto Histórico</a:t>
            </a:r>
            <a:endParaRPr sz="2600" b="1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34281-9124-9BCA-6F06-ED8021554FFA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>
            <a:extLst>
              <a:ext uri="{FF2B5EF4-FFF2-40B4-BE49-F238E27FC236}">
                <a16:creationId xmlns:a16="http://schemas.microsoft.com/office/drawing/2014/main" id="{2163F25E-F339-38EE-CFC7-991C2101C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E528BF-889A-6CF1-2FF5-F0400A382802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9CBC52-F2E5-72FE-D108-17AB2B5A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95" y="1163300"/>
            <a:ext cx="4789698" cy="332165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D1F72BB-2E9E-BE38-23BC-ECC70E98596F}"/>
              </a:ext>
            </a:extLst>
          </p:cNvPr>
          <p:cNvSpPr txBox="1"/>
          <p:nvPr/>
        </p:nvSpPr>
        <p:spPr>
          <a:xfrm>
            <a:off x="879595" y="4576562"/>
            <a:ext cx="4917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Juramento de Jorge Rafael Videla como Presidente de Argentina, 1976. Fuente: Wikipedia Commons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7972E0-3C41-EF4D-DB74-AF8ED5F72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67773">
            <a:off x="5664148" y="2220972"/>
            <a:ext cx="1717120" cy="1717120"/>
          </a:xfrm>
          <a:prstGeom prst="rect">
            <a:avLst/>
          </a:prstGeom>
        </p:spPr>
      </p:pic>
      <p:graphicFrame>
        <p:nvGraphicFramePr>
          <p:cNvPr id="17" name="Diagrama 16">
            <a:extLst>
              <a:ext uri="{FF2B5EF4-FFF2-40B4-BE49-F238E27FC236}">
                <a16:creationId xmlns:a16="http://schemas.microsoft.com/office/drawing/2014/main" id="{E1523458-4384-1904-B878-C062167DA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532519"/>
              </p:ext>
            </p:extLst>
          </p:nvPr>
        </p:nvGraphicFramePr>
        <p:xfrm>
          <a:off x="5385688" y="370198"/>
          <a:ext cx="8570944" cy="6147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2733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D6A9663-295E-4038-A688-9CCE9CE7CB93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79A9D02-9F0C-43B4-B4AE-655ED77922D5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B74E32-CE19-47D8-A805-CCEA56DCBA00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6318317-CCC4-403D-A807-0D47500A3B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D5F22D21-DECA-45D9-AEFF-B66C285F25FD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722118C-AC57-4D2C-913C-DDEAF9A3743B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F5BEE3D-C7E1-4DC5-A325-04231B6D01A9}"/>
                                            </p:graphic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62566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3293B"/>
                </a:solidFill>
                <a:latin typeface="Calibri"/>
              </a:rPr>
              <a:t>DOS SOCIEDADES, UNA MEMORIA COMPARTIDA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4324" y="1560201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632" y="1971690"/>
            <a:ext cx="3782727" cy="182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(1976-1983):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secuestro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tortura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desaparición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vuelve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necesidad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supervivencia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(Briski, Guevara, Alterio).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6220" y="171810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ESPAÑA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371" y="2119001"/>
            <a:ext cx="3997466" cy="15001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Muerte de Franco (1975)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democrática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Madrid y Barcelona,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receptivos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.</a:t>
            </a:r>
            <a:endParaRPr lang="es-ES" sz="20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EF5"/>
                </a:solidFill>
                <a:latin typeface="Calibri"/>
              </a:rPr>
              <a:t>Dos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países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salían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la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violencia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Estado se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reconocen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las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mismas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imágenes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3" name="Gráfico 12" descr="Nudo de cuerda con relleno sólido">
            <a:extLst>
              <a:ext uri="{FF2B5EF4-FFF2-40B4-BE49-F238E27FC236}">
                <a16:creationId xmlns:a16="http://schemas.microsoft.com/office/drawing/2014/main" id="{7957E46F-A502-A4FB-FAA3-2DB2856BB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9556">
            <a:off x="4553482" y="753908"/>
            <a:ext cx="2241758" cy="22417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a 34">
            <a:extLst>
              <a:ext uri="{FF2B5EF4-FFF2-40B4-BE49-F238E27FC236}">
                <a16:creationId xmlns:a16="http://schemas.microsoft.com/office/drawing/2014/main" id="{0CC64443-9643-D2BA-124E-A694677BC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94278"/>
              </p:ext>
            </p:extLst>
          </p:nvPr>
        </p:nvGraphicFramePr>
        <p:xfrm>
          <a:off x="274320" y="-29811"/>
          <a:ext cx="11644778" cy="311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20040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0B0F0"/>
                </a:solidFill>
                <a:latin typeface="Calibri"/>
              </a:rPr>
              <a:t>LA MEMORIA EN PANTALLA: DE LOS 80 A LOS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1800" b="1" i="0" dirty="0">
              <a:solidFill>
                <a:srgbClr val="E73C2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931" y="2463265"/>
            <a:ext cx="5632320" cy="1660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Realismo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afectivo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imaginación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melodramática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 err="1">
                <a:solidFill>
                  <a:srgbClr val="444444"/>
                </a:solidFill>
                <a:latin typeface="Calibri"/>
              </a:rPr>
              <a:t>Vocación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didáctica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relatos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claros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directos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  <a:r>
              <a:rPr lang="es-ES" sz="2000" b="0" i="0" dirty="0">
                <a:solidFill>
                  <a:srgbClr val="444444"/>
                </a:solidFill>
                <a:latin typeface="Calibri"/>
              </a:rPr>
              <a:t> </a:t>
            </a:r>
            <a:endParaRPr sz="2000" b="0" i="0" dirty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familiar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espejo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sociedad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2685" y="2520974"/>
            <a:ext cx="4909315" cy="2122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fragmento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distancia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Richard: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la memoria es un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territorio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disputa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Sarlo: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riesgo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del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_um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8" name="Gráfico 17" descr="Corazón con pulso con relleno sólido">
            <a:extLst>
              <a:ext uri="{FF2B5EF4-FFF2-40B4-BE49-F238E27FC236}">
                <a16:creationId xmlns:a16="http://schemas.microsoft.com/office/drawing/2014/main" id="{4FDD0214-8B6F-00E1-E7F9-25BD97E0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4752" y="2483112"/>
            <a:ext cx="579612" cy="579612"/>
          </a:xfrm>
          <a:prstGeom prst="rect">
            <a:avLst/>
          </a:prstGeom>
        </p:spPr>
      </p:pic>
      <p:pic>
        <p:nvPicPr>
          <p:cNvPr id="22" name="Gráfico 21" descr="Birrete con relleno sólido">
            <a:extLst>
              <a:ext uri="{FF2B5EF4-FFF2-40B4-BE49-F238E27FC236}">
                <a16:creationId xmlns:a16="http://schemas.microsoft.com/office/drawing/2014/main" id="{9B674427-1670-F9D7-25A4-39F38FAEE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980" y="3038251"/>
            <a:ext cx="594384" cy="594384"/>
          </a:xfrm>
          <a:prstGeom prst="rect">
            <a:avLst/>
          </a:prstGeom>
        </p:spPr>
      </p:pic>
      <p:pic>
        <p:nvPicPr>
          <p:cNvPr id="24" name="Gráfico 23" descr="Trabajar desde casa Wi-Fi con relleno sólido">
            <a:extLst>
              <a:ext uri="{FF2B5EF4-FFF2-40B4-BE49-F238E27FC236}">
                <a16:creationId xmlns:a16="http://schemas.microsoft.com/office/drawing/2014/main" id="{2C098092-F113-A3D9-53F3-517A8E1DB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547" y="3632635"/>
            <a:ext cx="469249" cy="469249"/>
          </a:xfrm>
          <a:prstGeom prst="rect">
            <a:avLst/>
          </a:prstGeom>
        </p:spPr>
      </p:pic>
      <p:pic>
        <p:nvPicPr>
          <p:cNvPr id="26" name="Gráfico 25" descr="Piezas de rompecabezas con relleno sólido">
            <a:extLst>
              <a:ext uri="{FF2B5EF4-FFF2-40B4-BE49-F238E27FC236}">
                <a16:creationId xmlns:a16="http://schemas.microsoft.com/office/drawing/2014/main" id="{2F7C4FF3-1F88-C4CB-0D69-DFE9E73B1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9211" y="2556192"/>
            <a:ext cx="501144" cy="501144"/>
          </a:xfrm>
          <a:prstGeom prst="rect">
            <a:avLst/>
          </a:prstGeom>
        </p:spPr>
      </p:pic>
      <p:pic>
        <p:nvPicPr>
          <p:cNvPr id="28" name="Gráfico 27" descr="Advertencia con relleno sólido">
            <a:extLst>
              <a:ext uri="{FF2B5EF4-FFF2-40B4-BE49-F238E27FC236}">
                <a16:creationId xmlns:a16="http://schemas.microsoft.com/office/drawing/2014/main" id="{8299A4D5-D4B6-8749-FD6F-338533826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71444" y="4140838"/>
            <a:ext cx="501144" cy="501144"/>
          </a:xfrm>
          <a:prstGeom prst="rect">
            <a:avLst/>
          </a:prstGeom>
        </p:spPr>
      </p:pic>
      <p:pic>
        <p:nvPicPr>
          <p:cNvPr id="32" name="Gráfico 31" descr="Cerebro izquierdo y derecho con relleno sólido">
            <a:extLst>
              <a:ext uri="{FF2B5EF4-FFF2-40B4-BE49-F238E27FC236}">
                <a16:creationId xmlns:a16="http://schemas.microsoft.com/office/drawing/2014/main" id="{D6921189-BCD0-8B76-5F68-E567D66C1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9211" y="3194280"/>
            <a:ext cx="500765" cy="500765"/>
          </a:xfrm>
          <a:prstGeom prst="rect">
            <a:avLst/>
          </a:prstGeom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2C66C60-C608-BDD0-E319-3E7642729222}"/>
              </a:ext>
            </a:extLst>
          </p:cNvPr>
          <p:cNvCxnSpPr/>
          <p:nvPr/>
        </p:nvCxnSpPr>
        <p:spPr>
          <a:xfrm>
            <a:off x="6459251" y="1691640"/>
            <a:ext cx="0" cy="45079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3293B"/>
                </a:solidFill>
                <a:latin typeface="Calibri"/>
              </a:rPr>
              <a:t>CASO 1 · LA HISTORIA OFICIAL</a:t>
            </a:r>
            <a:r>
              <a:rPr sz="2300" b="0" i="0">
                <a:solidFill>
                  <a:srgbClr val="03293B"/>
                </a:solidFill>
                <a:latin typeface="Calibri"/>
              </a:rPr>
              <a:t> (Puenzo, 1985)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E73C23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E73C23"/>
                </a:solidFill>
                <a:latin typeface="Calibri"/>
              </a:rPr>
              <a:t>CEGUERA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hogar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burgués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cerrado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a la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verdad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de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9" y="1965960"/>
            <a:ext cx="79889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E73C23"/>
                </a:solidFill>
                <a:latin typeface="Calibri"/>
              </a:rPr>
              <a:t>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3C23"/>
                </a:solidFill>
                <a:latin typeface="Calibri"/>
              </a:rPr>
              <a:t>EXTERIOR</a:t>
            </a:r>
          </a:p>
        </p:txBody>
      </p:sp>
      <p:pic>
        <p:nvPicPr>
          <p:cNvPr id="7" name="Picture 6" descr="Tranquilidad y felicidad del hogar de Alicia frente a la verdad del ex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516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8" name="Picture 7" descr="Alicia contemplando la marcha de las Madres de Mayo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331720"/>
            <a:ext cx="2926080" cy="2926080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hogar acomodado de Alicia: aparente felicidad.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Las Madres de Plaza de Mayo: la verdad del exterior.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 dirty="0">
                <a:solidFill>
                  <a:srgbClr val="00B0F0"/>
                </a:solidFill>
                <a:latin typeface="Calibri"/>
              </a:rPr>
              <a:t>EL EXILIO: UN PUENTE ENTRE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6874" y="844525"/>
            <a:ext cx="1142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EXILIO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3112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No es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migración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económica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es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huida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violencia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amenaza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9620" y="2301099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«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Figuras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destierro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» (Rodríguez Marino):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pérdida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retorno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imposible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hacen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lenguaje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7894" y="4130096"/>
            <a:ext cx="4535905" cy="20065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exiliado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lang="es-ES" sz="1600" b="1" i="0" dirty="0">
                <a:solidFill>
                  <a:srgbClr val="03293B"/>
                </a:solidFill>
                <a:latin typeface="Calibri"/>
              </a:rPr>
              <a:t>construye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puentes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Reflexiones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un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salvaje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(Vallejo, 1978)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franquismo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represión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argentina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6" name="Gráfico 15" descr="Flecha: curva ligera con relleno sólido">
            <a:extLst>
              <a:ext uri="{FF2B5EF4-FFF2-40B4-BE49-F238E27FC236}">
                <a16:creationId xmlns:a16="http://schemas.microsoft.com/office/drawing/2014/main" id="{5D417564-5E85-68FB-CD35-1CCBFFA78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322117">
            <a:off x="6679744" y="1491667"/>
            <a:ext cx="914400" cy="914400"/>
          </a:xfrm>
          <a:prstGeom prst="rect">
            <a:avLst/>
          </a:prstGeom>
        </p:spPr>
      </p:pic>
      <p:pic>
        <p:nvPicPr>
          <p:cNvPr id="20" name="Gráfico 19" descr="Flecha: curva ligera con relleno sólido">
            <a:extLst>
              <a:ext uri="{FF2B5EF4-FFF2-40B4-BE49-F238E27FC236}">
                <a16:creationId xmlns:a16="http://schemas.microsoft.com/office/drawing/2014/main" id="{EA1E3CAB-0487-65B2-C974-6AD502A6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881417" flipH="1">
            <a:off x="4768871" y="1493788"/>
            <a:ext cx="899543" cy="899543"/>
          </a:xfrm>
          <a:prstGeom prst="rect">
            <a:avLst/>
          </a:prstGeom>
        </p:spPr>
      </p:pic>
      <p:sp>
        <p:nvSpPr>
          <p:cNvPr id="26" name="Gráfico 24" descr="Flecha: curva ligera con relleno sólido">
            <a:extLst>
              <a:ext uri="{FF2B5EF4-FFF2-40B4-BE49-F238E27FC236}">
                <a16:creationId xmlns:a16="http://schemas.microsoft.com/office/drawing/2014/main" id="{E97BE8D3-C696-EE1E-87F6-8E16F3996032}"/>
              </a:ext>
            </a:extLst>
          </p:cNvPr>
          <p:cNvSpPr/>
          <p:nvPr/>
        </p:nvSpPr>
        <p:spPr>
          <a:xfrm rot="5400000">
            <a:off x="5055438" y="2496480"/>
            <a:ext cx="2239127" cy="457200"/>
          </a:xfrm>
          <a:custGeom>
            <a:avLst/>
            <a:gdLst>
              <a:gd name="csX0" fmla="*/ 838200 w 838226"/>
              <a:gd name="csY0" fmla="*/ 228600 h 457200"/>
              <a:gd name="csX1" fmla="*/ 609600 w 838226"/>
              <a:gd name="csY1" fmla="*/ 0 h 457200"/>
              <a:gd name="csX2" fmla="*/ 609600 w 838226"/>
              <a:gd name="csY2" fmla="*/ 142875 h 457200"/>
              <a:gd name="csX3" fmla="*/ 0 w 838226"/>
              <a:gd name="csY3" fmla="*/ 142875 h 457200"/>
              <a:gd name="csX4" fmla="*/ 609600 w 838226"/>
              <a:gd name="csY4" fmla="*/ 361950 h 457200"/>
              <a:gd name="csX5" fmla="*/ 609600 w 838226"/>
              <a:gd name="csY5" fmla="*/ 457200 h 457200"/>
              <a:gd name="csX6" fmla="*/ 838200 w 838226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41255 w 867102"/>
              <a:gd name="csY2" fmla="*/ 95627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67102" h="457200">
                <a:moveTo>
                  <a:pt x="867076" y="228600"/>
                </a:moveTo>
                <a:cubicBezTo>
                  <a:pt x="869934" y="228600"/>
                  <a:pt x="638476" y="0"/>
                  <a:pt x="638476" y="0"/>
                </a:cubicBezTo>
                <a:cubicBezTo>
                  <a:pt x="639402" y="31876"/>
                  <a:pt x="640329" y="63751"/>
                  <a:pt x="641255" y="95627"/>
                </a:cubicBezTo>
                <a:cubicBezTo>
                  <a:pt x="489808" y="30799"/>
                  <a:pt x="463" y="165865"/>
                  <a:pt x="0" y="210252"/>
                </a:cubicBezTo>
                <a:cubicBezTo>
                  <a:pt x="-463" y="254639"/>
                  <a:pt x="353679" y="391478"/>
                  <a:pt x="638476" y="361950"/>
                </a:cubicBezTo>
                <a:lnTo>
                  <a:pt x="638476" y="457200"/>
                </a:lnTo>
                <a:lnTo>
                  <a:pt x="867076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LAS COPRODUCCIONES: LA VÍA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177" y="2992874"/>
            <a:ext cx="177138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COPRODUCCIÓN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Más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fórmula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legal: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estrategia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supervivencia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frente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al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dominio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Hollywood.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69748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Convenio Hispano-Argentino de 1969: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son «nacionales» en ambos países (participación 30 %-70 %).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Distintos modelos: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Aristarain (autoral) frente a Piñeyro (industrial: Plata quemada, Kamchatka).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3293B"/>
                </a:solidFill>
                <a:latin typeface="Calibri"/>
              </a:rPr>
              <a:t>Tensión clave: la asimetría económica condiciona </a:t>
            </a:r>
            <a:r>
              <a:rPr sz="1500" b="1" i="1">
                <a:solidFill>
                  <a:srgbClr val="03293B"/>
                </a:solidFill>
                <a:latin typeface="Calibri"/>
              </a:rPr>
              <a:t>qué imagen de Argentina circula</a:t>
            </a:r>
            <a:r>
              <a:rPr sz="1500" b="0" i="1">
                <a:solidFill>
                  <a:srgbClr val="03293B"/>
                </a:solidFill>
                <a:latin typeface="Calibri"/>
              </a:rPr>
              <a:t> en España.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C6B7BA5E-C9F2-541C-DC30-E0214F25B31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76561" y="185166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4DEB0309-879C-C844-D858-143C32724263}"/>
              </a:ext>
            </a:extLst>
          </p:cNvPr>
          <p:cNvCxnSpPr>
            <a:stCxn id="4" idx="3"/>
          </p:cNvCxnSpPr>
          <p:nvPr/>
        </p:nvCxnSpPr>
        <p:spPr>
          <a:xfrm>
            <a:off x="2276561" y="317754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3C93EE72-85D8-17BD-DC94-F6F2563F768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76561" y="3177540"/>
            <a:ext cx="1554775" cy="1270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2 · UN LUGAR EN EL MUNDO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UNITARIO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todavía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hay un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lugar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defender.</a:t>
            </a:r>
          </a:p>
        </p:txBody>
      </p:sp>
      <p:pic>
        <p:nvPicPr>
          <p:cNvPr id="5" name="Picture 4" descr="Plano del paisaje en San Lu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ontraste entre el mundo del avance (tren) y mundo r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paisaje árido de San Luis, casi un personaje (diálogo con el western).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tren: el progreso que avanza pero arrasa lo que no se adapta.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3 · MARTÍN (HACHE)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FRAGMENTADO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=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identidad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fragmentada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. La memoria,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omisión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Dante recibe a Martin y a Hache en el aeropu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artel de Nueva York y Pacifico en el video de H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Madrid y Buenos Aires casi indiferenciados: pocos exteriores.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«Pacífico» sobre Nueva York: la nostalgia inventa horizontes imposibles.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RECEPCIÓN EN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Festivales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se lee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cinematografía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identidad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. Elena llama 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Aristarain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buque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insignia».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Premios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Goya: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Cenizas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paraíso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Goya de Cecilia Roth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Martín (Hache).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matiz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importante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éxito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todo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CRÍTICO e INSTITUCIONAL. Salvo 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mayoría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circuló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salas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especializadas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versión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original.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572768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ESPACIO como herramienta de sentido: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ceguera (La historia oficial), unidad (Un lugar en el mundo), fragmentación (Martín (Hache)).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517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Dos modos de MEMORIA: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realismo afectivo y didáctico en los 80 frente a ambigüedad y distanciamiento en los 90.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12464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3075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EXILIO como tejido conectivo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que preparó el terreno de las futuras coproducciones.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91456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09744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Hipótesis confirmadas: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España ofreció una recepción singular por resonancia con su propio pasado.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REFERENCIAS BIBLIOGRÁFICAS Y DOCUMENTALES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Amado, Ana María. La imagen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justa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(1980-2007). Buenos Aires: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Colihue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Campero, Agustín. Nuevo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Rapado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Historias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extraordinarias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UNGS/BN,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Elena, Alberto. «La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difusión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latinoamericano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aproximación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cuantitativa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Madrid: AEHC, 1998.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González, Leandro Ramiro. «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Cruzando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Atlántico: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España».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Imagofagia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17 (2018): 41-70.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Jensen, Silvina. Los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exiliados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La lucha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derechos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humanos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Sudamericana, 2010.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Richard, Nelly.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Fracturas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la memoria: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pensamiento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crítico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2007.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Rodríguez Marino, Paula.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Figuras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destierro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Narraciones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(1978-1988).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Viedma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UNRN, 2013.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Sarlo, Beatriz. Tiempo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pasado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Cultura de la memoria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2005.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Thibaudeau, Pascale. «Martín (Hache):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regreso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itinerario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transmisión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ALHIM 6 (2003).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Convenio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Hispano-Argentino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Relaciones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Cinematográficas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BOE n.º 238, 4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octubre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1969, 15550-15552.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4297680"/>
            <a:ext cx="3291840" cy="1399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EF5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9DDCF"/>
                </a:solidFill>
                <a:latin typeface="Calibri"/>
              </a:rPr>
              <a:t>Quedo a disposición del tribunal para sus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2353</Words>
  <Application>Microsoft Office PowerPoint</Application>
  <PresentationFormat>Panorámica</PresentationFormat>
  <Paragraphs>158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Ariel Vallejos</dc:creator>
  <cp:keywords/>
  <dc:description>generated using python-pptx</dc:description>
  <cp:lastModifiedBy>Juan Ariel Vallejos</cp:lastModifiedBy>
  <cp:revision>3</cp:revision>
  <dcterms:created xsi:type="dcterms:W3CDTF">2013-01-27T09:14:16Z</dcterms:created>
  <dcterms:modified xsi:type="dcterms:W3CDTF">2026-06-28T16:13:24Z</dcterms:modified>
  <cp:category/>
</cp:coreProperties>
</file>