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Saludo breve y tranquilo. 'Buenos dias. Muchas gracias, miembros del tribunal. Voy a defender mi TFG sobre la presencia del cine argentino en España entre 1980 y 2000.' No leas el titulo: ya esta en pantalla. Mira al tribunal.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Hoja de ruta en 15 segundos. 'La presentacion sigue la estructura clasica: introduccion, contenido con tres casos de cine, y conclusiones.'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EXPERTO: situa el debate (Amado y la 'imagen justa', Jensen sobre el exilio, Elena con los datos de circulacion). LEGO: 'Mucho se ha escrito sobre la politica y la historia de estas peliculas, pero casi nadie las ha mirado como lo que son: imagenes. Eso es lo que aporto, mirarlas con ojos de historiador del arte.'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tres hipotesis son la columna vertebral; en conclusiones se 'resuelven'. Apréndelas de memoria. LEGO: traduce cada una a una frase ('¿por que gusto aqui? por la memoria; ¿quien tendio el puente? los exiliados; ¿como llego? por las coproducciones').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EXPERTO: subraya que combinas analisis formal e historico-cultural y que lees el film como texto visual. LEGO: 'Veo las peliculas con lupa -como se coloca la camara, que se ilumina, que espacio se muestra- y ademas las situo en su momento historico.'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clave y muy accesible: el cine argentino no llego a un pais cualquiera, sino a otro que tambien venia de una dictadura. Por eso 'resonaba'. No narres toda la historia politica: una frase por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EXPERTO: 'imagen justa' (Amado), giro subjetivo (Sarlo), memoria como disputa (Richard). LEGO: 'En los 80 el cine explicaba el horror de forma clara y emotiva, casi pedagogica. En los 90 se vuelve mas sugerente, deja preguntas abiertas.' Esto prepara el contraste entre los tres casos.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LEGO (argumento en 2 frases): una profesora de clase acomodada empieza a sospechar que su hija adoptiva puede ser hija de desaparecidos. EXPERTO: Puenzo viene de la publicidad; puesta en escena muy controlada; interiores calidos vs exteriores frios = ceguera social; la transformacion de Alicia como alegoria nacional. Dato: Oscar 1986. Matiz critico: el melodrama puede rozar la 'teoria de los dos demonios'.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LEGO: distingue exiliado (huye para salvar la vida) de emigrante economico. EXPERTO: 'figuras del destierro' de Rodriguez Marino; Vallejo rueda en España y equipara la represion franquista con la argentina (Don Quijote/Martin Fierro, los republicanos asesinados, montaje a lo Eisenstein). Si vas justo de tiempo, esta diapositiva es la mas recortable.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LEGO: una coproduccion es 'poner dinero entre varios paises para hacer una pelicula'; eso le abre cines y ayudas a las que sola no llegaria. EXPERTO: Convenio de 1969 (segundo mas antiguo de España), doble nacionalidad; modelos autoral vs industrial; tension: el socio fuerte puede condicionar el relato.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LEGO: un maestro rural resiste eticamente en un pueblo perdido; su hijo recuerda esa infancia. EXPERTO: estetica de western (paisaje = aislamiento y resistencia); el tren como progreso destructor; un tercio de la pelicula son trayectos que 'cosen' un mundo unitario = 'tener un lugar en el mundo'. Dato: Concha de Oro (San Sebastian), Goya y +500.000 espectadores en España.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LEGO: un cineasta argentino exiliado en Madrid recibe a su hijo adolescente tras una sobredosis; ninguno termina de pertenecer a ningun sitio. EXPERTO: predominio del dialogo (cine de autor europeo); espacio fragmentado = identidad rota; se OMITE la dictadura (memoria latente en el silencio); el titulo: la 'hache' muda, el tiempo en suspenso; el brindis final 'por Martin' restituye el nombre.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 academica (gusta al tribunal): no idealizar. Prestigio critico ≠ exito de taquilla. LEGO: 'triunfo en festivales y premios, pero no fue cine masivo, salvo una excepcion.'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Cierra con fuerza y mirando al tribunal. La frase de oro: 'Entre 1980 y 2000 las imagenes cruzaron el Atlantico cargadas de memoria, pero tambien de nuevas posibilidades esteticas e industriales.' El hilo conductor de toda la charla ha sido EL ESPACIO.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leas las referencias. Estan para mostrar solidez bibliografica. Si preguntan por una fuente concreta, aqui la tienes localizada. Estilo Chicago-Deusto, como exige el Grado.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Sonrie, respira, no recojas papeles todavia. Espera las preguntas con calma. Si no sabes algo, reconduce con honestidad hacia lo que si dominas.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ora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-365760"/>
            <a:ext cx="4206240" cy="178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234440"/>
            <a:ext cx="795527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E73C23"/>
                </a:solidFill>
                <a:latin typeface="Calibri"/>
              </a:rPr>
              <a:t>LA VISIBILIDAD DEL CINE ARGENTINO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E73C23"/>
                </a:solidFill>
                <a:latin typeface="Calibri"/>
              </a:rPr>
              <a:t>EN ESPAÑA (1980-2000)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00400"/>
            <a:ext cx="7863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03293B"/>
                </a:solidFill>
                <a:latin typeface="Calibri"/>
              </a:rPr>
              <a:t>Memoria, exilio y coproducciones transatlánticas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80560"/>
            <a:ext cx="7863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3293B"/>
                </a:solidFill>
                <a:latin typeface="Calibri"/>
              </a:rPr>
              <a:t>Facundo Nicolás Vallejos Ribles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TFG · Grado en Historia del Arte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Prof. D. Joaquín Cánovas Belchí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Curso 2025/2026 · Convocatoria junio-julio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pic>
        <p:nvPicPr>
          <p:cNvPr id="9" name="Picture 8" descr="logo_facult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6272784"/>
            <a:ext cx="882924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632764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3293B"/>
                </a:solidFill>
                <a:latin typeface="Calibri"/>
              </a:rPr>
              <a:t>Departamento de Historia del Arte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0" y="36576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3293B"/>
                </a:solidFill>
                <a:latin typeface="Calibri"/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73C23"/>
                </a:solidFill>
                <a:latin typeface="Calibri"/>
              </a:rPr>
              <a:t>INTRODUCCIÓN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>
                <a:solidFill>
                  <a:srgbClr val="03293B"/>
                </a:solidFill>
                <a:latin typeface="Calibri"/>
              </a:rPr>
              <a:t>Justificación y estado de la cuestión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>
                <a:solidFill>
                  <a:srgbClr val="03293B"/>
                </a:solidFill>
                <a:latin typeface="Calibri"/>
              </a:rPr>
              <a:t>Hipótesis y objetivos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>
                <a:solidFill>
                  <a:srgbClr val="03293B"/>
                </a:solidFill>
                <a:latin typeface="Calibri"/>
              </a:rPr>
              <a:t>Metodología</a:t>
            </a:r>
          </a:p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73C23"/>
                </a:solidFill>
                <a:latin typeface="Calibri"/>
              </a:rPr>
              <a:t>CONTENIDO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>
                <a:solidFill>
                  <a:srgbClr val="03293B"/>
                </a:solidFill>
                <a:latin typeface="Calibri"/>
              </a:rPr>
              <a:t>Contexto: memoria, exilio y coproducciones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>
                <a:solidFill>
                  <a:srgbClr val="03293B"/>
                </a:solidFill>
                <a:latin typeface="Calibri"/>
              </a:rPr>
              <a:t>Tres casos de estudio: </a:t>
            </a:r>
            <a:r>
              <a:rPr sz="1700" b="1" i="0">
                <a:solidFill>
                  <a:srgbClr val="03293B"/>
                </a:solidFill>
                <a:latin typeface="Calibri"/>
              </a:rPr>
              <a:t>La historia oficial, Un lugar en el mundo, Martín (Hache)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>
                <a:solidFill>
                  <a:srgbClr val="03293B"/>
                </a:solidFill>
                <a:latin typeface="Calibri"/>
              </a:rPr>
              <a:t>Recepción en España</a:t>
            </a:r>
          </a:p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73C23"/>
                </a:solidFill>
                <a:latin typeface="Calibri"/>
              </a:rPr>
              <a:t>CONCLUSIONES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JUSTIFICACIÓN Y ESTADO DE LA CUESTIÓN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097280" y="2176272"/>
            <a:ext cx="777240" cy="274320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196596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03293B"/>
                </a:solidFill>
                <a:latin typeface="Calibri"/>
              </a:rPr>
              <a:t>MEMORIA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del trauma de la dictadura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400800" y="2176272"/>
            <a:ext cx="777240" cy="274320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96596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03293B"/>
                </a:solidFill>
                <a:latin typeface="Calibri"/>
              </a:rPr>
              <a:t>COPRODUCCIONES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hispano-argentinas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097280" y="3867912"/>
            <a:ext cx="777240" cy="274320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657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03293B"/>
                </a:solidFill>
                <a:latin typeface="Calibri"/>
              </a:rPr>
              <a:t>EXILIO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como mediación cultural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400800" y="3867912"/>
            <a:ext cx="777240" cy="274320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3657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03293B"/>
                </a:solidFill>
                <a:latin typeface="Calibri"/>
              </a:rPr>
              <a:t>RECEPCIÓN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crítica e institucional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257800"/>
            <a:ext cx="10332720" cy="777240"/>
          </a:xfrm>
          <a:prstGeom prst="roundRect">
            <a:avLst/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03293B"/>
                </a:solidFill>
                <a:latin typeface="Calibri"/>
              </a:rPr>
              <a:t>La bibliografía aborda el tema desde lo político y social. El hueco que llena este TFG: el </a:t>
            </a:r>
            <a:r>
              <a:rPr sz="1500" b="1" i="0">
                <a:solidFill>
                  <a:srgbClr val="03293B"/>
                </a:solidFill>
                <a:latin typeface="Calibri"/>
              </a:rPr>
              <a:t>análisis FORMAL</a:t>
            </a:r>
            <a:r>
              <a:rPr sz="1500" b="0" i="0">
                <a:solidFill>
                  <a:srgbClr val="03293B"/>
                </a:solidFill>
                <a:latin typeface="Calibri"/>
              </a:rPr>
              <a:t> del cine como objeto visual.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HIPÓTESIS Y 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640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544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3293B"/>
                </a:solidFill>
                <a:latin typeface="Calibri"/>
              </a:rPr>
              <a:t>MEMORIA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444444"/>
                </a:solidFill>
                <a:latin typeface="Calibri"/>
              </a:rPr>
              <a:t>El cine argentino tuvo una recepción singular en España por tratar la represión política, reconocible desde la propia dictadura y transición españolas.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40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260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3293B"/>
                </a:solidFill>
                <a:latin typeface="Calibri"/>
              </a:rPr>
              <a:t>EXILIO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444444"/>
                </a:solidFill>
                <a:latin typeface="Calibri"/>
              </a:rPr>
              <a:t>El exiliado argentino no fue un sujeto pasivo, sino un mediador cultural que tejió redes de intercambio artístico entre los dos países.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640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2976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3293B"/>
                </a:solidFill>
                <a:latin typeface="Calibri"/>
              </a:rPr>
              <a:t>COPRODUCCIONES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444444"/>
                </a:solidFill>
                <a:latin typeface="Calibri"/>
              </a:rPr>
              <a:t>Fueron una de las vías más eficaces de visibilidad del cine argentino, con sus posibilidades pero también con sus tensiones.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2011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MÉTODO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26080" y="173736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49039" y="1417320"/>
            <a:ext cx="758952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Análisis FORMAL: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las películas como textos visuales (puesta en escena, espacio, luz, encuadre, montaje).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306324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49039" y="2743200"/>
            <a:ext cx="758952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Aproximación HISTÓRICO-CULTURAL: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contexto de dictadura, exilio y relaciones España-Argentina.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26080" y="438912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49039" y="4069080"/>
            <a:ext cx="758952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Fuentes: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Amado, Sarlo, Jensen, Elena y González; pautas de Cánovas Belchí y Aliaga Cárceles. Citas en Chicago-Deusto.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03293B"/>
                </a:solidFill>
                <a:latin typeface="Calibri"/>
              </a:rPr>
              <a:t>CONTEXTO: DOS SOCIEDADES, UNA MEMORIA COMPARTIDA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73C23"/>
                </a:solidFill>
                <a:latin typeface="Calibri"/>
              </a:rPr>
              <a:t>ARGENTINA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Dictadura (1976-1983):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secuestro, tortura y desaparición.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El exilio se vuelve necesidad de supervivencia </a:t>
            </a:r>
            <a:r>
              <a:rPr sz="1500" b="1" i="0">
                <a:solidFill>
                  <a:srgbClr val="444444"/>
                </a:solidFill>
                <a:latin typeface="Calibri"/>
              </a:rPr>
              <a:t>(Briski, Guevara, Alterio).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73C23"/>
                </a:solidFill>
                <a:latin typeface="Calibri"/>
              </a:rPr>
              <a:t>ESPAÑA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50292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Muerte de Franco (1975)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y transición democrática.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Madrid y Barcelona, </a:t>
            </a:r>
            <a:r>
              <a:rPr sz="1500" b="1" i="0">
                <a:solidFill>
                  <a:srgbClr val="444444"/>
                </a:solidFill>
                <a:latin typeface="Calibri"/>
              </a:rPr>
              <a:t>espacios receptivos para el exilio argentino.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EF5"/>
                </a:solidFill>
                <a:latin typeface="Calibri"/>
              </a:rPr>
              <a:t>Dos países que salían de la violencia de Estado se reconocen en las mismas imágenes.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03293B"/>
                </a:solidFill>
                <a:latin typeface="Calibri"/>
              </a:rPr>
              <a:t>LA MEMORIA EN PANTALLA: DE LOS 80 A LOS 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73C23"/>
                </a:solidFill>
                <a:latin typeface="Calibri"/>
              </a:rPr>
              <a:t>AÑOS 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Realismo afectivo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 y «imaginación melodramática».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Vocación didáctica,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relatos claros y directos.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El espacio familiar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como espejo de la sociedad.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73C23"/>
                </a:solidFill>
                <a:latin typeface="Calibri"/>
              </a:rPr>
              <a:t>AÑOS 90 · NUEVO CINE ARGENTINO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0292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Ambigüedad, fragmento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y distancia crítica.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Richard: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la memoria es un territorio en disputa.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Sarlo: </a:t>
            </a:r>
            <a:r>
              <a:rPr sz="1500" b="0" i="0">
                <a:solidFill>
                  <a:srgbClr val="444444"/>
                </a:solidFill>
                <a:latin typeface="Calibri"/>
              </a:rPr>
              <a:t>el riesgo del «giro subjetivo».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03293B"/>
                </a:solidFill>
                <a:latin typeface="Calibri"/>
              </a:rPr>
              <a:t>CASO 1 · </a:t>
            </a:r>
            <a:r>
              <a:rPr sz="2300" b="1" i="0">
                <a:solidFill>
                  <a:srgbClr val="03293B"/>
                </a:solidFill>
                <a:latin typeface="Calibri"/>
              </a:rPr>
              <a:t>LA HISTORIA OFICIAL</a:t>
            </a:r>
            <a:r>
              <a:rPr sz="2300" b="0" i="0">
                <a:solidFill>
                  <a:srgbClr val="03293B"/>
                </a:solidFill>
                <a:latin typeface="Calibri"/>
              </a:rPr>
              <a:t> (Puenzo, 1985)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73C23"/>
                </a:solidFill>
                <a:latin typeface="Calibri"/>
              </a:rPr>
              <a:t>Idea clave: el espacio como </a:t>
            </a:r>
            <a:r>
              <a:rPr sz="1500" b="1" i="0">
                <a:solidFill>
                  <a:srgbClr val="E73C23"/>
                </a:solidFill>
                <a:latin typeface="Calibri"/>
              </a:rPr>
              <a:t>CEGUERA</a:t>
            </a:r>
            <a:r>
              <a:rPr sz="1500" b="0" i="0">
                <a:solidFill>
                  <a:srgbClr val="E73C23"/>
                </a:solidFill>
                <a:latin typeface="Calibri"/>
              </a:rPr>
              <a:t> — el hogar burgués, cerrado a la verdad de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96596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3C23"/>
                </a:solidFill>
                <a:latin typeface="Calibri"/>
              </a:rPr>
              <a:t>INTERIOR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3C23"/>
                </a:solidFill>
                <a:latin typeface="Calibri"/>
              </a:rPr>
              <a:t>EXTERIOR</a:t>
            </a:r>
          </a:p>
        </p:txBody>
      </p:sp>
      <p:pic>
        <p:nvPicPr>
          <p:cNvPr id="7" name="Picture 6" descr="Tranquilidad y felicidad del hogar de Alicia frente a la verdad del ex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5516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8" name="Picture 7" descr="Alicia contemplando la marcha de las Madres de Mayo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331720"/>
            <a:ext cx="2926080" cy="2926080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" y="54406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hogar acomodado de Alicia: aparente felicidad.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54406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Las Madres de Plaza de Mayo: la verdad del exterior.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u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E73C23"/>
                </a:solidFill>
                <a:latin typeface="Calibri"/>
              </a:rPr>
              <a:t>EL EXILIO: UN PUENTE ENTRE PAÍSES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194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E73C23"/>
                </a:solidFill>
                <a:latin typeface="Calibri"/>
              </a:rPr>
              <a:t>EXILIO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17520" y="173736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7498079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No es migración económica: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es huida de una violencia que amenaza la vida.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306324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0" y="2743200"/>
            <a:ext cx="7498079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«Figuras del destierro» (Rodríguez Marino):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la pérdida y el retorno imposible se hacen lenguaje visual.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17520" y="438912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0" y="4069080"/>
            <a:ext cx="7498079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El exiliado tiende puentes: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Reflexiones de un salvaje (Vallejo, 1978) une franquismo y represión argentina.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E73C23"/>
                </a:solidFill>
                <a:latin typeface="Calibri"/>
              </a:rPr>
              <a:t>LAS COPRODUCCIONES: LA VÍA INDUSTRIAL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73C23"/>
                </a:solidFill>
                <a:latin typeface="Calibri"/>
              </a:rPr>
              <a:t>COPRO-
DUCCIÓN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1691640"/>
            <a:ext cx="64008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Más que una fórmula legal: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estrategia de supervivencia frente al dominio de Hollywood.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00400" y="3017520"/>
            <a:ext cx="64008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0" y="269748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Convenio Hispano-Argentino de 1969: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las películas son «nacionales» en ambos países (participación 30 %-70 %).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0" y="4343400"/>
            <a:ext cx="64008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31920" y="402336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Distintos modelos: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Aristarain (autoral) frente a Piñeyro (industrial: Plata quemada, Kamchatka).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03293B"/>
                </a:solidFill>
                <a:latin typeface="Calibri"/>
              </a:rPr>
              <a:t>Tensión clave: la asimetría económica condiciona </a:t>
            </a:r>
            <a:r>
              <a:rPr sz="1500" b="1" i="1">
                <a:solidFill>
                  <a:srgbClr val="03293B"/>
                </a:solidFill>
                <a:latin typeface="Calibri"/>
              </a:rPr>
              <a:t>qué imagen de Argentina circula</a:t>
            </a:r>
            <a:r>
              <a:rPr sz="1500" b="0" i="1">
                <a:solidFill>
                  <a:srgbClr val="03293B"/>
                </a:solidFill>
                <a:latin typeface="Calibri"/>
              </a:rPr>
              <a:t> en España.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3293B"/>
                </a:solidFill>
                <a:latin typeface="Calibri"/>
              </a:rPr>
              <a:t>CASO 2 · </a:t>
            </a:r>
            <a:r>
              <a:rPr sz="2200" b="1" i="0">
                <a:solidFill>
                  <a:srgbClr val="03293B"/>
                </a:solidFill>
                <a:latin typeface="Calibri"/>
              </a:rPr>
              <a:t>UN LUGAR EN EL MUNDO</a:t>
            </a:r>
            <a:r>
              <a:rPr sz="2200" b="0" i="0">
                <a:solidFill>
                  <a:srgbClr val="03293B"/>
                </a:solidFill>
                <a:latin typeface="Calibri"/>
              </a:rPr>
              <a:t> (Aristarain, 1992)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73C23"/>
                </a:solidFill>
                <a:latin typeface="Calibri"/>
              </a:rPr>
              <a:t>Idea clave: el espacio </a:t>
            </a:r>
            <a:r>
              <a:rPr sz="1500" b="1" i="0">
                <a:solidFill>
                  <a:srgbClr val="E73C23"/>
                </a:solidFill>
                <a:latin typeface="Calibri"/>
              </a:rPr>
              <a:t>UNITARIO</a:t>
            </a:r>
            <a:r>
              <a:rPr sz="1500" b="0" i="0">
                <a:solidFill>
                  <a:srgbClr val="E73C23"/>
                </a:solidFill>
                <a:latin typeface="Calibri"/>
              </a:rPr>
              <a:t> — todavía hay un lugar que defender.</a:t>
            </a:r>
          </a:p>
        </p:txBody>
      </p:sp>
      <p:pic>
        <p:nvPicPr>
          <p:cNvPr id="5" name="Picture 4" descr="Plano del paisaje en San 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1800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6" name="Picture 5" descr="Contraste entre el mundo del avance (tren) y mundo ru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18004"/>
            <a:ext cx="5120640" cy="2879192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paisaje árido de San Luis, casi un personaje (diálogo con el western).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tren: el progreso que avanza pero arrasa lo que no se adapta.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u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3293B"/>
                </a:solidFill>
                <a:latin typeface="Calibri"/>
              </a:rPr>
              <a:t>CASO 3 · </a:t>
            </a:r>
            <a:r>
              <a:rPr sz="2200" b="1" i="0">
                <a:solidFill>
                  <a:srgbClr val="03293B"/>
                </a:solidFill>
                <a:latin typeface="Calibri"/>
              </a:rPr>
              <a:t>MARTÍN (HACHE)</a:t>
            </a:r>
            <a:r>
              <a:rPr sz="2200" b="0" i="0">
                <a:solidFill>
                  <a:srgbClr val="03293B"/>
                </a:solidFill>
                <a:latin typeface="Calibri"/>
              </a:rPr>
              <a:t> (Aristarain, 1997)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73C23"/>
                </a:solidFill>
                <a:latin typeface="Calibri"/>
              </a:rPr>
              <a:t>Idea clave: el espacio </a:t>
            </a:r>
            <a:r>
              <a:rPr sz="1500" b="1" i="0">
                <a:solidFill>
                  <a:srgbClr val="E73C23"/>
                </a:solidFill>
                <a:latin typeface="Calibri"/>
              </a:rPr>
              <a:t>FRAGMENTADO</a:t>
            </a:r>
            <a:r>
              <a:rPr sz="1500" b="0" i="0">
                <a:solidFill>
                  <a:srgbClr val="E73C23"/>
                </a:solidFill>
                <a:latin typeface="Calibri"/>
              </a:rPr>
              <a:t> = identidad fragmentada. La memoria, por omisión.</a:t>
            </a:r>
          </a:p>
        </p:txBody>
      </p:sp>
      <p:pic>
        <p:nvPicPr>
          <p:cNvPr id="5" name="Picture 4" descr="Dante recibe a Martin y a Hache en el aeropu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1800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6" name="Picture 5" descr="Cartel de Nueva York y Pacifico en el video de Ha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18004"/>
            <a:ext cx="5120640" cy="2879192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Madrid y Buenos Aires casi indiferenciados: pocos exteriores.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«Pacífico» sobre Nueva York: la nostalgia inventa horizontes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u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RECEPCIÓN EN ESPAÑA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6070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Festivales y crítica: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se lee el cine argentino como una cinematografía con identidad propia. Elena llama a Aristarain el «buque insignia».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Premios Goya: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Un lugar en el mundo, Cenizas del paraíso y el Goya de Cecilia Roth por Martín (Hache).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El matiz importante: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éxito sobre todo CRÍTICO e INSTITUCIONAL. Salvo Un lugar en el mundo, la mayoría circuló en salas especializadas y versión original.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73C23"/>
                </a:solidFill>
                <a:latin typeface="Calibri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572768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El ESPACIO como herramienta de sentido: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ceguera (La historia oficial), unidad (Un lugar en el mundo), fragmentación (Martín (Hache)).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3347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73C23"/>
                </a:solidFill>
                <a:latin typeface="Calibri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6517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Dos modos de MEMORIA: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realismo afectivo y didáctico en los 80 frente a ambigüedad y distanciamiento en los 90.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12464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73C23"/>
                </a:solidFill>
                <a:latin typeface="Calibri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730752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El EXILIO como tejido conectivo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que preparó el terreno de las futuras coproducciones.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91456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73C23"/>
                </a:solidFill>
                <a:latin typeface="Calibri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809744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Hipótesis confirmadas: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España ofreció una recepción singular por resonancia con su propio pasado.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73C23"/>
                </a:solidFill>
                <a:latin typeface="Calibri"/>
              </a:rPr>
              <a:t>REFERENCIAS BIBLIOGRÁFICAS Y DOCUMENTALES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Amado, Ana María. La imagen justa: cine argentino y política (1980-2007). Buenos Aires: Colihue, 2009.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Campero, Agustín. Nuevo cine argentino: de Rapado a Historias extraordinarias. Buenos Aires: UNGS/BN, 2009.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Elena, Alberto. «La difusión del cine latinoamericano en España: una aproximación cuantitativa». Madrid: AEHC, 1998.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González, Leandro Ramiro. «Cruzando el Atlántico: cine argentino en España». Imagofagia 17 (2018): 41-70.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Jensen, Silvina. Los exiliados. La lucha por los derechos humanos durante la dictadura. Buenos Aires: Sudamericana, 2010.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Richard, Nelly. Fracturas de la memoria: arte y pensamiento crítico. Buenos Aires: Siglo XXI, 2007.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Rodríguez Marino, Paula. Figuras del destierro. Narraciones del exilio en el cine argentino (1978-1988). Viedma: UNRN, 2013.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Sarlo, Beatriz. Tiempo pasado. Cultura de la memoria y giro subjetivo. Buenos Aires: Siglo XXI, 2005.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Thibaudeau, Pascale. «Martín (Hache): del exilio al regreso, el itinerario de una transmisión». ALHIM 6 (2003).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444444"/>
                </a:solidFill>
                <a:latin typeface="Calibri"/>
              </a:rPr>
              <a:t>–  Convenio Hispano-Argentino de Relaciones Cinematográficas. BOE n.º 238, 4 de octubre de 1969, 15550-15552.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ora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4297680"/>
            <a:ext cx="3291840" cy="1399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EF5"/>
                </a:solidFill>
                <a:latin typeface="Calibri"/>
              </a:rPr>
              <a:t>¡GRACIAS!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9DDCF"/>
                </a:solidFill>
                <a:latin typeface="Calibri"/>
              </a:rPr>
              <a:t>Quedo a disposición del tribunal para sus 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