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64008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9C7B8"/>
                </a:solidFill>
                <a:latin typeface="Calibri"/>
              </a:rPr>
              <a:t>GRADO EN HISTORIA DEL ARTE  ·  UNIVERSIDAD DE MURCIA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La visibilidad del cine argentino en España (1980–2000)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E9DDCF"/>
                </a:solidFill>
                <a:latin typeface="Calibri"/>
              </a:rPr>
              <a:t>Memoria, exilio y coproducciones transatlánticas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Trabajo de Fin de Grado · Facundo Nicolás Vallejos Ribles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D9C7B8"/>
                </a:solidFill>
                <a:latin typeface="Calibri"/>
              </a:rPr>
              <a:t>Director: Prof. Joaquín Cánovas Belchí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B9A899"/>
                </a:solidFill>
                <a:latin typeface="Calibri"/>
              </a:rPr>
              <a:t>Convocatoria junio–julio · Curso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1.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Objeto de estudio y justificación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3A3A3A"/>
                </a:solidFill>
                <a:latin typeface="Calibri"/>
              </a:rPr>
              <a:t>•  El cine argentino en España (1980–2000), entendido no solo como fenómeno industrial sino como proceso cultural.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A3A3A"/>
                </a:solidFill>
                <a:latin typeface="Calibri"/>
              </a:rPr>
              <a:t>•  Parte de una larga historia de intercambios cinematográficos entre las dos orillas del Atlántico.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A3A3A"/>
                </a:solidFill>
                <a:latin typeface="Calibri"/>
              </a:rPr>
              <a:t>•  España no era un mercado extranjero cualquiera: venía de su propia dictadura y transición democrática.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A3A3A"/>
                </a:solidFill>
                <a:latin typeface="Calibri"/>
              </a:rPr>
              <a:t>•  El cine argentino de la posdictadura podía dialogar con los silencios y heridas del público español.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A3A3A"/>
                </a:solidFill>
                <a:latin typeface="Calibri"/>
              </a:rPr>
              <a:t>•  Enfoque desde la Historia del Arte: no solo qué cuentan las películas, sino cómo lo construyen visualmente.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1.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Hipótesis y objetivos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•  Memoria</a:t>
            </a:r>
            <a:r>
              <a:rPr sz="2000">
                <a:solidFill>
                  <a:srgbClr val="3A3A3A"/>
                </a:solidFill>
                <a:latin typeface="Calibri"/>
              </a:rPr>
              <a:t> — el cine argentino tuvo una recepción singular por tratar la represión política, reconocible desde la experiencia española.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•  Exilio</a:t>
            </a:r>
            <a:r>
              <a:rPr sz="2000">
                <a:solidFill>
                  <a:srgbClr val="3A3A3A"/>
                </a:solidFill>
                <a:latin typeface="Calibri"/>
              </a:rPr>
              <a:t> — el exiliado argentino no fue un sujeto pasivo, sino un mediador cultural que tejió redes de intercambio.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•  Coproducciones</a:t>
            </a:r>
            <a:r>
              <a:rPr sz="2000">
                <a:solidFill>
                  <a:srgbClr val="3A3A3A"/>
                </a:solidFill>
                <a:latin typeface="Calibri"/>
              </a:rPr>
              <a:t> — fueron una de las vías más eficaces de visibilidad, con sus posibilidades y sus tensiones.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06B3E"/>
                </a:solidFill>
                <a:latin typeface="Calibri"/>
              </a:rPr>
              <a:t>Objetivo transversal: </a:t>
            </a:r>
            <a:r>
              <a:rPr sz="1800" b="0" i="0">
                <a:solidFill>
                  <a:srgbClr val="3A3A3A"/>
                </a:solidFill>
                <a:latin typeface="Calibri"/>
              </a:rPr>
              <a:t>analizar cómo la memoria, el exilio y la industria se traducen en el lenguaje narrativo y estético de las películas.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1. 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Estado de la cuestión y metodología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Estado de la cuestión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A3A3A"/>
                </a:solidFill>
                <a:latin typeface="Calibri"/>
              </a:rPr>
              <a:t>•  Posdictadura: Amado y la «imagen justa».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A3A3A"/>
                </a:solidFill>
                <a:latin typeface="Calibri"/>
              </a:rPr>
              <a:t>•  Exilio: Silvina Jensen.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A3A3A"/>
                </a:solidFill>
                <a:latin typeface="Calibri"/>
              </a:rPr>
              <a:t>•  Circulación transatlántica: González; datos de Elena.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A3A3A"/>
                </a:solidFill>
                <a:latin typeface="Calibri"/>
              </a:rPr>
              <a:t>•  Hueco detectado: la bibliografía relega el análisis formal de las películas.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173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Metodología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A3A3A"/>
                </a:solidFill>
                <a:latin typeface="Calibri"/>
              </a:rPr>
              <a:t>•  Combina análisis formal (Historia del Arte) e histórico-cultural.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A3A3A"/>
                </a:solidFill>
                <a:latin typeface="Calibri"/>
              </a:rPr>
              <a:t>•  Películas leídas como textos visuales: puesta en escena, espacio, luz, encuadre, montaje.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A3A3A"/>
                </a:solidFill>
                <a:latin typeface="Calibri"/>
              </a:rPr>
              <a:t>•  Pautas de Cánovas Belchí y Aliaga Cárceles, Historia del cine (2020).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A3A3A"/>
                </a:solidFill>
                <a:latin typeface="Calibri"/>
              </a:rPr>
              <a:t>•  Citas en estilo Chicago-Deusto.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2. CONTEXTO HISTÓRICO Y CULTURAL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Dos sociedades saliendo de la violencia de Estado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429768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6B3E"/>
                </a:solidFill>
                <a:latin typeface="Calibri"/>
              </a:rPr>
              <a:t>ARGENTINA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Antecedente de la Triple A (1973–76): primeros exilios (Briski, Guevara, Alterio).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Golpe de 1976: Proceso, secuestro, tortura y desaparición.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El exilio se vuelve necesidad de supervivencia.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49240" cy="429768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6B3E"/>
                </a:solidFill>
                <a:latin typeface="Calibri"/>
              </a:rPr>
              <a:t>ESPAÑA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Muerte de Franco (1975) y Constitución de 1978.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Transición y apertura cultural.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Madrid y Barcelona: espacios receptivos para el exilio argentino.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→ El cine se convierte en un espacio común de memoria entre las dos sociedades.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3. MEMORIA Y RECONSTRUCCIÓN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 eje de la memoria: de los 80 a los 90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429768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C06B3E"/>
                </a:solidFill>
                <a:latin typeface="Calibri"/>
              </a:rPr>
              <a:t>AÑOS 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Realismo afectivo / «imaginación melodramática».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Vocación didáctica, relatos transparentes.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El espacio familiar como metonimia del cuerpo social.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49240" cy="429768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06B3E"/>
                </a:solidFill>
                <a:latin typeface="Calibri"/>
              </a:rPr>
              <a:t>AÑOS 90 · NUEVO CINE ARGENTINO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Ambigüedad, fragmento y distancia crítica.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Richard: la memoria es un territorio en disputa.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Sarlo: el riesgo del «giro subjetivo».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CASO DE ESTUDIO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 historia oficial (Luis Puenzo, 1985)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Filme paradigmático de la primera revisión histórica; estreno durante el Juicio a las Juntas.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El espacio como ceguera: interiores cálidos y burgueses frente a exteriores fríos (Madres de Plaza de Mayo).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La transformación de Alicia como alegoría nacional.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Óscar a mejor película extranjera (1986).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Matiz crítico: el melodrama puede rozar la «teoría de los dos demonios».</a:t>
            </a:r>
          </a:p>
        </p:txBody>
      </p:sp>
      <p:pic>
        <p:nvPicPr>
          <p:cNvPr id="7" name="Picture 6" descr="Tranquilidad y felicidad del hogar de Alicia frente a la verdad del ex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54480"/>
            <a:ext cx="2788920" cy="15681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3148012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3A3A3A"/>
                </a:solidFill>
                <a:latin typeface="Calibri"/>
              </a:rPr>
              <a:t>El hogar de Alicia</a:t>
            </a:r>
          </a:p>
        </p:txBody>
      </p:sp>
      <p:pic>
        <p:nvPicPr>
          <p:cNvPr id="9" name="Picture 8" descr="Alicia contemplando la marcha de las Madres de Mayo 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554480"/>
            <a:ext cx="2788920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32520" y="436880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3A3A3A"/>
                </a:solidFill>
                <a:latin typeface="Calibri"/>
              </a:rPr>
              <a:t>Las Madres de Plaza de Mayo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4. EL EXILIO, UN VÍNCULO ENTRE PAÍSES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 exiliado como arquitecto de puentes de memoria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El exilio no es migración económica: es huida de una violencia que amenaza la vida.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Rodríguez Marino: «figuras del destierro» (melancolía, pérdida, retorno imposible).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Reflexiones de un salvaje (Gerardo Vallejo, 1978), rodada en España.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Paralelismo franquismo / represión argentina: los niños del pueblo, Don Quijote y Martín Fierro, los republicanos asesinados.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Montaje en deuda con Eisenstein: el exiliado tiende un puente de memoria entre las dos historias.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4. EL EXILIO, UN VÍNCULO ENTRE PAÍSES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Las coproducciones: la vía industrial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Más que una fórmula administrativa: estrategia de supervivencia frente al dominio de Hollywood.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Convenio Hispano-Argentino de 1969 (BOE n.º 238): doble nacionalidad; participación del 30 %–70 %.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Datos de Elena: Argentina, segundo origen latinoamericano en España (1933–1995) tras México.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Distintos modelos: Aristarain (autoral) frente a Piñeyro (industrial: Plata quemada, Kamchatka).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Tensión clave: la asimetría económica condiciona qué imagen de Argentina circula en España.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CASO DE ESTUDIO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Un lugar en el mundo (Aristarain, 1992)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Coproducción Argentina/Uruguay/España. Concha de Oro (San Sebastián) y Goya.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Diálogo con el western: el paisaje árido de San Luis como aislamiento y resistencia.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El tren: imagen del progreso que avanza pero arrasa.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El espacio unitario: los desplazamientos articulan un mundo con unidad → «tener un lugar».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Superó los 500.000 espectadores en España.</a:t>
            </a:r>
          </a:p>
        </p:txBody>
      </p:sp>
      <p:pic>
        <p:nvPicPr>
          <p:cNvPr id="7" name="Picture 6" descr="Plano del paisaje en San Lu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54480"/>
            <a:ext cx="2788920" cy="15681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3148012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3A3A3A"/>
                </a:solidFill>
                <a:latin typeface="Calibri"/>
              </a:rPr>
              <a:t>El paisaje de San Luis</a:t>
            </a:r>
          </a:p>
        </p:txBody>
      </p:sp>
      <p:pic>
        <p:nvPicPr>
          <p:cNvPr id="9" name="Picture 8" descr="Contraste entre el mundo del avance (tren) y mundo ru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554480"/>
            <a:ext cx="2788920" cy="15681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32520" y="3148012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3A3A3A"/>
                </a:solidFill>
                <a:latin typeface="Calibri"/>
              </a:rPr>
              <a:t>El tren frente al mundo rural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CASO DE ESTUDIO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Martín (Hache) (Aristarain, 1997)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Registro íntimo y urbano; predominio del diálogo (cerca del cine de autor europeo).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Espacio fragmentado = identidad fragmentada. Madrid y Buenos Aires casi indiferenciados.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Omisión de la dictadura: la memoria queda latente en el silencio.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El título: la «hache» muda, el tiempo en suspenso; el brindis «por Martín» restituye el nombre.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A3A3A"/>
                </a:solidFill>
                <a:latin typeface="Calibri"/>
              </a:rPr>
              <a:t>•  Cecilia Roth y Eusebio Poncela refuerzan la condición transatlántica.</a:t>
            </a:r>
          </a:p>
        </p:txBody>
      </p:sp>
      <p:pic>
        <p:nvPicPr>
          <p:cNvPr id="7" name="Picture 6" descr="Cartel de Nueva York y Pacifico en el video de H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54480"/>
            <a:ext cx="2788920" cy="15681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06440" y="3148012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3A3A3A"/>
                </a:solidFill>
                <a:latin typeface="Calibri"/>
              </a:rPr>
              <a:t>«Pacífico» sobre Nueva York</a:t>
            </a:r>
          </a:p>
        </p:txBody>
      </p:sp>
      <p:pic>
        <p:nvPicPr>
          <p:cNvPr id="9" name="Picture 8" descr="Dante recibe a Martin y a Hache en el aeropue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554480"/>
            <a:ext cx="2788920" cy="15681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32520" y="3148012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3A3A3A"/>
                </a:solidFill>
                <a:latin typeface="Calibri"/>
              </a:rPr>
              <a:t>Llegada al aeropuerto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4.4. RECEPCIÓN EN ESPAÑA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Éxito crítico e institucional, más que de taquilla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Los festivales fueron decisivos; la crítica leyó el cine argentino como una cinematografía con identidad propia.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Elena llama a Aristarain el «buque insignia» del cine argentino en España.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Premios Goya: Un lugar en el mundo, Cenizas del paraíso y el Goya de Cecilia Roth por Martín (Hache).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Salvo Un lugar en el mundo, la mayoría circuló en salas especializadas y versión original.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A3A3A"/>
                </a:solidFill>
                <a:latin typeface="Calibri"/>
              </a:rPr>
              <a:t>•  La visibilidad se apoyó más en la vía crítica e institucional que en el público masivo.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C7B8"/>
                </a:solidFill>
                <a:latin typeface="Calibri"/>
              </a:rPr>
              <a:t>5.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Resultados y resolución de las hipótesis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•  El espacio como sentido</a:t>
            </a:r>
            <a:r>
              <a:rPr sz="1800">
                <a:solidFill>
                  <a:srgbClr val="3A3A3A"/>
                </a:solidFill>
                <a:latin typeface="Calibri"/>
              </a:rPr>
              <a:t> — ceguera (La historia oficial), unidad (Un lugar en el mundo), fragmentación (Martín (Hache)).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•  Dos modos de memoria</a:t>
            </a:r>
            <a:r>
              <a:rPr sz="1800">
                <a:solidFill>
                  <a:srgbClr val="3A3A3A"/>
                </a:solidFill>
                <a:latin typeface="Calibri"/>
              </a:rPr>
              <a:t> — realismo afectivo y didáctico (80) frente a ambigüedad y distanciamiento (90).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•  Hipótesis confirmadas</a:t>
            </a:r>
            <a:r>
              <a:rPr sz="1800">
                <a:solidFill>
                  <a:srgbClr val="3A3A3A"/>
                </a:solidFill>
                <a:latin typeface="Calibri"/>
              </a:rPr>
              <a:t> — recepción por resonancia, exilio como tejido conectivo, coproducciones como vía de difusión.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1">
                <a:solidFill>
                  <a:srgbClr val="C06B3E"/>
                </a:solidFill>
                <a:latin typeface="Calibri"/>
              </a:rPr>
              <a:t>Entre 1980 y 2000 las imágenes cruzaron el Atlántico cargadas de memoria, pero también de nuevas posibilidades estéticas e industriales.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C06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Muchas gracias por su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1">
                <a:solidFill>
                  <a:srgbClr val="E9DDCF"/>
                </a:solidFill>
                <a:latin typeface="Calibri"/>
              </a:rPr>
              <a:t>Quedo a disposición del tribunal para sus preguntas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B9A899"/>
                </a:solidFill>
                <a:latin typeface="Calibri"/>
              </a:rPr>
              <a:t>Facundo Nicolás Vallejos Ribles · Grado en Historia del Arte · Universidad de Murcia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